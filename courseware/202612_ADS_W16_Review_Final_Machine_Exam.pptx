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16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期末复习与上机考试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复习清单 · 考试须知 · 建议样卷 6 题 · 备选题库 · 备考建议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一张图看完 16 周 · 算法主线：枚举→贪心/DP→搜索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考试须知：6 题 / 112 分钟 / 禁用 AI / 学术诚信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建议样卷 6 题（等价类划分 · dance · 洋葱 · 数的划分 · 购物 · 排队）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备选题库 71 题 · 12 个必背模板 · 十页 A4 cheat sheet · 高频陷阱清单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周学了这么多，怎么串成一条线？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871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四条主线：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计算机基础、语言与工具、算法与数据结构、AI 素养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；算法主线是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 → 贪心/DP → 搜索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上机考试到底怎么考、怎么评？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871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 / 112 分钟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，OJ 判 AC 给分；样卷六题从 ★1 到 ★5，覆盖至少 5 个大类。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考前最后一周该做什么？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871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默写 12 个模板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整理十页 A4 cheat sheet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——整理不进去的内容，说明你还没消化。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41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这门课是</a:t>
            </a: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练出来的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完成的 150–200 道题、调过的每一个 WA，才是真正留下的东西。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知识体系总结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23774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一张图看完 16 周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算法主线：一条演化路径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每周一句话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2–4  考试信息（师生共用）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28800"/>
            <a:ext cx="23774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考试须知（6 题 / 112 分钟）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能力要求（5 项）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知识点覆盖矩阵、难度梯度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5–8  样卷、题库与备考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828800"/>
            <a:ext cx="23774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建议样卷 T1–T6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备选题库（71 题，7 类）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备考建议 · 8 命题清单（附）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课程知识体系总结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一张图看完 16 周 · 算法主线：一条演化路径 · 每周一句话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课程知识体系总结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一张图看完 16 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计算机基础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1106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W1, W3, W13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444752"/>
            <a:ext cx="3703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图灵机 · 冯·诺依曼结构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 / 补码 · 浮点 &amp; ASCII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 &amp; 虚拟内存 · 缓存 &amp; 局部性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28032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语言与工具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1106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W1, W2, W4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1444752"/>
            <a:ext cx="3703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语法 · 容器与代价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&amp; VM · IDE &amp; 调试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 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2889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算法与数据结构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916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W6–W12, W16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255264"/>
            <a:ext cx="3703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复杂度分析 · 矩阵/前缀和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排序/二分 · 贪心/区间 · 栈/队列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递归/回溯 · 并查集 · DP · BFS/Dijkstra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98064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2889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素养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916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W1, W14, W15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3255264"/>
            <a:ext cx="3703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原理 · 幻觉与验证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· 知识图谱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 · RAG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课程知识体系总结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算法主线：一条演化路径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暴力枚举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1234440"/>
            <a:ext cx="0" cy="16459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31720" y="11887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3172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 (W9)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暴力枚举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1993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排序后一遍扫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2194560"/>
            <a:ext cx="0" cy="16459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31720" y="21488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3317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 (W6,W10)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1993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贪心失效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2194560"/>
            <a:ext cx="0" cy="16459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17720" y="21488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 (W10,W11)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暴力枚举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2953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按层扩展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3154680"/>
            <a:ext cx="0" cy="16459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331720" y="31089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3172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(W12)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2953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边权不同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23360" y="3154680"/>
            <a:ext cx="0" cy="16459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206240" y="3108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062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(W12)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横向工具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 / 差分（W6, W10）　二分答案（W12）　单调栈 / 单调队列（W7）　并查集（W9）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课程知识体系总结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每周一句话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3977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429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三个平台各司其职；AI 是加速器不是替身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python3 a.py &lt; in.txt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是本课最常用的一条命令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补码让减法变加法；浮点永远不要用 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比较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容器复杂度表要背；先看数据范围再定算法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月考是体检；订正 = 分类 + 关题解重写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 = 排序 + 一遍扫，难在选排序键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栈用 list、队列用 deque；单调结构更快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递归三法则；递归就是在用系统栈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14400"/>
          <a:ext cx="3977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429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 = DFS + 撤销；并查集摊还近 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要「多」按右端点排，要「合/盖」按左端点排；DP 三要素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倒序、完全正序；「恰好装满」要用 ±inf 初始化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deque、入队标记；要「最短」就 BFS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慢就换算法，不要抠常数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幻觉源于「训练目标是合理而非正确」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反向传播本质上就是动态规划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考场流程：看范围→认题型→定策略→造数据→查格式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期末上机考试须知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 · 112 分钟 · 禁用一切 AI 工具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三次月考与期末同规格——月考不是缩水版，是同构演练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考试须知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考试须知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112 分钟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道编程题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OpenJudge（cs101 小组）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3 为主，允许 C++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考试专用机房，断开外网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允许携带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十页 A4 双面 cheat sheet（手写或打印）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657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禁止 · 学术诚信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950208"/>
            <a:ext cx="801014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 AI 工具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（含本地模型、IDE 智能补全插件）、任何联网查询、任何形式的交流；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无法解释自己提交的代码，按学术不端处理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，成绩记 0。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考试须知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判分方式与成绩参考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判分方式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：以 OJ 判定的 AC 情况为准，按题给分；部分题设分档数据（部分通过给部分分）。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三次月考与期末同规格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892808"/>
            <a:ext cx="8010144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 / 112 分钟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——第 5 周与第 14 周的样卷就是按这个规格出的。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月考不是缩水版，是同构演练。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成绩参考（历年经验）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 5–6 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基本可获优秀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 4 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若笔试成绩较高且未超优秀比例限制，仍有机会评优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 0 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即使笔试满分，总评也会受到明显影响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上述比例与条件不是本讲义能确定的，仅用于说明机考的重要性——一切以当学期正式教学通知为准。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能力要求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能力要求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本次考试考查以下五项能力，命题时每道题至少覆盖其中两项：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7218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371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问题抽象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137160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把文字描述翻译成数据结构与状态模型——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这是最常见的失分点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13055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0299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算法选择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0299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根据数据范围选出复杂度可行的算法（第 4 周 3.4 节的表）。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78892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6883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268833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AI 辅助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下正确、快速地写出可运行代码。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3467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447288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3467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606040" y="334670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0/1、多组数据、全相同、极值、不连通、空输入。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105656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0050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调试能力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400507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 WA / TLE 反馈并自行构造数据定位。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知识点覆盖矩阵（教师用）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知识点覆盖矩阵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命题时保证 6 道题覆盖以下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 5 个大类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贪心、DP、搜索各至少 1 题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3716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本卷覆盖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具体考点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语法与容器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W1–W2、W4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字典分组、数字各位和、格式化输出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计算机基础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W3、W13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进制、位运算、ASCII、复杂度估算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线性结构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 / 队列 / 单调栈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排序与贪心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W6、W10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T2、T5、T6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排序后贪心配对、覆盖连续金额、可交换关系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W9、W12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 / 回溯（有序枚举防重复）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动态规划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W10–W11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记忆化搜索 / 划分计数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并查集与图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W9、W12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连通性、最小瓶颈路、二分答案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矩阵分层遍历、模拟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知识点覆盖矩阵（教师用）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难度梯度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438912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 AC 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★☆☆☆☆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签到题：哈希分组，保证及格线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90% AC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排序后相邻配对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70% AC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矩阵分层模拟，边界要细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55% AC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划分计数：有序枚举防重复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45% AC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贪心，需论证覆盖区间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30% AC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综合建模，区分优秀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15% AC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命题原则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87368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题保证认真听课、完成作业的学生能做出来；后 3 题拉开区分度。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上表的预期 AC 率是命题经验估计，无历史数据支撑，需按实际结果逐年校准。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建议样卷（一套完整试题）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等价类划分 → T2 dance → T3 洋葱 → T4 数的划分 → T5 购物 → T6 排队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难度从 ★1 递增到 ★5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建议样卷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样卷总览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402336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E29982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一种等价类划分问题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哈希分组、数字各位和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★☆☆☆☆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E30086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dance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排序、贪心配对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M25570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洋葱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矩阵分层 / 模拟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M28906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数的划分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 / 动态规划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M29896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贪心、覆盖连续金额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T25353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可交换关系、贪心 / 数据结构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参考解答已全部实际运行并通过样例，T3–T6 均已与暴力解做 400 组随机对拍。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建议样卷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T1. E29982 一种等价类划分问题　★☆☆☆☆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在开区间 (m, n) 内筛出各位数字和是 k 的倍数的整数，按「数字和」分组；每组内升序、逗号分隔，组间按数字和递增输出。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497433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m, n, k = map(int, input().split(','))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= {}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range(m + 1, 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sum(map(int, str(x)))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 % k == 0: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groups.setdefault(s, []).append(str(x))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sorted(groups):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print(','.join(groups[s]))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438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639312"/>
            <a:ext cx="4901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11,35,3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12,21,30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15,24,33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508760"/>
            <a:ext cx="2926080" cy="2788920"/>
          </a:xfrm>
          <a:prstGeom prst="roundRect">
            <a:avLst>
              <a:gd name="adj" fmla="val 2623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978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按数字和分组，再按数字和排序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892808"/>
            <a:ext cx="2651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数字和相同的数放进同一组；输出顺序先按数字和从小到大，组内再按数值升序——两层排序，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sorted(groups)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负责外层，插入顺序天然满足内层。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建议样卷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T2. E30086 dance　★★☆☆☆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2N 名学生，要求两两配对且每对身高差不超过 D。将身高排序后只能相邻配对；所有相邻差均不超过 D 时输出 Yes，否则 No。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808329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d = map(int, input().split())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sorted(map(int, input().split()))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print('Yes' if all(a[i + 1] - a[i] &lt;= d for i in range(0, 2 * n, 2)) else 'No')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2706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907792"/>
            <a:ext cx="8010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6 4 / 22 15 32 36 16 30 42 30 39 23 17 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Yes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474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排序后只需查相邻配对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767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排完序后，任何「跳着配对」的方案都能通过交换相邻两人换成相邻配对而不变差——所以只要检查 (a₀,a₁)(a₂,a₃)... 这一种配对方式即可，不用枚举所有配对。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建议样卷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T3. M25570 洋葱　★★★☆☆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 n×n 非负矩阵，像剥洋葱一样逐层剥去外圈，求所有层元素和的最大值。每层是一圈方框边界；奇数阶矩阵的正中心单独成一层。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524865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[list(map(int, input().split())) for _ in range(n)]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layer in range((n + 1) // 2):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layer, n - 1 - layer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sum(a[lo][j] for j in range(lo, hi + 1))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hi &gt; lo: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sum(a[hi][j] for j in range(lo, hi + 1))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sum(a[i][lo] + a[i][hi] for i in range(lo + 1, hi))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max(best, total)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print(best)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99048" y="1563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099048" y="1764792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5×5 矩阵（中心为 7）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2331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从外到内枚举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71576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layer 层是 [lo,hi]×[lo,hi] 这一圈的边界；</a:t>
            </a:r>
            <a:r>
              <a:rPr lang="en-US" sz="9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&gt; lo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时才有上下两条边和左右两条边（避免单行/单点被重复加）。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建议样卷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T4. M28906 数的划分　★★★☆☆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n 分成 k 个非空正整数（顺序不计），求方案数（n ≤ 200, 2 ≤ k ≤ 6）。令下一份不小于上一份即可避免排列重复计数。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497433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k = map(int, input().split())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@lru_cache(None)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dfs(rem, left, low):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left == 1: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int(rem &gt;= low)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sum(dfs(rem - x, left - 1, x)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for x in range(low, rem // left + 1))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print(dfs(n, k, 1))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483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685032"/>
            <a:ext cx="4901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7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508760"/>
            <a:ext cx="2926080" cy="2423160"/>
          </a:xfrm>
          <a:prstGeom prst="roundRect">
            <a:avLst>
              <a:gd name="adj" fmla="val 3019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978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 参数：只往「不减」的方向切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892808"/>
            <a:ext cx="2651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7 分成 3 份：1+1+5、1+2+4、1+3+3、2+2+3 共 4 种。如果不限制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，1+2+4 和 2+1+4 会被当成两种不同方案，重复计数。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建议样卷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T5. M29896 购物　★★★★☆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有无限枚不同面值硬币，求最少带多少枚硬币，使 1..X 每个金额都能组合出来；不能覆盖时输出 -1。维护当前连续可覆盖区间 [1, reach]，每次选不超过 reach+1 的最大面值。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4974336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n = map(int, input().split())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= sorted(map(int, input().split()))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 = count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reach &lt; X: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usable = [c for c in coins if c &lt;= reach + 1]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usable: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print(-1); break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reach += max(usable); count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483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685032"/>
            <a:ext cx="4901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20 4 / 1 2 5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508760"/>
            <a:ext cx="2926080" cy="2514600"/>
          </a:xfrm>
          <a:prstGeom prst="roundRect">
            <a:avLst>
              <a:gd name="adj" fmla="val 2909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978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每步用最大的「还能接上」面值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892808"/>
            <a:ext cx="2651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已能凑出 1..reach 时，只要新硬币 c ≤ reach+1，就能凑出 1..reach+c；选可用面值里最大的一个，扩张得最快，这是「跳跃覆盖」类贪心的标准写法。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建议样卷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T6. T25353 排队　★★★★★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相邻两人身高差不超过 D 才能交换，任意次交换后求字典序最小的身高序列。身高差大于 D 的两人相对顺序永远不能改变，可看成「前驱约束」——每个元素的层数是此前所有约束它的人里最大层数加一，同层元素可任意交换，逐层排序输出。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524865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bisect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list(map(int, sys.stdin.buffer.read().split()))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d = data[:2]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data[2:2 + n]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vals = sorted(set(h)); m = len(vals)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lo_bit = [0] * (m + 1); hi_bit = [0] * (m + 1)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update(bit, i, value):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&lt;= m: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bit[i] = max(bit[i], value); i += i &amp; -i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query(bit, i):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 = 0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 = max(ans, bit[i]); i -= i &amp; -i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ans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 = {}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height in h: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small = query(lo_bit, bisect.bisect_left(vals, height - d))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large = query(hi_bit, m - bisect.bisect_right(vals, height + d))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 = max(small, large) + 1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layers.setdefault(level, []).append(height)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 = bisect.bisect_left(vals, height) + 1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update(lo_bit, pos, level); update(hi_bit, m - pos + 1, level)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level in sorted(layers):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height in sorted(layers[level]):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print(height)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99048" y="1563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099048" y="1764792"/>
            <a:ext cx="2478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5 3 / 7 7 3 6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6 7 7 2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21945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两棵树状数组各管一侧的约束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57860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lo_bit 查「比我小 D 以上」的人里最大层数，hi_bit 查「比我大 D 以上」的——这两类人身高差都超过 D，永远排在我前面，我的层数必须比它们都大。</a:t>
            </a:r>
            <a:endParaRPr lang="en-US" sz="8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备选题库（按知识点分类）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 道题，7 个分类，可替换样卷中任意一题，或作往年真题复习使用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备选题库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语法、字符串与容器（W1–W4）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265176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鸡兔同笼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E02750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分支、整除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大小写字母互换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E02689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ASCII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整数的个数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E02676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生日相同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E02724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字典分组 + 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E02804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字典查询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多项式时间复杂度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E23563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字符串解析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文字排版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E06374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验证「歌德巴赫猜想」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E03143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素数筛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十进制到八进制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E02734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备选题库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矩阵（W6）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矩阵运算（先乘再加）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E18161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矩阵乘法 + 维度判断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计算矩阵边缘元素之和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E07743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二维遍历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矩阵交换行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02899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二维列表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二维矩阵上的卷积运算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E19942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保护圈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节省存储的矩阵乘法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E23555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稀疏矩阵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螺旋矩阵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M18106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方向数组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图的拉普拉斯矩阵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E19943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 + 矩阵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备选题库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排序、贪心与区间（W6、W10）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265176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装箱问题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 + 打表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最大最小整数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12559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自定义比较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因材施教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19948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排序后切间隙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军备竞赛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18211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双指针贪心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排队做实验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M21554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买学区房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M19963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 + 中位数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校门外的树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02808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校门外的树又来了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M29947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Radar Installation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M01328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区间选点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世界杯只因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T27104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区间覆盖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备选题库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栈与队列（W7）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波兰表达式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02694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前缀求值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后序表达式求值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24588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后缀求值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快速堆猪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22067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双端队列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05902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deque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约瑟夫问题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02746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队列模拟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病人排队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E07618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有多少种合法的出栈顺序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27217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卡特兰数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土豪购物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M20744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 DP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备选题库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递归、回溯与并查集（W8–W9）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265176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菲波那契数列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02753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 + 记忆化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Pell 数列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M02786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汉诺塔问题(Tower of Hanoi)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04147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递归三步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全排列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02748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回溯模板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八皇后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02754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 + 剪枝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马走日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 + 状态还原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Lake Counting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02386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Flood Fill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晶矿的个数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M05585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连通块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宗教信仰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02524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一种等价类划分问题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M29982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食物链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T01182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扩展域并查集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放苹果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01664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递归计数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简单的整数划分问题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 + 记忆化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备选题库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动态规划（W10–W11）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265176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数字三角形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02760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 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02773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小偷背包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23421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Coins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M01742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多重背包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宠物小精灵之收服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04102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二维费用背包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健身房 (dp)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21458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「恰好装满」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NBA 门票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20089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「恰好 + 最少个数」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Longest Ordered Subsequence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02533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拦截导弹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M02945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最长不上升子序列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最大上升子序列和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03532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 变形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公共子序列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02806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LCS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最大子矩阵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M02766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降维 + Kadane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合唱队形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 LIS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备选题库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搜索与二分（W12）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265176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鸣人和佐助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带状态 BFS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拯救行动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+ 优先队列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水淹七军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M12029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模拟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寻宝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19930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变换的迷宫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T04129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多维状态 BFS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小游戏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T02802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+ 转弯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走山路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M20106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河中跳房子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M08210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月度开销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M04135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Aggressive cows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M02456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Expedition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M02431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 + 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给学生的备考建议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个必背模板 · 十页 A4 cheat sheet · 考场流程 · 高频陷阱清单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给学生的备考建议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必须能默写的 12 个模板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9436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快速输入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sys.stdin.read().split()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埃氏筛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一维 / 二维前缀和 + 差分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W6、W10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多关键字排序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key=lambda x:(a,-b)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归并排序的合并（求逆序对）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单调栈（下一个更大元素）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回溯模板（选择 → 递归 → 撤销）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并查集（路径压缩 + 按大小合并）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背包（倒序）/ 完全背包（正序）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 的 O(n log n) 写法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BFS（deque + 入队标记 + 状态维）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二分答案（判定 + 上/下取整）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自测方法：关掉所有资料，在空文件里默写。写不出来的，回到对应周的讲义重看一遍再默写。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给学生的备考建议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十页 A4 cheat sheet 的建议内容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基础速查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6576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快速输入 / 输出模板（3 行）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复杂度速查表（n 的范围 → 可用复杂度）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容器操作复杂度表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多关键字排序、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bisect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用法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 / 差分公式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二分模板（两种取整方向）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算法模板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08760"/>
            <a:ext cx="36576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回溯模板骨架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并查集（10 行）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/ 完全背包核心循环 + 「恰好装满」初始化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模板（含状态维）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模板（heapq）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高频陷阱清单（下页）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十页、A4、双面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453128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/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手写或打印均可；别整页抄代码——整理不进去的内容，说明你还没消化。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给学生的备考建议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考场流程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9144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0–5 min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914400"/>
            <a:ext cx="6446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 6 题，按预估难度标序，先做有把握的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316736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31673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5–15 min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316736"/>
            <a:ext cx="6446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T1（签到）——写完就交，用 OJ 反馈代替自己检查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17190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15–45 min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1719072"/>
            <a:ext cx="6446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T2、T3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121408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121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45–78 min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2121408"/>
            <a:ext cx="6446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T4、T5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523744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5237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78–102 min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2523744"/>
            <a:ext cx="6446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 或回头补前面卡住的题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102–112 min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2926080"/>
            <a:ext cx="6446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检查输出格式：多余空格、换行、精度、特殊边界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六条纪律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22192"/>
            <a:ext cx="3840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先看数据范围再想算法（第 4 周 3.4 节）；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样例过了先交，OJ 的反馈比自己盯屏幕快；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 就造数据：n=1、全相同、最大值、最小值、不连通；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822192"/>
            <a:ext cx="3931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TLE 先查复杂度，不要急着抠常数；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卡满 15 分钟就换题，回来时往往一眼看出问题；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 10 分钟检查格式。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给学生的备考建议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高频陷阱清单（考前最后一遍）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39776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忘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[[0]*n]*m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的别名陷阱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in list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O(n)；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list.pop(0)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O(n)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比较；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int(x**0.5)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差 1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回溯忘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path[:]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拷贝 / 忘还原状态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背包写成正序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「恰好装满」没用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±inf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初始化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960120"/>
            <a:ext cx="39776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出队时才标记 visited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带状态的搜索少加了一维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二分答案的取整方向写反导致死循环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多关键字排序只写了一个 key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递归过深未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setrecursionlimit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（或该改迭代）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输出格式：多余空格 / 换行 / 精度（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85.00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而非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85.0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给学生的备考建议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三条硬性提醒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097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考试禁止任何 AI 工具，包括本地模型与 IDE 的智能补全插件。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488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无法解释自己提交的代码，按学术不端处理，成绩记 0。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004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平时的自检方法：关掉所有窗口，从空文件重写一遍。写不出来 = 这道题你没做。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命题与阅卷检查清单（教师用，附参考）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命题与阅卷检查清单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命题前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题覆盖 ≥5 个大类，贪心/DP/搜索各 ≥1 题；难度梯度 ★1→★5；数据范围明确；样例含易误解释；无歧义边界描述。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参考解答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已实际运行并通过全部样例；已测边界（n=1、空输入、全相同、极值、不连通）；已与暴力解对拍；复杂度声明与实际一致；递归确认不爆栈。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每题有卡错解、卡超时的数据，且已用错误实现验证过；分档数据设计合理；时限按实测 3–5 倍设定。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阅卷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评分标准逐项可核对；抽查高分卷要求口头解释代码；记录各题实际 AC 率，用于下一年校准。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周分四条线：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计算机基础、语言与工具、算法与数据结构、AI 素养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；算法主线是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 → 贪心/DP → 搜索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机考规格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 / 112 分钟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禁用一切 AI 工具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讲不清自己的代码按学术不端处理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样卷六题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哈希分组、排序配对、矩阵分层、划分计数、覆盖贪心、可交换关系，难度从 ★1 递增到 ★5。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备考两件事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默写 12 个模板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整理十页 A4 cheat sheet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——整理不进去的内容说明还没消化。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考场六条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看范围、早提交、造数据、查复杂度、按时换题、留时间查格式。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这门课是练出来的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你完成的 150–200 道题、调过的每一个 WA、重写过的每一份代码，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才是这门课真正留下的东西——它们不会随着考试结束而消失。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7589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下一步：《数据结构与算法》。那门课会从这里继续——树、图、哈希、字符串匹配，以及本课只开了个头的那些主题。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16 周 课程知识体系总结、期末复习与上机考试</dc:title>
  <dc:subject>PptxGenJS Presentation</dc:subject>
  <dc:creator>Hongfei Yan</dc:creator>
  <cp:lastModifiedBy>Hongfei Yan</cp:lastModifiedBy>
  <cp:revision>1</cp:revision>
  <dcterms:created xsi:type="dcterms:W3CDTF">2026-10-19T14:45:11Z</dcterms:created>
  <dcterms:modified xsi:type="dcterms:W3CDTF">2026-10-19T14:45:11Z</dcterms:modified>
</cp:coreProperties>
</file>