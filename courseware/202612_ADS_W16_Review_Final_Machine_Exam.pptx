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16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期末复习与上机考试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复习清单 · 考试须知 · 建议样卷 6 题 · 备选题库 · 备考建议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一张图看完 16 周 · 算法主线：枚举→贪心/DP→搜索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考试须知：6 题 / 112 分钟 / 禁用 AI / 学术诚信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建议样卷 6 题（字典排序 · 栈 · 区间分组 · 带状态 BFS · 双目标背包 · 最小瓶颈路）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 71 题 · 12 个必背模板 · 一页 cheat sheet · 高频陷阱清单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周学了这么多，怎么串成一条线？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87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四条主线：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计算机基础、语言与工具、算法与数据结构、AI 素养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；算法主线是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 → 贪心/DP → 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上机考试到底怎么考、怎么评？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87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，OJ 判 AC 给分；样卷六题从 ★1 到 ★5，覆盖至少 5 个大类。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考前最后一周该做什么？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87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手写一页 cheat sheet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——抄不下的内容，说明你还没消化。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416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这门课是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练出来的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完成的 150–200 道题、调过的每一个 WA，才是真正留下的东西。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知识体系总结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一张图看完 16 周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算法主线：一条演化路径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每周一句话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2–4  考试信息（师生共用）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考试须知（6 题 / 112 分钟）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能力要求（5 项）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知识点覆盖矩阵、难度梯度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5–8  样卷、题库与备考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 T1–T6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备选题库（71 题，7 类）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备考建议 · 8 命题清单（附）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课程知识体系总结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一张图看完 16 周 · 算法主线：一条演化路径 · 每周一句话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课程知识体系总结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一张图看完 16 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87552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78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计算机基础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11064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W1, W3, W13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444752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 · 冯·诺依曼结构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二进制 / 补码 · 浮点 &amp; ASCII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 &amp; 虚拟内存 · 缓存 &amp; 局部性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87552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28032" y="1078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语言与工具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11064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W1, W2, W4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1444752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语法 · 容器与代价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&amp; VM · IDE &amp; 调试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 IO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28895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算法与数据结构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2916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W6–W12, W16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255264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复杂度分析 · 矩阵/前缀和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排序/二分 · 贪心/区间 · 栈/队列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递归/回溯 · 并查集 · DP · BFS/Dijkstra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798064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8032" y="28895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916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W1, W14, W15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3255264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原理 · 幻觉与验证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 · 知识图谱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神经网络 · RAG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课程知识体系总结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算法主线：一条演化路径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暴力枚举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10332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48840" y="123444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1887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317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(W9)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148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暴力枚举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93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排序后一遍扫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148840" y="219456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331720" y="21488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172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(W6,W10)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1993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434840" y="219456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617720" y="214884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(W10,W11)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2651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暴力枚举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29535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按层扩展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148840" y="315468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331720" y="310896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33172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(W12)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29535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边权不同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23360" y="315468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206240" y="31089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(W12)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横向工具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 / 差分（W6, W10）　二分答案（W12）　单调栈 / 单调队列（W7）　并查集（W9）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课程知识体系总结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每周一句话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39776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29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三个平台各司其职；AI 是加速器不是替身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python3 a.py &lt; in.txt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是本课最常用的一条命令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补码让减法变加法；浮点永远不要用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==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容器复杂度表要背；先看数据范围再定算法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月考是体检；订正 = 分类 + 关题解重写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= 排序 + 一遍扫，难在选排序键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栈用 list、队列用 deque；单调结构更快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递归三法则；递归就是在用系统栈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914400"/>
          <a:ext cx="39776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29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= DFS + 撤销；并查集摊还近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要「多」按右端点排，要「合/盖」按左端点排；DP 三要素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倒序、完全正序；「恰好装满」要用 ±inf 初始化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deque、入队标记；要「最短」就 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慢就换算法，不要抠常数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幻觉源于「训练目标是合理而非正确」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反向传播本质上就是动态规划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考场流程：看范围→认题型→定策略→造数据→查格式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期末上机考试须知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· 112 分钟 · 禁用一切 AI 工具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三次月考与期末同规格——月考不是缩水版，是同构演练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考试须知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考试须知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规定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112 分钟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道编程题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分（分值见第 5 节）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OpenJudge（cs101 小组）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3 为主，允许 C++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考试专用机房，断开外网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允许携带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 A4 双面手写 cheat sheet（不得打印、不得夹带整页代码）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禁止 · 学术诚信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950208"/>
            <a:ext cx="8010144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AI 工具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（含本地模型、IDE 智能补全插件）、任何联网查询、任何形式的交流；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无法解释自己提交的代码，按学术不端处理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，成绩记 0。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考试须知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判分方式与成绩参考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判分方式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：以 OJ 判定的 AC 情况为准，按题给分；部分题设分档数据（部分通过给部分分）。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00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三次月考与期末同规格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892808"/>
            <a:ext cx="80101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5 周与第 14 周的样卷就是按这个规格出的。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月考不是缩水版，是同构演练。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成绩参考（历年经验）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 5–6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基本可获优秀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 4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若笔试成绩较高且未超优秀比例限制，仍有机会评优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 0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即使笔试满分，总评也会受到明显影响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上述比例与条件不是本讲义能确定的，仅用于说明机考的重要性——一切以当学期正式教学通知为准。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能力要求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能力要求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本次考试考查以下五项能力，命题时每道题至少覆盖其中两项：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47218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3716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问题抽象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1371600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把文字描述翻译成数据结构与状态模型——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这是最常见的失分点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213055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02996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算法选择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029968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根据数据范围选出复杂度可行的算法（第 4 周 3.4 节的表）。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68833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788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26883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代码实现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2688336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AI 辅助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下正确、快速地写出可运行代码。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34670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44728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34670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边界处理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3346704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0/1、多组数据、全相同、极值、不连通、空输入。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400507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94360" y="410565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4105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400507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调试能力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606040" y="400507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读懂 WA / TLE 反馈并自行构造数据定位。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知识点覆盖矩阵（教师用）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知识点覆盖矩阵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命题时保证 6 道题覆盖以下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 5 个大类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贪心、DP、搜索各至少 1 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005840"/>
                <a:gridCol w="4663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本卷覆盖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具体考点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语法与容器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W1–W2、W4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字典计数、多关键字排序、格式化输出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计算机基础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W3、W13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 备选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进制、位运算、ASCII、复杂度估算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线性结构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 / 队列 / 单调栈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排序与贪心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W6、W10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排序键、区间问题、差分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W9、W12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/ DFS / 回溯 / 带状态搜索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W10–W11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DP / 背包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并查集与图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W9、W12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连通性、最小瓶颈路、二分答案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二维遍历、前缀和、卷积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知识点覆盖矩阵（教师用）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438912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预期 AC 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★☆☆☆☆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签到题，保证及格线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★★☆☆☆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基础数据结构应用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需要一次转化（排序键）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55%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带状态搜索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DP，状态设计有难度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综合建模，区分优秀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命题原则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3 题保证认真听课、完成作业的学生能拿到 45 分；后 3 题拉开区分度。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上表的预期 AC 率是命题经验估计，无历史数据支撑，需按实际结果逐年校准。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建议样卷（一套完整试题）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签到 → T2 栈 → T3 区间分组 → T4 带状态 BFS → T5 双目标背包 → T6 最小瓶颈路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难度从 ★1 递增到 ★5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样卷总览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554480"/>
                <a:gridCol w="3749040"/>
                <a:gridCol w="1188720"/>
                <a:gridCol w="640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E29982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一种等价类划分问题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哈希分组、数字各位和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★☆☆☆☆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E30086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dance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排序、贪心配对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★★☆☆☆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M25570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洋葱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矩阵分层 / 模拟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M28906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数的划分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/ 动态规划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M29896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购物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贪心、覆盖连续金额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T25353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可交换关系、贪心 / 数据结构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总分 15+15+15+15+20+20 = 100 分；参考解答已全部实际运行并通过样例，T3–T6 均已与暴力解做 400 组随机对拍。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T1. 成绩单核对　★☆☆☆☆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条成绩记录（学号 / 科目 / 分数），按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总分从高到低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输出学号的总分与平均分（两位小数）；总分相同按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学号升序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。考点：字典计数、多关键字排序、格式化输出（W2、W4）。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02920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783080"/>
            <a:ext cx="488289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total, cnt = defaultdict(int), defaultdict(int)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sid, _subject, score = data[idx], data[idx + 1], int(data[idx + 2])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total[sid] += score; cnt[sid]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= sorted(total, key=lambda s: (-total[s], s))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多关键字排序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[f"{s} {total[s]} {total[s] / cnt[s]:.2f}" for s in order]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23560" y="1737360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2121408"/>
            <a:ext cx="28437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 O(n²)：2×10⁵ 条记录但只有 500 个不同学号——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list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会稳定 TLE；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卡格式：平均分恰为整数（如 85）必须输出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，不能是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评分：字典一遍统计 6 分 · 多关键字排序 5 分 · 格式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:.2f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4 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17880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固定反例：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2200002 math 85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2200001 math 85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+ 8000 个不同学号 → 正确答案学号升序、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；已证实卡住「保留输入顺序」与「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str(float)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」两种错解。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T2. 括号嵌套深度　★★☆☆☆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字符串含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()[]{}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及任意字符。完全匹配则输出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最大嵌套深度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；否则输出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第一个出错位置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（未闭合则为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len(s)+1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）。考点：栈、边界判断（W7）。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0292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783080"/>
            <a:ext cx="48828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pairs = {')': '(', ']': '[', '}': '{'}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stack, depth, best = [], 0, 0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ch in enumerate(s):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 in '([{':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stack.append(ch); depth += 1; best = max(best, depth)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ch in pairs: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stack or stack[-1] != pairs[ch]: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print("NO", i + 1); return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stack.pop(); depth -= 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print(("NO", len(s) + 1) if stack else ("YES", best))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623560" y="173736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2121408"/>
            <a:ext cx="28437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深嵌套 10⁵ 层：检验是否误用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（会爆栈）而非栈；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末尾未闭合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(((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4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，检验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len(s)+1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这个边界。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评分：栈匹配三类错误全覆盖 8 分 · 最大深度 4 分 ·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len(s)+1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边界 3 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31596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固定反例：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；另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重复超过 Python 递归深度 → 只计数不验类型 WA、递归扫描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RecursionError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T3. 会议室数量　★★★☆☆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场会议，第 i 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左闭右开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 [aᵢ,bᵢ)。求最少需要多少间会议室。考点：区间分组、差分 / 排序（W10）。答案 = 同一时刻最多有多少场会议在进行。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0292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783080"/>
            <a:ext cx="48828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 = []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a, b in intervals: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events.append((a, 1)); events.append((b, -1))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events.sort()             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(t,-1) 排在 (t,1) 前面：先释放再占用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 = best = 0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_, delta in events: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 += delta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max(best, cur)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print(best)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623560" y="173736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关键细节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2121408"/>
            <a:ext cx="28437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左闭右开时，同一时刻的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中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(t,-1) &lt; (t,1)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自动满足这一点。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评分：想到「同时进行的峰值」转化 7 分 · 排序/堆实现 5 分 · 左闭右开边界 3 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31596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端点相接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[0,1)[1,2)...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若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之后会错答成 2；坐标范围 10⁹ → 检验是否试图按坐标开数组（MLE）。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T4. 穿墙迷宫　★★★☆☆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n×m 网格，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空地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墙，最多穿 k 面墙，求 S 到 T 的最少步数。考点：带状态的 BFS（W12）。关键：状态是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(x, y, 已穿墙次数)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——把网格复制成 k+1 层。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783080"/>
            <a:ext cx="48828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 = [[[-1] * m for _ in range(n)] for _ in range(k + 1)]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dist[0][sx][sy] = 0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deque([(sx, sy, 0)])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q: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y, u = q.popleft()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(x, y) == (tx, ty): print(dist[u][x][y]); return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dx, dy in DIRS: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nx, ny = x + dx, y + dy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(0 &lt;= nx &lt; n and 0 &lt;= ny &lt; m): continue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nu = u + (1 if grid[nx][ny] == '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#' else 0)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nu &gt; k or dist[nu][nx][ny] &gt;= 0: continue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dist[nu][nx][ny] = dist[u][x][y] + 1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q.append((nx, ny, nu))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23560" y="1737360"/>
            <a:ext cx="3063240" cy="196596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BFS 不是 Dijkstra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121408"/>
            <a:ext cx="2788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每一步代价都是 1（穿墙也算 1 步），边权相同，BFS 第一次到达即最短。若穿墙代价不是 1，就必须换 Dijkstra。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评分：状态加「已穿墙次数」一维 7 分 · BFS 实现（deque+入队标记）5 分 · 边界 3 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407408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</a:t>
            </a:r>
            <a:r>
              <a:rPr lang="en-US" sz="9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visited[x][y]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一层的错解在样例上就会答成 8 而非 4——这是最典型的错法，样例必须能卡住它。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T5. 作业时间分配　★★★★☆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 T 分钟，n 份作业各需 tᵢ 分钟、得 sᵢ 分，0-1 选择。求最高总分；若多方案同分，求其中</a:t>
            </a:r>
            <a:r>
              <a:rPr lang="en-US" sz="11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总耗时最少</a:t>
            </a:r>
            <a:r>
              <a:rPr lang="en-US" sz="11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的耗时。考点：0-1 背包 + 次要目标（W11）。双目标 DP：</a:t>
            </a:r>
            <a:r>
              <a:rPr lang="en-US" sz="11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dp[c]</a:t>
            </a:r>
            <a:r>
              <a:rPr lang="en-US" sz="11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最高分，</a:t>
            </a:r>
            <a:r>
              <a:rPr lang="en-US" sz="11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tm[c]</a:t>
            </a:r>
            <a:r>
              <a:rPr lang="en-US" sz="11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最小耗时。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920240"/>
            <a:ext cx="48828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 in range(T, t - 1, -1):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0-1 背包：必须倒序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cand = dp[c - t] + 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cand &gt; dp[c] or (cand == dp[c] and tm[c - t] + t &lt; tm[c]):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dp[c] = cand; tm[c] = tm[c - t] + 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= max(dp)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min_time = min(tm[c] for c in range(T + 1) if dp[c] == best)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18745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9659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两个易错点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2258568"/>
            <a:ext cx="284378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必须倒序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（0-1 背包），正序会让同一份作业被做多次；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两个分支缺一不可：分更高就覆盖 / 分相同才比耗时，只写后一支会漏掉「分更高」。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评分：0-1 背包主目标（含倒序）10 分 · 次要目标 7 分 · 边界 3 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17880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两组作业得分相同耗时不同 → 正序背包重复选同一作业 WA；同分时取耗时较大方案 WA。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T6. 电网巡检　★★★★★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个变电站、m 条带危险度的双向线路，路径「风险」= 路径上危险度最大值，求 1 到 n 的最小风险。考点：最小瓶颈路 = 排序 + 并查集（W6、W9）；亦可二分 + BFS（W12）。核心：按危险度升序加边，首次让 1、n 连通的边权即答案。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965960"/>
            <a:ext cx="48828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edges.sort()             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按危险度升序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w, u, v in edges: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ru, rv = find(u), find(v)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ru != rv: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size[ru] &lt; size[rv]: ru, rv = rv, ru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parent[rv] = ru; size[ru] += size[rv]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find(1) == find(n): print(w); return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print(-1)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192024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另一种解法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30428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二分答案 + BFS：O((n+m) log W)，思路更直观但更慢——用来交叉验证并查集解法（本题已做 400 组对拍）。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评分：想到「按边权升序加边，首次连通即答案」10 分 · 并查集实现（路径压缩+按大小合并）6 分 · 边界 4 分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36168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按路径总和而非瓶颈值 WA（输出 6 而非正确的 5）；链状图未做路径压缩会有超过 40 亿次父指针遍历。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红队测试数据（已实际验证）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以下数据已由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tools/redteam_exam.py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对照正确解与错误实现实际运行——不是「可能有用」的出题建议，每项都能使标明的错误解 WA / TLE / MLE 或触发递归深度错误。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91840"/>
                <a:gridCol w="43891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固定反例 / 大数据形状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已证实能卡住的错误实现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8000 个不同学号 + 两个总分相同的学号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保留输入顺序 /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str(float)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WA；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 list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慢 20 倍+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(]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；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重复超过递归深度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只计数不验类型 WA；递归扫描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RecursionError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[0,1)[1,2)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；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[0,10⁹)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同时刻先开始后结束 WA；按坐标开数组 MLE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只维护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visited[x][y]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一层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样例即错答（8 → -1）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两组作业同分不同耗时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正序重复选 WA；同分取耗时较大 WA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按路径总和；10 万点链未路径压缩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WA（输出 6）；40 亿+ 次父指针遍历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运行：</a:t>
            </a:r>
            <a:r>
              <a:rPr lang="en-US" sz="9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tools/redteam_exam.py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备选题库（按知识点分类）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 道题，7 个分类，可替换样卷中任意一题，或作往年真题复习使用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语法、字符串与容器（W1–W4）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鸡兔同笼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E02750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分支、整除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ASCII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整数的个数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E02676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生日相同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E02724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字典分组 + 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E02804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字典查询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多项式时间复杂度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E23563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字符串解析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验证「歌德巴赫猜想」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E03143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素数筛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矩阵（W6）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 + 维度判断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方向数组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图的拉普拉斯矩阵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 + 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排序、贪心与区间（W6、W10）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排序后切间隙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排队做实验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M21554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买学区房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M19963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 + 中位数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02808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校门外的树又来了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M29947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Radar Installation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M01328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区间选点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世界杯只因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T27104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区间覆盖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栈与队列（W7）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波兰表达式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02694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前缀求值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后序表达式求值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24588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后缀求值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快速堆猪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22067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双端队列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05902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deque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约瑟夫问题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队列模拟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病人排队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E07618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稳定排序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有多少种合法的出栈顺序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27217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卡特兰数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土豪购物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M20744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DP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递归、回溯与并查集（W8–W9）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菲波那契数列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Pell 数列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M02786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汉诺塔问题(Tower of Hanoi)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04147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八皇后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剪枝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马走日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04123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状态还原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Lake Counting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02386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Flood Fill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晶矿的个数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M05585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宗教信仰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02524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一种等价类划分问题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M29982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食物链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T01182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扩展域并查集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放苹果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01664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简单的整数划分问题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动态规划（W10–W11）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数字三角形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02760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 DP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02773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小偷背包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23421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Coins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M01742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多重背包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宠物小精灵之收服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04102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二维费用背包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健身房 (dp)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21458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「恰好装满」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NBA 门票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20089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「恰好 + 最少个数」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Longest Ordered Subsequence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02533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拦截导弹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M02945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最长不上升子序列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最大上升子序列和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03532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 变形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公共子序列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02806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最大子矩阵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M02766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降维 + Kadane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合唱队形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02711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 LIS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搜索与二分（W12）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鸣人和佐助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带状态 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拯救行动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+ 优先队列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水淹七军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M12029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模拟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寻宝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19930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变换的迷宫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T04129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多维状态 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小游戏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T02802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+ 转弯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走山路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M20106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河中跳房子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M08210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月度开销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M04135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Aggressive cows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M02456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Expedition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M02431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给学生的备考建议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个必背模板 · 一页 cheat sheet · 考场流程 · 高频陷阱清单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必须能默写的 12 个模板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943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快速输入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sys.stdin.read().split()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埃氏筛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一维 / 二维前缀和 + 差分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W6、W10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多关键字排序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key=lambda x:(a,-b)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归并排序的合并（求逆序对）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单调栈（下一个更大元素）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回溯模板（选择 → 递归 → 撤销）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并查集（路径压缩 + 按大小合并）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背包（倒序）/ 完全背包（正序）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 的 O(n log n) 写法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BFS（deque + 入队标记 + 状态维）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二分答案（判定 + 上/下取整）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自测方法：关掉所有资料，在空文件里默写。写不出来的，回到对应周的讲义重看一遍再默写。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 A4 cheat sheet 的建议内容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快速输入 / 输出模板（3 行）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复杂度速查表（n 的范围 → 可用复杂度）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容器操作复杂度表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bisect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用法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 / 差分公式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二分模板（两种取整方向）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3017520"/>
          </a:xfrm>
          <a:prstGeom prst="roundRect">
            <a:avLst>
              <a:gd name="adj" fmla="val 24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回溯模板骨架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并查集（10 行）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0-1 / 完全背包核心循环 + 「恰好装满」初始化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模板（含状态维）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模板（heapq）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高频陷阱清单（下页）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690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手写、双面、一页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453128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不得打印、不得整页抄代码——抄不下的内容，说明你还没消化。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考场流程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91440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0–5 min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914400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 6 题，按预估难度标序，先做有把握的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316736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31673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5–15 min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1316736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T1（签到）——写完就交，用 OJ 反馈代替自己检查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1719072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7190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15–45 min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1719072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T2、T3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121408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12140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45–78 min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240280" y="2121408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T4、T5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523744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5237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78–102 min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40280" y="2523744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 或回头补前面卡住的题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260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102–112 min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240280" y="2926080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检查输出格式：多余空格、换行、精度、特殊边界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342900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六条纪律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822192"/>
            <a:ext cx="38404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先看数据范围再想算法（第 4 周 3.4 节）；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样例过了先交，OJ 的反馈比自己盯屏幕快；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 就造数据：n=1、全相同、最大值、最小值、不连通；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3822192"/>
            <a:ext cx="39319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 先查复杂度，不要急着抠常数；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卡满 15 分钟就换题，回来时往往一眼看出问题；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 10 分钟检查格式。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高频陷阱清单（考前最后一遍）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9776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忘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strip()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的别名陷阱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list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O(n)；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list.pop(0)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O(n)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比较；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差 1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回溯忘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拷贝 / 忘还原状态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0-1 背包写成正序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「恰好装满」没用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±inf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960120"/>
            <a:ext cx="39776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出队时才标记 visited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带状态的搜索少加了一维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二分答案的取整方向写反导致死循环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多关键字排序只写了一个 key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递归过深未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（或该改迭代）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输出格式：多余空格 / 换行 / 精度（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三条硬性提醒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097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考试禁止任何 AI 工具，包括本地模型与 IDE 的智能补全插件。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1488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无法解释自己提交的代码，按学术不端处理，成绩记 0。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2004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平时的自检方法：关掉所有窗口，从空文件重写一遍。写不出来 = 这道题你没做。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命题与阅卷检查清单（教师用，附参考）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命题与阅卷检查清单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命题前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题覆盖 ≥5 个大类，贪心/DP/搜索各 ≥1 题；难度梯度 ★1→★5；数据范围明确；样例含易误解释；无歧义边界描述。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参考解答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已实际运行并通过全部样例；已测边界（n=1、空输入、全相同、极值、不连通）；已与暴力解对拍；复杂度声明与实际一致；递归确认不爆栈。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每题有卡错解、卡超时的数据，且已用错误实现验证过；分档数据设计合理；时限按实测 3–5 倍设定。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阅卷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评分标准逐项可核对；抽查高分卷要求口头解释代码；记录各题实际 AC 率，用于下一年校准。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知识体系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周分四条线：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计算机基础、语言与工具、算法与数据结构、AI 素养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；算法主线是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 → 贪心/DP → 搜索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机考规格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禁用一切 AI 工具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讲不清自己的代码按学术不端处理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样卷六题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字典排序、栈、区间分组、带状态 BFS、双目标背包、最小瓶颈路，难度从 ★1 递增到 ★5。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备考两件事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手写一页 cheat sheet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——抄不下的内容说明还没消化。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考场六条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看范围、早提交、造数据、查复杂度、按时换题、留时间查格式。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课程结语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这门课是练出来的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你完成的 150–200 道题、调过的每一个 WA、重写过的每一份代码，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才是这门课真正留下的东西——它们不会随着考试结束而消失。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7589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下一步：《数据结构与算法》。那门课会从这里继续——树、图、哈希、字符串匹配，以及本课只开了个头的那些主题。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16 周 课程知识体系总结、期末复习与上机考试</dc:title>
  <dc:subject>PptxGenJS Presentation</dc:subject>
  <dc:creator>Hongfei Yan</dc:creator>
  <cp:lastModifiedBy>Hongfei Yan</cp:lastModifiedBy>
  <cp:revision>1</cp:revision>
  <dcterms:created xsi:type="dcterms:W3CDTF">2026-09-22T11:26:24Z</dcterms:created>
  <dcterms:modified xsi:type="dcterms:W3CDTF">2026-09-22T11:26:24Z</dcterms:modified>
</cp:coreProperties>
</file>