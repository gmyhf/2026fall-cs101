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9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703320"/>
            <a:ext cx="12191695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103120"/>
            <a:ext cx="11057839" cy="1554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  <a:ea typeface="微软雅黑"/>
              </a:rPr>
              <a:t>第16周　课程知识体系总结、期末复习与上机考试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C7D3E2"/>
                </a:solidFill>
                <a:latin typeface="Segoe UI"/>
                <a:ea typeface="微软雅黑"/>
              </a:rPr>
              <a:t>知识体系 · 考试须知 · 覆盖矩阵 · 建议样卷 6 题 · 备选题库 · 备考清单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160520"/>
            <a:ext cx="11057839" cy="1463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0" i="0">
                <a:solidFill>
                  <a:srgbClr val="A8B8CC"/>
                </a:solidFill>
                <a:latin typeface="Segoe UI"/>
                <a:ea typeface="微软雅黑"/>
              </a:rPr>
              <a:t>北京大学　《计算概论（B）》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0" i="0">
                <a:solidFill>
                  <a:srgbClr val="A8B8CC"/>
                </a:solidFill>
                <a:latin typeface="Segoe UI"/>
                <a:ea typeface="微软雅黑"/>
              </a:rPr>
              <a:t>主题与学习重点：知识图谱、神经网络等 AI 专题；课程知识体系总结与期末复习。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1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课程知识体系总结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一张图看完 16 周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345057"/>
            <a:ext cx="11057839" cy="477139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                《计算概论（B）》知识体系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                          |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+--------------+----------+----------+---------------+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|              |                     |               |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计算机基础     语言与工具          算法与数据结构      AI 素养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(W1,W3,W13)   (W1,W2,W4)          (W6-W12,W16)      (W1,W14,W15)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|              |                     |               |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图灵机         Python 语法         复杂度分析        LLM 原理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冯诺依曼       容器与代价          矩阵/前缀和       幻觉与验证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二进制/补码    Shell &amp; VM          排序/二分         提示词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浮点 &amp; ASCII   IDE &amp; 调试          贪心/区间         知识图谱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进程 &amp; 虚拟内存 快速 IO            栈/队列           神经网络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缓存 &amp; 局部性                      递归/回溯         RAG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                                并查集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                                动态规划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                                BFS / Dijkstra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第16周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算法主线：一条演化路径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046732"/>
            <a:ext cx="11057839" cy="3368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暴力枚举 --剪枝--&gt; 回溯 (W9)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   |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   +--排序后一遍扫--&gt; 贪心 (W6, W10)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   |                     |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   |                 贪心失效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   |                     v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   +--记忆化--------&gt; 动态规划 (W10, W11)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   |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   +--按层扩展------&gt; BFS (W12) --边权不同--&gt; Dijkstra (W12)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横向工具：前缀和/差分、二分答案、单调栈/单调队列、并查集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第16周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每周一句话（上）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8" cy="39547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671"/>
                <a:gridCol w="9640167"/>
              </a:tblGrid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周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一句话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三个平台各司其职；AI 是加速器不是替身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2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python3 a.py &lt; in.txt 是本课最常用的一条命令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3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补码让减法变加法；浮点永远不要用 == 比较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4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容器复杂度表要背；先看数据范围再定算法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5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月考是体检；订正 = 分类 + 关题解重写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6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贪心 = 排序 + 一遍扫，难在选排序键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7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栈用 list、队列用 deque；单调结构把 O(n^2) 降到 O(n)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8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递归三法则；递归就是在用系统栈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第16周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每周一句话（下）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8" cy="39547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45469"/>
                <a:gridCol w="9612369"/>
              </a:tblGrid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周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一句话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9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回溯 = DFS + 撤销；并查集摊还近 O(1)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10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要"多"按右端点排，要"合/盖"按左端点排；DP 三要素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11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0-1 倒序、完全正序；"恰好装满"要用 ±inf 初始化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12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用 deque、入队标记；要"最短"就 BFS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13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Python 慢就换算法，不要抠常数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14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幻觉源于"训练目标是合理而非正确"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15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反向传播本质上就是动态规划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16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考场流程：看范围 → 认题型 → 定策略 → 造数据 → 查格式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第16周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2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期末上机考试须知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考试须知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8" cy="3515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37661"/>
                <a:gridCol w="9420177"/>
              </a:tblGrid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项目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规定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时间 / 时长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第 16 周（日期节次以通知为准）；约 120 分钟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题量 / 总分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6 道编程题；100 分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平台 / 语言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OpenJudge（cs101 小组）；Python 3 为主，允许 C++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环境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考试专用机房，断开外网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允许携带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一页 A4 双面手写 cheat sheet（不得打印、不得夹带整页代码）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禁止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⚠️ 任何 AI 工具（含本地模型、IDE 补全插件）、联网查询、任何交流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学术诚信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⚠️ 无法解释自己提交的代码，按学术不端处理，成绩记 0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第16周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成绩参考（历年经验，以当学期通知为准）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AC 5–6 题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：基本可获优秀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AC 4 题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：若笔试成绩较高且未超优秀比例限制，仍有机会评优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AC 0 题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：即使笔试满分，总评也会受到明显影响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⚠️ 上述比例与条件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不是本讲义能确定的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，仅用于说明机考的重要性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第16周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考查的五项能力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问题抽象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：把文字描述翻译成数据结构与状态模型 ——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最常见的失分点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算法选择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：根据数据范围选出复杂度可行的算法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代码实现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：在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无 AI 辅助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下正确、快速地写出可运行代码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边界处理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：n = 0/1、多组数据、全相同、极值、不连通、空输入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调试能力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：读懂 WA / TLE 反馈并自行构造数据定位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第16周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3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知识点覆盖矩阵与难度梯度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知识点覆盖矩阵（教师用）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7" cy="3515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92194"/>
                <a:gridCol w="1738428"/>
                <a:gridCol w="1433755"/>
                <a:gridCol w="6093460"/>
              </a:tblGrid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大类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周次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本卷覆盖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具体考点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语法与容器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W1–W2、W4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T1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字典计数、多关键字排序、格式化输出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计算机基础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W3、W13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备选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进制、位运算、ASCII、复杂度估算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线性结构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W7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T2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栈 / 队列 / 单调栈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排序与贪心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W6、W10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T3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排序键、区间问题、差分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搜索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W9、W12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T4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BFS / DFS / 回溯 / 带状态搜索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动态规划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W10–W11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T5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线性 DP / 背包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并查集与图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W9、W12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T6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连通性、最小瓶颈路、二分答案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4960112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保证覆盖至少 5 个大类，且贪心、DP、搜索各至少 1 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第16周 · 闫宏飞 · 2026 Fall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难度梯度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538095"/>
            <a:ext cx="11057839" cy="196469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T1  15分  *          签到题，90% 学生应 AC        -- 保证及格线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T2  15分  **         基础数据结构应用，70% AC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T3  15分  ***        需要一次转化（排序键），55% AC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T4  15分  ***        带状态搜索，45% AC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T5  20分  ****       DP，状态设计有难度，30% AC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T6  20分  *****      综合建模，15% AC             -- 区分优秀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5888736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⚠️ 预期 AC 率是命题经验估计，无历史数据支撑，需按实际结果逐年校准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第16周 · 闫宏飞 · 2026 Fall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4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建议样卷（6 题 / 100 分）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T1 成绩单核对（15 分）★☆☆☆☆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考点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：字典计数、多关键字排序、格式化输出（W2、W4）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n 条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学号 科目 分数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记录（n ≤ 2×10⁵）。按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总分降序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输出学号、总分、平均分（两位小数）；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总分相同时按学号字典序升序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。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卡点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：n=2×10⁵ 但只有 500 个学号（卡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list.count()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）；平均分为整数时必须输出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85.00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第16周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T1 参考解答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4443984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424281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import sys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from collections import defaultdict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def solve():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   data = sys.stdin.read().split()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   n = int(data[0])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   total, cnt = defaultdict(int), defaultdict(int)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   idx = 1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   for _ in range(n):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       sid, _subject, score = data[idx], data[idx + 1], int(data[idx + 2])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       idx += 3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       total[sid] += score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       cnt[sid] += 1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   order = sorted(total, key=lambda s: (-total[s], s))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   out = [f"{s} {total[s]} {total[s] / cnt[s]:.2f}" for s in order]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   sys.stdout.write('\n'.join(out) + '\n')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solve()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861304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评分：字典一遍统计 6 分 + 多关键字排序 5 分 + 格式 :.2f 4 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第16周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T2 括号嵌套深度（15 分）★★☆☆☆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考点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：栈、边界判断（W7）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字符串含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()[]{}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与其他字符（|s| ≤ 10⁶）。合法则输出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YES 最大嵌套深度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；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否则输出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NO 第一个出错位置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（1-indexed）；末尾未闭合时位置为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len(s)+1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样例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a(b[c]{d})e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→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YES 2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；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(]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→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NO 2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；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((()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→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NO 5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；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(([]))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→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YES 3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卡点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：空串（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YES 0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）；10⁵ 层深嵌套（用递归会爆栈）；末尾未闭合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第16周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T2 参考解答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4443983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424281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import sys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def solve():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s = sys.stdin.readline().rstrip('\n')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pairs = {')': '(', ']': '[', '}': '{'}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stack, depth, best = [], 0, 0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for i, ch in enumerate(s):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    if ch in '([{':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        stack.append(ch)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        depth += 1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        if depth &gt; best: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            best = depth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    elif ch in pairs: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        if not stack or stack[-1] != pairs[ch]: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            print("NO", i + 1)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            return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        stack.pop()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        depth -= 1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if stack: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    print("NO", len(s) + 1)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else: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    print("YES", best)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solve()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861303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评分：三类错误全覆盖 8 分 + 最大深度 4 分 + len(s)+1 边界 3 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第16周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T3 会议室数量（15 分）★★★☆☆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考点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：区间分组、差分 / 排序（W10）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n 场会议（n ≤ 2×10⁵），时间是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左闭右开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区间 [aᵢ, bᵢ)，坐标 ≤ 10⁹。求最少会议室数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转化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：答案 =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同一时刻最多有多少场会议在进行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关键细节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：左闭右开时，同一时刻的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−1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必须排在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+1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前面（先释放再占用）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卡点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：大量端点相接的区间；坐标 10⁹（不能开数组）；n=2×10⁵（不能 O(n²)）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第16周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T3 参考解答（1/2）：事件扫描求峰值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4443984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424281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import sys, heapq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def solve():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data = sys.stdin.buffer.read().split()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n = int(data[0])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events, idx = [], 1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for _ in range(n):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    a, b = int(data[idx]), int(data[idx + 1]); idx += 2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    events.append((a, 1))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    events.append((b, -1))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events.sort()                      # (t, -1) 自动排在 (t, 1) 前面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cur = best = 0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for _, delta in events: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    cur += delta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    if cur &gt; best: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        best = cur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print(best)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861304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(t, -1) 自动排在 (t, 1) 前面 —— 左闭右开先释放再占用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第16周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T3 参考解答（2/2）：等价的堆写法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3350260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31490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def min_rooms(intervals):              # 等价的堆写法，便于理解"分组"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intervals = sorted(intervals, key=lambda x: x[0])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heap = []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for a, b in intervals: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if heap and heap[0] &lt;= a:      # 左闭右开取 &lt;=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    heapq.heapreplace(heap, b)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else: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    heapq.heappush(heap, b)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return len(heap)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print(min_rooms([(0, 30), (5, 10), (15, 20)]))     #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76758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便于理解"分组"的含义；左闭右开取 &lt;=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第16周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T4 穿墙迷宫（15 分）★★★☆☆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考点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：带状态的 BFS（W12）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n×m 网格（≤ 500×500），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.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空地、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#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墙、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S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起点、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T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终点；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最多可穿过 k 面墙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（k ≤ 10，穿墙同样计 1 步）。求最少步数，不可达输出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-1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关键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：状态是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`(x, y, 已穿墙次数)`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把网格复制成 k+1 层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样例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S#.#T / .#.#. / .....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中，k=0 与 k=1 均为 8，k=2 为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第16周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T4 参考解答（1/2）：读入与定位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3606165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3404997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import sys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from collections import deque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def solve():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data = sys.stdin.read().split()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n, m, k = int(data[0]), int(data[1]), int(data[2])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grid = data[3:3 + n]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sx = sy = tx = ty = -1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for i in range(n):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for j in range(m):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    if grid[i][j] == 'S': sx, sy = i, j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    elif grid[i][j] == 'T': tx, ty = i, j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023485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状态是 (x, y, 已穿墙次数) —— 把网格复制成 k+1 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第16周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T4 参考解答（2/2）：三维 BFS 主循环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4443984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424281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DIRS = ((-1, 0), (1, 0), (0, -1), (0, 1))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dist = [[[-1] * m for _ in range(n)] for _ in range(k + 1)]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dist[0][sx][sy] = 0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q = deque([(sx, sy, 0)])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while q: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    x, y, u = q.popleft()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    if (x, y) == (tx, ty):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        print(dist[u][x][y]); return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    for dx, dy in DIRS: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        nx, ny = x + dx, y + dy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        if not (0 &lt;= nx &lt; n and 0 &lt;= ny &lt; m):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            continue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        nu = u + (1 if grid[nx][ny] == '#' else 0)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        if nu &gt; k or dist[nu][nx][ny] &gt;= 0: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            continue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        dist[nu][nx][ny] = dist[u][x][y] + 1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        q.append((nx, ny, nu))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print(-1)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solve()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861304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每步代价都是 1，所以 BFS 就够；若穿墙代价不是 1，必须换 Dijkstra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第16周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T5 作业时间分配（20 分）★★★★☆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考点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：0-1 背包 + 次要目标（W11）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n ≤ 100 份作业（耗时 tᵢ、得分 sᵢ），总时间 T ≤ 10⁴，每份要么完整完成要么不做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求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最高总分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；若多种方案同分，再求其中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总耗时最少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的那个耗时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双目标 DP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dp[c]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= 最高分，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tm[c]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= 达到该分的最小耗时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样例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：T=10，(3,10)(4,14)(5,16)(2,5) →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31 10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第16周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T5 参考解答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4443984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424281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import sys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def solve():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data = sys.stdin.read().split()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n, T = int(data[0]), int(data[1])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dp = [0] * (T + 1)          # 最高得分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tm = [0] * (T + 1)          # 达到 dp[c] 的最小耗时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idx = 2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for _ in range(n):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    t, s = int(data[idx]), int(data[idx + 1]); idx += 2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    for c in range(T, t - 1, -1):        # 0-1 背包：倒序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        cand = dp[c - t] + s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        if cand &gt; dp[c] or (cand == dp[c] and tm[c - t] + t &lt; tm[c]):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            dp[c] = cand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            tm[c] = tm[c - t] + t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best = max(dp)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print(best, min(tm[c] for c in range(T + 1) if dp[c] == best))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solve()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861304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⚠️ 两个易错点：必须倒序；次要目标条件必须是 cand == dp[c]，写成 &gt;= 会答错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第16周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T6 电网巡检（20 分）★★★★★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考点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：最小瓶颈路 = 排序 + 并查集（W6、W9）；亦可二分 + BFS（W12）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n ≤ 10⁵ 个变电站、m ≤ 2×10⁵ 条带危险度的双向线路。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路径的"风险"= 路径上危险度的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最大值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；求 1 → n 所有路径中风险的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最小值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核心洞察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按危险度从小到大逐条加边，第一次让 1 与 n 连通的那条边就是答案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卡点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：不连通输出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-1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；重边；链状图（未做路径压缩会 TLE）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第16周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T6 参考解答（1/2）：读入并按危险度升序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3094355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2893187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import sys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def solve():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data = sys.stdin.buffer.read().split()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n, m = int(data[0]), int(data[1])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edges, idx = [], 2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for _ in range(m):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u, v, w = int(data[idx]), int(data[idx+1]), int(data[idx+2]); idx += 3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edges.append((w, u, v))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edges.sort()                              # 按危险度升序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511675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排序是整个算法的关键一步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第16周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T6 参考解答（2/2）：并查集 + 首次连通即答案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4443984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424281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parent = list(range(n + 1))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size = [1] * (n + 1)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def find(x):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    root = x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    while parent[root] != root: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        root = parent[root]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    while parent[x] != root:              # 路径压缩（迭代，防爆栈）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        parent[x], x = root, parent[x]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    return root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for w, u, v in edges: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    ru, rv = find(u), find(v)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    if ru != rv: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        if size[ru] &lt; size[rv]: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            ru, rv = rv, ru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        parent[rv] = ru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        size[ru] += size[rv]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    if find(1) == find(n):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        print(w); return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print(-1)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solve()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861304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路径压缩写成迭代两趟，防止 n=10^5 时爆栈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第16周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5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给学生的备考建议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必须能默写的 12 个模板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7" cy="30759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7923"/>
                <a:gridCol w="7664701"/>
                <a:gridCol w="2015213"/>
              </a:tblGrid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#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模板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周次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1–3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快速输入 ｜ 埃氏筛 ｜ 前缀和 + 差分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W4、W6、W10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4–5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多关键字排序 ｜ 归并的合并（逆序对）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W6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6–7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单调栈 ｜ 回溯模板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W7、W9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8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并查集（路径压缩 + 按大小合并）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W9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9–10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0-1 / 完全背包 ｜ LIS 的 O(n log n)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W11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11–12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BFS（deque + 入队标记 + 状态维）｜ 二分答案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W12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4520692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自测方法：关掉所有资料，在空文件里默写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第16周 · 闫宏飞 · 2026 Fall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一页 A4 cheat sheet 的建议内容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5300319" cy="420624"/>
          </a:xfrm>
          <a:prstGeom prst="rect">
            <a:avLst/>
          </a:prstGeom>
          <a:solidFill>
            <a:srgbClr val="1239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380744"/>
            <a:ext cx="5007711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  <a:ea typeface="微软雅黑"/>
              </a:rPr>
              <a:t>正面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901952"/>
            <a:ext cx="5117439" cy="413308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450" b="0" i="0">
                <a:solidFill>
                  <a:srgbClr val="242A33"/>
                </a:solidFill>
                <a:latin typeface="Segoe UI"/>
                <a:ea typeface="微软雅黑"/>
              </a:rPr>
              <a:t>· 快速输入 / 输出模板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450" b="0" i="0">
                <a:solidFill>
                  <a:srgbClr val="242A33"/>
                </a:solidFill>
                <a:latin typeface="Segoe UI"/>
                <a:ea typeface="微软雅黑"/>
              </a:rPr>
              <a:t>· 复杂度速查表（n 范围 -&gt; 复杂度）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450" b="0" i="0">
                <a:solidFill>
                  <a:srgbClr val="242A33"/>
                </a:solidFill>
                <a:latin typeface="Segoe UI"/>
                <a:ea typeface="微软雅黑"/>
              </a:rPr>
              <a:t>· 容器操作复杂度表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450" b="0" i="0">
                <a:solidFill>
                  <a:srgbClr val="242A33"/>
                </a:solidFill>
                <a:latin typeface="Segoe UI"/>
                <a:ea typeface="微软雅黑"/>
              </a:rPr>
              <a:t>· 多关键字排序、bisect 用法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450" b="0" i="0">
                <a:solidFill>
                  <a:srgbClr val="242A33"/>
                </a:solidFill>
                <a:latin typeface="Segoe UI"/>
                <a:ea typeface="微软雅黑"/>
              </a:rPr>
              <a:t>· 前缀和 / 差分公式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450" b="0" i="0">
                <a:solidFill>
                  <a:srgbClr val="242A33"/>
                </a:solidFill>
                <a:latin typeface="Segoe UI"/>
                <a:ea typeface="微软雅黑"/>
              </a:rPr>
              <a:t>· 二分模板（两种取整方向）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6324447" y="1298448"/>
            <a:ext cx="5300319" cy="420624"/>
          </a:xfrm>
          <a:prstGeom prst="rect">
            <a:avLst/>
          </a:prstGeom>
          <a:solidFill>
            <a:srgbClr val="1239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0751" y="1380744"/>
            <a:ext cx="5007711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  <a:ea typeface="微软雅黑"/>
              </a:rPr>
              <a:t>反面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15887" y="1901952"/>
            <a:ext cx="5117439" cy="413308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450" b="0" i="0">
                <a:solidFill>
                  <a:srgbClr val="242A33"/>
                </a:solidFill>
                <a:latin typeface="Segoe UI"/>
                <a:ea typeface="微软雅黑"/>
              </a:rPr>
              <a:t>· 回溯模板骨架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450" b="0" i="0">
                <a:solidFill>
                  <a:srgbClr val="242A33"/>
                </a:solidFill>
                <a:latin typeface="Segoe UI"/>
                <a:ea typeface="微软雅黑"/>
              </a:rPr>
              <a:t>· 并查集（10 行）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450" b="0" i="0">
                <a:solidFill>
                  <a:srgbClr val="242A33"/>
                </a:solidFill>
                <a:latin typeface="Segoe UI"/>
                <a:ea typeface="微软雅黑"/>
              </a:rPr>
              <a:t>· 背包两行核心循环 + inf 初始化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450" b="0" i="0">
                <a:solidFill>
                  <a:srgbClr val="242A33"/>
                </a:solidFill>
                <a:latin typeface="Segoe UI"/>
                <a:ea typeface="微软雅黑"/>
              </a:rPr>
              <a:t>· BFS 模板（含状态维）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450" b="0" i="0">
                <a:solidFill>
                  <a:srgbClr val="242A33"/>
                </a:solidFill>
                <a:latin typeface="Segoe UI"/>
                <a:ea typeface="微软雅黑"/>
              </a:rPr>
              <a:t>· Dijkstra 模板（heapq）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450" b="0" i="0">
                <a:solidFill>
                  <a:srgbClr val="242A33"/>
                </a:solidFill>
                <a:latin typeface="Segoe UI"/>
                <a:ea typeface="微软雅黑"/>
              </a:rPr>
              <a:t>· 高频陷阱清单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第16周 · 闫宏飞 · 2026 Fall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考场流程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538095"/>
            <a:ext cx="11057839" cy="196469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0-5 min      通读 6 题，按预估难度标序，先做有把握的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5-15 min     T1（签到）—— 写完就交，用 OJ 反馈代替自己检查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15-45 min    T2、T3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45-80 min    T4、T5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80-110 min   T6 或回头补前面卡住的题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110-120 min  检查输出格式：多余空格、换行、精度、特殊边界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5888736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六条纪律：看范围、早提交、造数据、查复杂度、按时换题、留时间查格式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第16周 · 闫宏飞 · 2026 Fall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高频陷阱清单（考前最后一遍）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忘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int()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/ 忘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strip()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｜ ☐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[[0]*n]*m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别名陷阱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x in list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是 O(n)；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list.pop(0)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是 O(n)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浮点用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==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比较；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int(x**0.5)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差 1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回溯忘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path[:]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拷贝 / 忘还原状态 ｜ ☐ 0-1 背包写成正序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"恰好装满"没用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±inf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初始化 ｜ ☐ BFS 出队时才标记 visited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带状态的搜索少加了一维 ｜ ☐ 二分答案的取整方向写反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多关键字排序只写了一个 key ｜ ☐ 递归过深未处理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输出格式：多余空格 / 换行 / 精度（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85.00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而非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85.0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第16周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三条硬性提醒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2084831"/>
            <a:ext cx="11057839" cy="2286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2084831"/>
            <a:ext cx="82296" cy="228600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9848" y="2377440"/>
            <a:ext cx="10051999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2395B"/>
                </a:solidFill>
                <a:latin typeface="Segoe UI"/>
                <a:ea typeface="微软雅黑"/>
              </a:rPr>
              <a:t>考试禁止任何 AI 工具；讲不清自己的代码按学术不端处理；自检方法是关掉窗口从空文件重写。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第16周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6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命题与阅卷检查清单（教师用）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命题前 / 参考解答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6 题覆盖至少 5 个大类，贪心 / DP / 搜索各至少 1 题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难度梯度符合 ★1 → ★5，T1 是真正的签到题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每题数据范围明确，与预期复杂度匹配；易误解的输出定义给出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样例解释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参考解答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已实际运行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并通过全部样例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已测边界：n=1、空输入、全相同、极值、不连通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已与暴力解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对拍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（本卷 T3/T4/T5/T6 各做了 400 组随机对拍）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递归解法已确认不会在评测机上爆栈（或已改迭代）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第16周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测试数据 / 阅卷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每题都有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卡错解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的数据，且已用错误实现验证过它真能卡住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每题都有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卡超时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的数据；分档数据设计合理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tools/redteam_exam.py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已跑过 T1–T6 的 WA / TLE / MLE 反例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时限按参考解答实测时间的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3–5 倍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设定，并考虑 Python 与 C++ 的差异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评分标准逐项可核对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抽查高分卷，要求学生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口头解释自己的代码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记录各题实际 AC 率，与预期对照，用于下一年校准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第16周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小结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知识体系四条线：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计算机基础、语言与工具、算法与数据结构、AI 素养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机考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6 题 / 约 120 分钟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禁用一切 AI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讲不清代码按学术不端处理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样卷六题：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字典排序、栈、区间分组、带状态 BFS、双目标背包、最小瓶颈路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备考只做两件事：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默写 12 个模板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+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手写一页 cheat sheet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考场六条：看范围、早提交、造数据、查复杂度、按时换题、留时间查格式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第16周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课程到此结束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2084831"/>
            <a:ext cx="11057839" cy="2286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2084831"/>
            <a:ext cx="82296" cy="228600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9848" y="2377440"/>
            <a:ext cx="10051999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2395B"/>
                </a:solidFill>
                <a:latin typeface="Segoe UI"/>
                <a:ea typeface="微软雅黑"/>
              </a:rPr>
              <a:t>你完成的 150–200 道题、调过的每一个 WA、重写过的每一份代码，才是这门课真正留下的东西。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第16周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40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