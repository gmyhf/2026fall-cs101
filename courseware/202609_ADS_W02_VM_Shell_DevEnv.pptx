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第2周　虚拟机、Shell 与开发环境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操作系统 · 虚拟化与 xLab · Linux Shell · 开发环境 · 编程语法练习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主题与学习重点：虚拟机、Shell 与开发环境；开始编程语法练习。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为什么计概课要讲操作系统和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评测机跑的是 Linux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TLE / MLE / RE 时要知道往哪一层看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命令行是程序员的通用接口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装包、跑脚本、批处理、连服务器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 15 周要跑神经网络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本地跑不动的实验放到云主机上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操作系统与虚拟化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三大操作系统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09"/>
                <a:gridCol w="3159382"/>
                <a:gridCol w="3249137"/>
                <a:gridCol w="27465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Windows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macOS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Darwin（类 Unix）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默认 Shell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cmd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bash / 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包管理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winget / choco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Homebrew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apt / yum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路径分隔符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\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换行符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CR 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本课定位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评测机 / 云主机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换行符差异会咬人：养成 line.strip() 的习惯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虚拟机的层次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5749"/>
            <a:ext cx="11057839" cy="39293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Guest   | |  Guest   | |  Guest   |   &lt;- 虚拟机里的操作系统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Linux   | |  Linux   | | Windows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Hypervisor 虚拟机监视器        |   &lt;- VirtualBox / VMware / KVM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宿主机操作系统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   物理硬件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虚拟机：隔离、一致、可迁移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 vs 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虚拟机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模拟整台计算机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有自己的内核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启动慢、开销大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能跑不同内核的系统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容器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共享宿主机内核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只隔离文件系统与进程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启动快、开销小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不能跑不同内核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云主机：连接与首次配置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username@ip_address           # 口令登录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-i ~/.ssh/id_rsa user@ip      # 密钥登录（推荐）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apt update &amp;&amp; sudo apt upgrade -y      # 1) 更新系统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ed25519 -C "you@pku.edu.cn"   # 2) 生成并上传公钥（本机执行）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ssh-copy-id user@ip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local_file.py user@ip:~/       # 3) 传文件：本机 -&gt; 云主机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user@ip:~/result.txt ./        #          云主机 -&gt; 本机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学校云计算实验平台：clab.pku.edu.cn；本课程的实验环境是 xLab（第 2 节）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交换分区：内存不够时的救命稻草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fallocate -l 4G /swapfile        # 建 4GB 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chmod 600 /swapfile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mkswap /swapfile                 # 格式化为交换空间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swapon /swapfile                 # 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free -h                               # 确认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echo '/swapfile none swap sw 0 0' | sudo tee -a /etc/fstab   # 开机自动挂载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swap 在磁盘上，比内存慢几个数量级；它防的是"崩溃"，不是"变慢"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xLab：本地连接课程实验环境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课程提供 Linux 节点，本机通过 SSH 连接和编辑远程代码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xLab：本机、终端、SSH 与 VS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50518"/>
                <a:gridCol w="3537895"/>
                <a:gridCol w="336942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工具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在哪里打开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用来做什么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本机终端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Terminal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输入命令、查看输出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SSH 客户端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在本机终端执行 ssh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验证身份，连接远程节点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VS Code + Remote-SSH 扩展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在自己的电脑上打开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 SSH 编辑远程项目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今天跟着完成：密钥 → SSH 登录节点 → VS Code 远程运行程序。连接后，命令在远程节点执行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公钥登录：在本机生成并读取 SSH 密钥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-V                       # 确认本机有 SSH 客户端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       # 生成密钥：默认路径按 Enter，口令直接回车两次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         # 若提示 Overwrite，输入 n，保留已有密钥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~/.ssh/id_ed25519.pub    # 读取公钥，复制输出的一整行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~/.ssh/id_ed25519        私钥：留在自己电脑，不上传、不发给别人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~/.ssh/id_ed25519.pub    公钥：添加到 xLab，节点用它验证登录者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校园统一认证登录 xLab 网站；SSH 公钥认证登录 Linux 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登录 xLab，找到课程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lab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04941"/>
            <a:ext cx="5528919" cy="4339558"/>
          </a:xfrm>
          <a:prstGeom prst="rect">
            <a:avLst/>
          </a:prstGeom>
          <a:ln w="9525">
            <a:solidFill>
              <a:srgbClr val="D6DCE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53047" y="1298448"/>
            <a:ext cx="5071720" cy="43525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1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打开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xlab.pku.edu.cn</a:t>
            </a:r>
          </a:p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2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北京大学统一身份认证登录</a:t>
            </a:r>
          </a:p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3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在「我的节点」找到「计算概论B」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338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看不到课程：向助教确认名单；xLab 在校园网内，校外需先连北大 VPN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把本机公钥添加到 xLab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lab-pub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2690"/>
            <a:ext cx="5528919" cy="4264684"/>
          </a:xfrm>
          <a:prstGeom prst="rect">
            <a:avLst/>
          </a:prstGeom>
          <a:ln w="9525">
            <a:solidFill>
              <a:srgbClr val="D6DCE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53047" y="1298448"/>
            <a:ext cx="5071720" cy="4773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1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本机终端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cat ~/.ssh/id_ed25519.pub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，复制整行公钥</a:t>
            </a:r>
          </a:p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2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右上角账户 → SSH 公钥，填写名称并粘贴公钥</a:t>
            </a:r>
          </a:p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3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点击「添加公钥」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新建课程节点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lab-new-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493" y="1298448"/>
            <a:ext cx="3379789" cy="4352544"/>
          </a:xfrm>
          <a:prstGeom prst="rect">
            <a:avLst/>
          </a:prstGeom>
          <a:ln w="9525">
            <a:solidFill>
              <a:srgbClr val="D6DCE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53047" y="1298448"/>
            <a:ext cx="5071720" cy="43525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1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名称：默认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ic-b-yan-lab</a:t>
            </a:r>
          </a:p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2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镜像：选择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cs101-rc0-ubuntu</a:t>
            </a:r>
          </a:p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3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规格保留默认，数据盘留空</a:t>
            </a:r>
          </a:p>
          <a:p>
            <a:pPr>
              <a:lnSpc>
                <a:spcPct val="130000"/>
              </a:lnSpc>
              <a:spcAft>
                <a:spcPts val="2660"/>
              </a:spcAft>
            </a:pPr>
            <a:r>
              <a:rPr sz="1900" b="1" i="0">
                <a:solidFill>
                  <a:srgbClr val="E07B39"/>
                </a:solidFill>
                <a:latin typeface="Segoe UI"/>
                <a:ea typeface="微软雅黑"/>
              </a:rPr>
              <a:t>4  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勾选「立即启动」，等待「运行中」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338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账户里已添加的公钥会用于节点登录；已有节点的同学直接继续连接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节点卡片：本地连接入口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lab-nod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6303"/>
            <a:ext cx="11057839" cy="3616834"/>
          </a:xfrm>
          <a:prstGeom prst="rect">
            <a:avLst/>
          </a:prstGeom>
          <a:ln w="9525">
            <a:solidFill>
              <a:srgbClr val="D6DCE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66928" y="58338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复制卡片上的 SSH 命令到本机终端；装好 Remote-SSH 后，点「打开 VS Code」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从本机终端 SSH 登录节点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-p &lt;端口&gt; &lt;用户名&gt;@&lt;课程IP&gt;   # 直接复制节点卡片上自己的完整命令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Are you sure ...?  输入 yes 回车；出现远程提示符 = 连接成功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whoami                            # 当前用户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pwd                               # 当前目录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uname -m                          # CPU 架构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mkdir -p ~/ic-b-2026/xlab-intro-demo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cd ~/ic-b-2026/xlab-intro-demo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exit                              # 退出 SSH，回到本机终端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尖括号是说明字段，实际操作直接复制自己卡片中的命令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本地 VS Code：Remote-SSH 连接同一个节点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本机安装 VS Code 和 Microsoft 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Remote-SSH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扩展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F1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Remote-SSH: Add New SSH Host...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，粘贴刚才成功的 ssh 命令并保存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F1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Remote-SSH: Connect to Host...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，选刚添加的主机；询问系统时选 Linux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File &gt; Open Folder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打开远程练习目录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~/ic-b-2026/xlab-intro-demo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以后可在节点卡片直接点「打开 VS Code」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卡片「目录」→「更改…」选定练习目录，节点会记住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网页终端、「在浏览器打开 VS Code」可临时替代，访问的是同一节点、同一项目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在远程节点编辑并运行 hello.c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/* VS Code Explorer 中新建 hello.c，输入后 Ctrl+S / Cmd+S 保存 */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#include &lt;stdio.h&gt;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int main(void)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printf("Hello, cs101!\n");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0;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菜单 Terminal &gt; New Terminal，在远程终端执行：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gcc -Wall -Wextra hello.c -o hello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./hello                     # 输出 Hello, cs101!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修改问候语 → 保存 → 重新编译 → 再运行，观察输出变化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保存文件，下次继续连接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9442"/>
                <a:gridCol w="715839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位置 / 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记住什么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~/ic-b-2026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保存个人代码，重置节点后保留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/lec 与 /lec/submit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课程资料与个人收集目录，提交按课程要求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exit / 关闭远程连接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结束连接，已保存的文件仍在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停止 / 重置节点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停止会终止进程，重置会恢复系统盘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平台没有用户备份和快照：重要代码自己另存副本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排错：先排 SSH，再排 VS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546"/>
                <a:gridCol w="634829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现象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优先检查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找不到 ssh 命令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本机是否安装 SSH 客户端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Connection timed out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校园网络 / VPN、自己的 IP 与端口、节点状态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Permission denied (publickey)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用户名、公钥是否同步、是否使用对应私钥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主机密钥变化警告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先向助教核实，不直接关闭主机校验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SSH 成功，VS Code 失败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Remote-SSH 扩展、输出日志、Server 安装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非默认密钥：ssh -i &lt;私钥路径&gt; -p &lt;端口&gt; &lt;用户名&gt;@&lt;课程IP&gt;；求助时附完整命令与错误文本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Linux Shell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目录树与路径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            根目录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home/        用户主目录      ~ 等价于 /home/你的用户名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etc/         配置文件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usr/         用户程序（/usr/bin, /usr/local）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var/         可变数据（日志 /var/log）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 tmp/         临时文件（重启会清）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绝对路径：以 / 开头        相对路径：. 当前  .. 上级  ~ 主目录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09"/>
                <a:gridCol w="2772913"/>
                <a:gridCol w="530911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pwd / ls / cd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当前目录 / 列目录 / 切换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ls -la ；cd - 回上一个目录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/ cp / mv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建目录 / 复制 / 移动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-p a/b/c ；cp -r src dst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 -rf dir ⚠️ 不可恢复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cat / head / tail / less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查看文件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tail -f log ；less big.txt（q 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/ find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搜内容 / 搜文件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-rn "def main" . ；find . -name "*.py"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7963"/>
                <a:gridCol w="2279966"/>
                <a:gridCol w="62699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 -l a.txt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改权限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 +x run.sh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 / du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du -sh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/ top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aux | grep 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 -9 PID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rm -rf 没有回收站：执行前先把命令改成 ls 跑一遍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文件权限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-rwxr-xr--  1 yan staff  1024 Sep  8 10:00 run.sh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|+-+-+-+-+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|  +--- 其他人 others: r--  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+------ 同组   group:  r-x  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+--------- 属主   user:   rwx  (7)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 类型：- 普通文件，d 目录，l 符号链接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r=4  w=2  x=1     -&gt;   chmod 754 run.sh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重定向与管道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&lt; in.txt &gt; out.txt        # 输入来自文件，输出写入文件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 out.txt 2&gt;&amp;1            # 错误也一起写进去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&gt;&gt; log.txt                # 追加而不是覆盖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data.txt | sort | uniq -c | sort -rn | head   # 管道：词频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本课最有用的一条：python3 solution.py &lt; in.txt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快捷键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159"/>
                <a:gridCol w="807167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中断当前程序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输入结束（EOF）—— 测试读到文件尾的程序时要用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Ctrl+A / Ctrl+E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行首 / 行尾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反向搜索历史命令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补全（按两下列出候选）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虚拟环境（uv）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python install 3.14 --default     # 安装 Python（由 uv 管理）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init --no-package MyPython        # 新建项目（--no-package 不能省）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cd MyPython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add numpy matplotlib              # 装包，写入 pyproject.toml / uv.lock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run main.py                       # 运行，自动使用 .venv，无需 activate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remove numpy                      # 卸载包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环境坏了 / 换了电脑：删掉 .venv 重建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rm -rf .venv &amp;&amp; uv sync                      # macOS / Linux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Remove-Item -Recurse -Force .venv; uv sync   # Windows PowerShell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虚拟环境隔离不同项目的包；uv 一个工具管好 Python 版本、.venv 和第三方包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PyCharm 的两个必用功能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：行号左侧打断点 → Debug → 单步 F8 / 步入 F7 / 看变量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不会用调试器就只能靠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print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猜，效率差一个数量级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直接输入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：右上角选择 Current File，点击运行 ▶；程序执行到 input() 时，在下方 Run 窗口直接输入数据并按回车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适合课堂练习和临时测试，无需配置运行参数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在线可视化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pythontutor.com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第 8 周讲递归时理解栈帧最快的工具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编程语法练习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变量与基本类型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42               # int，Python 的整数没有位数上限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x = 3.14             # float，双精度，约 15~16 位有效数字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"hello"          # str，不可变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flag = True          # bool（首字母大写）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items = [1, 2, 3]    # list，可变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pair = (1, 2)        # tuple，不可变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uniq = {1, 2, 3}     # set，无序不重复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{"a": 1}         # dict，键值对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分支与循环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score &gt;= 90: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elif score &gt;= 60: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"C"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"F"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10, 2):            # 1 3 5 7 9 —— start, stop, step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end=' 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i, v in enumerate(["a", "b"]):   # 同时要下标和值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Python 用缩进表示代码块；⚠️ 不要混用 Tab 和空格（初学者第二大坑）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字符串常用操作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  Hello, World  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print(s.strip())            # 去首尾空白 —— 读输入必备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print("a,b,c".split(","))   # ['a', 'b', 'c']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print("-".join(["a", "b"])) # "a-b"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print("abc"[::-1])          # "cba"  —— 反转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print("abc".find("b"))      # 1，找不到返回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字符串不可变：要改就先转 list，改完再 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列表与二维列表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[3, 1, 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a.append(4); a.sort()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print(a[0], a[-1], a[1:3])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print(sum(a), max(a), len(a))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* x for x in a if x % 2 == 1])   # 列表推导式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grid = [[0] * n for _ in range(m)]        # ✅ 每行独立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 = [[0] * n] * m                     # ❌ m 行是同一个列表的别名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wrong[0][0]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print(wrong)   # 三行全被改了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初学者第三大坑：二维列表的别名陷阱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E02689 / E02676：两道语法练习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E02689 大小写字母互换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print(input().swapcase())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手写版（理解 ASCII，第 3 周正面讲）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ch in input():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- 32))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+ 32))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E02676 整数的个数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k = int(input())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print(nums.count(1)); print(nums.count(5)); print(nums.count(10))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list.count() 是 O(n)：要统计的值有很多种时该用字典一次扫完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零基础入门：先学语法，再做 30 道练手题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先学语法（几个小时）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：菜鸟教程 Python3，按目录学到「函数」为止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重点：基础语法、数据类型、运算符、字符串、列表、条件控制、循环、函数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再做 30 道题（边做边查）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：做题是为了补语法，不是为了学算法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只考语法不考算法；难度最低档（CF 800~1000、Easy、洛谷入门）；题意短、数据小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一题对应一个语法点，顺序与教程一致：输入输出 → 分支 → 循环 → 字符串 → 列表 → 排序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OpenJudge / Codeforces 读标准输入；LeetCode 补全函数 —— 两种写法都练到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题单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ADS_30_easy_problems_for_beginners.md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；题解 fuynaloft.github.io/sol101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30 道练手题（上）：第 0–2 关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141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5167"/>
                <a:gridCol w="3480528"/>
                <a:gridCol w="590214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关卡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语法点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0 关　输入与输出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print、input().split()、map、f-string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sy1 Hello Sunny Why! · P1001 A+B Problem · 31183 一道题搞懂输入 · 31184 一道题搞懂输出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 关　运算与分支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if/else、%、//、向上取整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E02733 判断闰年 · E02750 鸡兔同笼 · 4A Watermelon · 50A Domino piling · 1A Theatre Square · 200B Drinks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2 关　循环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for/while、range、计数、is_prime 函数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sy875 逃离魔法塔底 · E02676 整数的个数 · 231A Team · 158A Next Round · E01003 Hangover · E04138 质数的和与积 · E03143 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30 道练手题（下）：第 3–5 关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861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7309"/>
                <a:gridCol w="3313015"/>
                <a:gridCol w="589751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关卡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语法点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3 关　字符串与模拟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lower()、swapcase()、双重循环、bin()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112A Petya and Strings · E02689 大小写字母互换 · E01218 THE DRUNK JAILER · E191 位1的个数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4 关　列表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下标、倒序遍历、拆数位、in 判断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263A Beautiful Matrix · E66 加一 · E3622 判断整除性 · E3718 缺失的最小倍数 · 1 两数之和 · E35 搜索插入位置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5 关　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sort()、sorted(key=...)、字典映射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34B Sale · E07618 病人排队 · E1331 数组序号转换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0606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做完再挑战：31185 一道题搞懂内置排序函数 · 31180 学生数据统计分析 · E18161 矩阵运算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做题前：先把输入模板写熟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                       # 一行一个整数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a, b = map(int, input().split())       # 一行两个整数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 # 一行多个整数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input().strip()                    # 一行字符串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OpenJudge / Codeforces：自己 input() 读入、print() 输出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LeetCode：只补全 class Solution 里的函数，用 return 返回，不要写 input()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Solution: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def plusOne(self, digits: list[int]) -&gt; list[int]: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零基础同学最常见的错误是读错输入，不是算法写错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给零基础同学的做题建议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别等「学完」再做题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：学到函数就开始，大部分语法是做题时现查学会的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看懂评测结果：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查边界和输出格式；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RE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多半是下标越界或没转类型；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TLE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说明循环写错了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卡住 20~30 分钟再看题解；看懂后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关掉题解自己重写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，直到 AC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 AI 当老师不当代笔：让它解释报错、讲语法点；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机考时没有 AI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先写能跑的暴力，AC 后再学简洁写法；每题记一行笔记，攒成语法速查表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节奏：每天 3~5 题，一到两周做完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 xLab 添加公钥、新建节点，本机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ssh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登录后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uname -a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查看内核版本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用本地 VS Code Remote-SSH 打开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~/ic-b-2026/xlab-intro-demo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，编译运行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hello.c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~/ic-b-2026/week02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sum.py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从标准输入读两个整数并输出和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echo "3 4" &gt;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sum.py &lt; in.txt &gt; out.txt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cat out.txt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chmod +x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 shell 脚本并运行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在本机用 uv 新建项目，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uv add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一个包并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uv run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662"/>
                <a:gridCol w="3977325"/>
                <a:gridCol w="1748274"/>
                <a:gridCol w="334357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列表统计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素数判断、枚举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字符串、模拟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THE DRUNK JAILER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E01218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数学规律 / 模拟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虚拟机 = 完整的模拟计算机；容器 = 共享内核的轻量隔离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xLab：私钥留本机、公钥加到平台；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ssh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VS Code Remote-SSH 连的是同一个节点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Shell 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路径、权限、重定向、管道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a.py &lt;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是本课最常用的一条命令；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rm -rf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不可恢复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语法三大坑：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Tab/空格混用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[[0]*n]*m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读输入一律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.strip()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计算机原理（1/2）：从图灵机、冯·诺依曼结构到二进制与 ASCII。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