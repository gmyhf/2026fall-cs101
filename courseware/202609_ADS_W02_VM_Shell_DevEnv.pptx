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103120"/>
            <a:ext cx="11057839" cy="15544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</a:rPr>
              <a:t>第2周　虚拟机、Shell 与开发环境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C7D3E2"/>
                </a:solidFill>
                <a:latin typeface="Segoe UI"/>
                <a:ea typeface="微软雅黑"/>
              </a:rPr>
              <a:t>操作系统 · 虚拟化与云主机 · Linux Shell · 虚拟环境 · 编程语法练习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160520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北京大学　《计算概论（B）》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A8B8CC"/>
                </a:solidFill>
                <a:latin typeface="Segoe UI"/>
                <a:ea typeface="微软雅黑"/>
              </a:rPr>
              <a:t>主题与学习重点：虚拟机、Shell 与开发环境；开始编程语法练习。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为什么计概课要讲操作系统和 Shell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评测机跑的是 Linux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TLE / MLE / RE 时要知道往哪一层看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命令行是程序员的通用接口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装包、跑脚本、批处理、连服务器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第 15 周要跑神经网络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本地跑不动的实验放到云主机上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1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操作系统与虚拟化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三大操作系统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075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2809"/>
                <a:gridCol w="3159382"/>
                <a:gridCol w="3249137"/>
                <a:gridCol w="27465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Windows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macOS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内核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NT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Darwin（类 Unix）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Linux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默认 Shell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PowerShell / cmd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bash / zsh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包管理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winget / choco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Homebrew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apt / yum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路径分隔符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\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/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换行符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CR 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LF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本课定位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主力开发机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评测机 / 云主机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52069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换行符差异会咬人：养成 line.strip() 的习惯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虚拟机的层次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5749"/>
            <a:ext cx="11057839" cy="39293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Guest   | |  Guest   | |  Guest   |   &lt;- 虚拟机里的操作系统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Linux   | |  Linux   | | Windows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+----------+ +----------+ +----------+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Hypervisor 虚拟机监视器        |   &lt;- VirtualBox / VMware / KVM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宿主机操作系统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            物理硬件                 |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+------------------------------------+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88736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虚拟机：隔离、一致、可迁移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虚拟机 vs 容器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虚拟机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模拟整台计算机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有自己的内核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启动慢、开销大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能跑不同内核的系统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447" y="1298448"/>
            <a:ext cx="5300319" cy="420624"/>
          </a:xfrm>
          <a:prstGeom prst="rect">
            <a:avLst/>
          </a:prstGeom>
          <a:solidFill>
            <a:srgbClr val="1239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0751" y="1380744"/>
            <a:ext cx="5007711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</a:rPr>
              <a:t>容器 Docker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15887" y="1901952"/>
            <a:ext cx="5117439" cy="41330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共享宿主机内核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只隔离文件系统与进程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启动快、开销小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242A33"/>
                </a:solidFill>
                <a:latin typeface="Segoe UI"/>
                <a:ea typeface="微软雅黑"/>
              </a:rPr>
              <a:t>· 不能跑不同内核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云主机：连接与首次配置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83845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63728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username@ip_address           # 口令登录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 -i ~/.ssh/id_rsa user@ip      # 密钥登录（推荐）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apt update &amp;&amp; sudo apt upgrade -y      # 1) 更新系统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ssh-keygen -t ed25519 -C "you@pku.edu.cn"   # 2) 生成并上传公钥（本机执行）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ssh-copy-id user@ip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local_file.py user@ip:~/       # 3) 传文件：本机 -&gt; 云主机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scp user@ip:~/result.txt ./        #          云主机 -&gt; 本机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25577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学校云计算实验平台：clab.pku.edu.cn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交换分区：内存不够时的救命稻草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07073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86956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fallocate -l 4G /swapfile        # 建 4GB 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chmod 600 /swapfile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mkswap /swapfile                 # 格式化为交换空间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sudo swapon /swapfile                 # 启用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free -h                               # 确认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echo '/swapfile none swap sw 0 0' | sudo tee -a /etc/fstab   # 开机自动挂载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48805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swap 在磁盘上，比内存慢几个数量级；它防的是"崩溃"，不是"变慢"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2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Linux Shell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目录树与路径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/                根目录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home/        用户主目录      ~ 等价于 /home/你的用户名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etc/         配置文件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usr/         用户程序（/usr/bin, /usr/local）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|-- var/         可变数据（日志 /var/log）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 tmp/         临时文件（重启会清）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绝对路径：以 / 开头        相对路径：. 当前  .. 上级  ~ 主目录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必会命令（上）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3185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5809"/>
                <a:gridCol w="2772913"/>
                <a:gridCol w="530911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pwd / ls / cd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当前目录 / 列目录 / 切换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ls -la ；cd - 回上一个目录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/ cp / mv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建目录 / 复制 / 移动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mkdir -p a/b/c ；cp -r src dst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删除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rm -rf dir ⚠️ 不可恢复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71374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cat / head / tail / less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查看文件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tail -f log ；less big.txt（q 退出）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/ find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搜内容 / 搜文件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grep -rn "def main" . ；find . -name "*.py"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必会命令（下）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7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7963"/>
                <a:gridCol w="2279966"/>
                <a:gridCol w="6269908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命令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常用形式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计数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wc -l a.txt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改权限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chmod +x run.sh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df / du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磁盘用量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du -sh *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/ top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看进程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ps aux | grep python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结束进程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kill -9 PID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4081272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rm -rf 没有回收站：执行前先把命令改成 ls 跑一遍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文件权限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2467737"/>
            <a:ext cx="11057839" cy="25260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-rwxr-xr--  1 yan staff  1024 Sep  8 10:00 run.sh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|+-+-+-+-+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|  +--- 其他人 others: r--  (4)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|  +------ 同组   group:  r-x  (5)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| +--------- 属主   user:   rwx  (7)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+----------- 类型：- 普通文件，d 目录，l 符号链接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21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2395B"/>
                </a:solidFill>
                <a:latin typeface="Consolas"/>
                <a:ea typeface="Consolas"/>
              </a:rPr>
              <a:t>   r=4  w=2  x=1     -&gt;   chmod 754 run.sh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重定向与管道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55892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35775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&lt; in.txt &gt; out.txt        # 输入来自文件，输出写入文件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 out.txt 2&gt;&amp;1            # 错误也一起写进去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python3 a.py &gt;&gt; log.txt                # 追加而不是覆盖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cat data.txt | sort | uniq -c | sort -rn | head   # 管道：词频 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97624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⭐ 本课最有用的一条：python3 solution.py &lt; in.txt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快捷键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8" cy="2636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6159"/>
                <a:gridCol w="8071679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作用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Ctrl+C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中断当前程序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Ctrl+D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输入结束（EOF）—— 测试读到文件尾的程序时要用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Ctrl+A / Ctrl+E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行首 / 行尾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Ctrl+R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反向搜索历史命令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Tab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补全（按两下列出候选）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3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开发环境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Python 虚拟环境（uv）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58254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38137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python install 3.14 --default     # 安装 Python（由 uv 管理）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init --no-package MyPython        # 新建项目（--no-package 不能省）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cd MyPython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add numpy matplotlib              # 装包，写入 pyproject.toml / uv.lock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run main.py                       # 运行，自动使用 .venv，无需 activate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uv remove numpy                      # 卸载包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# 环境坏了 / 换了电脑：删掉 .venv 重建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rm -rf .venv &amp;&amp; uv sync                      # macOS / Linux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Remove-Item -Recurse -Force .venv; uv sync   # Windows PowerShell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99986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虚拟环境隔离不同项目的包；uv 一个工具管好 Python 版本、.venv 和第三方包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PyCharm 的两个必用功能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调试器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：行号左侧打断点 → Debug → 单步 F8 / 步入 F7 / 看变量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不会用调试器就只能靠 </a:t>
            </a:r>
            <a:r>
              <a:rPr sz="1541" b="0" i="0">
                <a:solidFill>
                  <a:srgbClr val="6B7582"/>
                </a:solidFill>
                <a:latin typeface="Consolas"/>
                <a:ea typeface="Consolas"/>
              </a:rPr>
              <a:t>print</a:t>
            </a: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 猜，效率差一个数量级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直接输入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：右上角选择 Current File，点击运行 ▶；程序执行到 input() 时，在下方 Run 窗口直接输入数据并按回车</a:t>
            </a:r>
          </a:p>
          <a:p>
            <a:pPr algn="l" lvl="1">
              <a:lnSpc>
                <a:spcPct val="130000"/>
              </a:lnSpc>
              <a:spcBef>
                <a:spcPts val="0"/>
              </a:spcBef>
              <a:spcAft>
                <a:spcPts val="892"/>
              </a:spcAft>
            </a:pPr>
            <a:r>
              <a:rPr sz="1639" b="0" i="0">
                <a:solidFill>
                  <a:srgbClr val="6B7582"/>
                </a:solidFill>
                <a:latin typeface="Segoe UI"/>
                <a:ea typeface="微软雅黑"/>
              </a:rPr>
              <a:t>·  适合课堂练习和临时测试，无需配置运行参数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在线可视化 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pythontutor.com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—— 第 8 周讲递归时理解栈帧最快的工具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274320" cy="1737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42416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E07B39"/>
                </a:solidFill>
                <a:latin typeface="Segoe UI"/>
                <a:ea typeface="微软雅黑"/>
              </a:rPr>
              <a:t>第 4 节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12395B"/>
                </a:solidFill>
                <a:latin typeface="Segoe UI"/>
                <a:ea typeface="微软雅黑"/>
              </a:rPr>
              <a:t>编程语法练习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变量与基本类型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232664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125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n = 42               # int，Python 的整数没有位数上限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x = 3.14             # float，双精度，约 15~16 位有效数字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"hello"          # str，不可变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flag = True          # bool（首字母大写）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items = [1, 2, 3]    # list，可变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pair = (1, 2)        # tuple，不可变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uniq = {1, 2, 3}     # set，无序不重复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d = {"a": 1}         # dict，键值对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分支与循环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60616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34049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score = int(input())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if score &gt;= 90: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"A"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elif score &gt;= 60: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"C"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else: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grade = "F"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 in range(1, 10, 2):            # 1 3 5 7 9 —— start, stop, step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end=' ')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for i, v in enumerate(["a", "b"]):   # 同时要下标和值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   print(i, v)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02348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Python 用缩进表示代码块；⚠️ 不要混用 Tab 和空格（初学者第二大坑）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字符串常用操作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1814830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161366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s = "  Hello, World  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print(s.strip())            # 去首尾空白 —— 读输入必备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print("a,b,c".split(","))   # ['a', 'b', 'c']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print("-".join(["a", "b"])) # "a-b"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print("abc"[::-1])          # "cba"  —— 反转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print("abc".find("b"))      # 1，找不到返回 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23215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字符串不可变：要改就先转 list，改完再 join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列表与二维列表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3094355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289318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 = [3, 1, 2]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a.append(4); a.sort()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print(a[0], a[-1], a[1:3])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print(sum(a), max(a), len(a))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print([x * x for x in a if x % 2 == 1])   # 列表推导式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m, n = 3, 4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grid = [[0] * n for _ in range(m)]        # ✅ 每行独立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 = [[0] * n] * m                     # ❌ m 行是同一个列表的别名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wrong[0][0] = 1</a:t>
            </a:r>
          </a:p>
          <a:p>
            <a:pPr algn="l">
              <a:lnSpc>
                <a:spcPts val="2015"/>
              </a:lnSpc>
              <a:spcBef>
                <a:spcPts val="0"/>
              </a:spcBef>
              <a:spcAft>
                <a:spcPts val="0"/>
              </a:spcAft>
            </a:pPr>
            <a:r>
              <a:rPr sz="1550" b="0" i="0">
                <a:solidFill>
                  <a:srgbClr val="242A33"/>
                </a:solidFill>
                <a:latin typeface="Consolas"/>
                <a:ea typeface="Consolas"/>
              </a:rPr>
              <a:t>print(wrong)   # 三行全被改了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11675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⚠️ 初学者第三大坑：二维列表的别名陷阱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E02689 / E02676：两道语法练习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11057839" cy="4443984"/>
          </a:xfrm>
          <a:prstGeom prst="rect">
            <a:avLst/>
          </a:prstGeom>
          <a:solidFill>
            <a:srgbClr val="F6F7F9"/>
          </a:solidFill>
          <a:ln w="9525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0545775" cy="42428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E02689 大小写字母互换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print(input().swapcase())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手写版（理解 ASCII，第 3 周正面讲）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out = []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for ch in input():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- 32))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elif 'A' &lt;= ch &lt;= 'Z':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out.append(chr(ord(ch) + 32))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else: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       out.append(ch)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print(''.join(out))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 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# E02676 整数的个数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k = int(input())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nums = list(map(int, input().split()))</a:t>
            </a:r>
          </a:p>
          <a:p>
            <a:pPr algn="l">
              <a:lnSpc>
                <a:spcPts val="1821"/>
              </a:lnSpc>
              <a:spcBef>
                <a:spcPts val="0"/>
              </a:spcBef>
              <a:spcAft>
                <a:spcPts val="0"/>
              </a:spcAft>
            </a:pPr>
            <a:r>
              <a:rPr sz="1401" b="0" i="0">
                <a:solidFill>
                  <a:srgbClr val="242A33"/>
                </a:solidFill>
                <a:latin typeface="Consolas"/>
                <a:ea typeface="Consolas"/>
              </a:rPr>
              <a:t>print(nums.count(1)); print(nums.count(5)); print(nums.count(10))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58613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582"/>
                </a:solidFill>
                <a:latin typeface="Segoe UI"/>
                <a:ea typeface="微软雅黑"/>
              </a:rPr>
              <a:t>list.count() 是 O(n)：要统计的值有很多种时该用字典一次扫完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上机实践任务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/ 连接一台 Linux 主机，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uname -a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查看内核版本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建目录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~/cs101/week02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，写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sum.py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从标准输入读两个整数并输出和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echo "3 4" &gt;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，再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sum.py &lt; in.txt &gt; out.txt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，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cat out.txt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chmod +x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一个 shell 脚本并运行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创建 Python 虚拟环境并安装一个包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本周作业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98448"/>
          <a:ext cx="11057836" cy="3954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8662"/>
                <a:gridCol w="3977325"/>
                <a:gridCol w="1748274"/>
                <a:gridCol w="3343575"/>
              </a:tblGrid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#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题目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编号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1" i="0">
                          <a:solidFill>
                            <a:srgbClr val="FFFFFF"/>
                          </a:solidFill>
                          <a:latin typeface="Segoe UI"/>
                          <a:ea typeface="微软雅黑"/>
                        </a:rPr>
                        <a:t>考点</a:t>
                      </a:r>
                    </a:p>
                  </a:txBody>
                  <a:tcPr marL="100584" marR="100584" marT="27432" marB="27432" anchor="ctr">
                    <a:solidFill>
                      <a:srgbClr val="12395B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与 7 无关的数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02701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循环、取模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2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判断闰年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02733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分支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大小写字母互换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E02689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4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整数的个数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E02676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列表统计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5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验证"歌德巴赫猜想"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E03143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素数判断、枚举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6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多项式时间复杂度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E23563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字符串解析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7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文字排版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E06374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字符串、模拟</a:t>
                      </a:r>
                    </a:p>
                  </a:txBody>
                  <a:tcPr marL="100584" marR="100584" marT="27432" marB="27432" anchor="ctr">
                    <a:solidFill>
                      <a:srgbClr val="FFFFFF"/>
                    </a:solidFill>
                  </a:tcPr>
                </a:tc>
              </a:tr>
              <a:tr h="439420"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8（选做）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THE DRUNK JAILER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E01218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2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700" b="0" i="0">
                          <a:solidFill>
                            <a:srgbClr val="242A33"/>
                          </a:solidFill>
                          <a:latin typeface="Segoe UI"/>
                          <a:ea typeface="微软雅黑"/>
                        </a:rPr>
                        <a:t>数学规律 / 模拟</a:t>
                      </a:r>
                    </a:p>
                  </a:txBody>
                  <a:tcPr marL="100584" marR="100584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小结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98448"/>
            <a:ext cx="11057839" cy="4864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虚拟机 = 完整的模拟计算机；容器 = 共享内核的轻量隔离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Shell 的核心是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路径、权限、重定向、管道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四件事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python3 a.py &lt; in.txt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是本课最常用的一条命令；</a:t>
            </a:r>
            <a:r>
              <a:rPr sz="1879" b="0" i="0">
                <a:solidFill>
                  <a:srgbClr val="242A33"/>
                </a:solidFill>
                <a:latin typeface="Consolas"/>
                <a:ea typeface="Consolas"/>
              </a:rPr>
              <a:t>rm -rf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 不可恢复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•  Python 语法三大坑：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忘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int()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Tab/空格混用</a:t>
            </a:r>
            <a:r>
              <a:rPr sz="2000" b="0" i="0">
                <a:solidFill>
                  <a:srgbClr val="242A33"/>
                </a:solidFill>
                <a:latin typeface="Segoe UI"/>
                <a:ea typeface="微软雅黑"/>
              </a:rPr>
              <a:t>、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[[0]*n]*m</a:t>
            </a: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 别名陷阱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1240"/>
              </a:spcAft>
            </a:pPr>
            <a:r>
              <a:rPr sz="2000" b="1" i="0">
                <a:solidFill>
                  <a:srgbClr val="12395B"/>
                </a:solidFill>
                <a:latin typeface="Segoe UI"/>
                <a:ea typeface="微软雅黑"/>
              </a:rPr>
              <a:t>▍ 读输入一律 </a:t>
            </a:r>
            <a:r>
              <a:rPr sz="1879" b="1" i="0">
                <a:solidFill>
                  <a:srgbClr val="12395B"/>
                </a:solidFill>
                <a:latin typeface="Consolas"/>
                <a:ea typeface="Consolas"/>
              </a:rPr>
              <a:t>.strip()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20624"/>
            <a:ext cx="11057839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下周预告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060704"/>
            <a:ext cx="960120" cy="4064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6928" y="2084831"/>
            <a:ext cx="11057839" cy="2286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084831"/>
            <a:ext cx="82296" cy="2286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2377440"/>
            <a:ext cx="10051999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12395B"/>
                </a:solidFill>
                <a:latin typeface="Segoe UI"/>
                <a:ea typeface="微软雅黑"/>
              </a:rPr>
              <a:t>计算机原理（1/2）：从图灵机、冯·诺依曼结构到二进制与 ASCII。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27648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计算概论（B） · 第2周 · 闫宏飞 · 2026 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10367" y="6327648"/>
            <a:ext cx="914400" cy="3108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582"/>
                </a:solidFill>
                <a:latin typeface="Segoe UI"/>
                <a:ea typeface="微软雅黑"/>
              </a:rPr>
              <a:t>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