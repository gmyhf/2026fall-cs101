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703320"/>
            <a:ext cx="12191695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103120"/>
            <a:ext cx="11057839" cy="1554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</a:rPr>
              <a:t>第2周　虚拟机、Shell 与开发环境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C7D3E2"/>
                </a:solidFill>
                <a:latin typeface="Segoe UI"/>
                <a:ea typeface="微软雅黑"/>
              </a:rPr>
              <a:t>操作系统 · 虚拟化与云主机 · Linux Shell · 虚拟环境 · 编程语法练习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160520"/>
            <a:ext cx="11057839" cy="1463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北京大学　《计算概论（B）》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主题与学习重点：虚拟机、Shell 与开发环境；开始编程语法练习。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为什么计概课要讲操作系统和 Shell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评测机跑的是 Linux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TLE / MLE / RE 时要知道往哪一层看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命令行是程序员的通用接口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装包、跑脚本、批处理、连服务器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第 15 周要跑神经网络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本地跑不动的实验放到云主机上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1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操作系统与虚拟化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三大操作系统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6" cy="30759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2809"/>
                <a:gridCol w="3159382"/>
                <a:gridCol w="3249137"/>
                <a:gridCol w="2746508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Windows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macOS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Linux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内核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NT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Darwin（类 Unix）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Linux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默认 Shell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PowerShell / cmd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zsh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bash / zsh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包管理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winget / choco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Homebrew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apt / yum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路径分隔符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\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/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/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换行符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CR LF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LF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LF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本课定位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主力开发机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主力开发机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评测机 / 云主机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4520692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换行符差异会咬人：养成 line.strip() 的习惯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虚拟机的层次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555749"/>
            <a:ext cx="11057839" cy="39293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+----------+ +----------+ +----------+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|  Guest   | |  Guest   | |  Guest   |   &lt;- 虚拟机里的操作系统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|  Linux   | |  Linux   | | Windows  |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+----------+ +----------+ +----------+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+------------------------------------+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|       Hypervisor 虚拟机监视器        |   &lt;- VirtualBox / VMware / KVM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+------------------------------------+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+------------------------------------+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|          宿主机操作系统              |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+------------------------------------+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+------------------------------------+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|             物理硬件                 |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+------------------------------------+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888736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虚拟机：隔离、一致、可迁移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虚拟机 vs 容器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5300319" cy="420624"/>
          </a:xfrm>
          <a:prstGeom prst="rect">
            <a:avLst/>
          </a:prstGeom>
          <a:solidFill>
            <a:srgbClr val="123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380744"/>
            <a:ext cx="5007711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</a:rPr>
              <a:t>虚拟机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901952"/>
            <a:ext cx="5117439" cy="41330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模拟整台计算机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有自己的内核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启动慢、开销大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能跑不同内核的系统</a:t>
            </a:r>
          </a:p>
        </p:txBody>
      </p:sp>
      <p:sp>
        <p:nvSpPr>
          <p:cNvPr id="7" name="Rectangle 6"/>
          <p:cNvSpPr/>
          <p:nvPr/>
        </p:nvSpPr>
        <p:spPr>
          <a:xfrm>
            <a:off x="6324447" y="1298448"/>
            <a:ext cx="5300319" cy="420624"/>
          </a:xfrm>
          <a:prstGeom prst="rect">
            <a:avLst/>
          </a:prstGeom>
          <a:solidFill>
            <a:srgbClr val="123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0751" y="1380744"/>
            <a:ext cx="5007711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</a:rPr>
              <a:t>容器 Docker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15887" y="1901952"/>
            <a:ext cx="5117439" cy="41330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共享宿主机内核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只隔离文件系统与进程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启动快、开销小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不能跑不同内核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云主机：连接与首次配置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2838450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263728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ssh username@ip_address           # 口令登录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ssh -i ~/.ssh/id_rsa user@ip      # 密钥登录（推荐）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sudo apt update &amp;&amp; sudo apt upgrade -y      # 1) 更新系统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ssh-keygen -t ed25519 -C "you@pku.edu.cn"   # 2) 生成并上传公钥（本机执行）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ssh-copy-id user@ip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scp local_file.py user@ip:~/       # 3) 传文件：本机 -&gt; 云主机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scp user@ip:~/result.txt ./        #          云主机 -&gt; 本机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25577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学校云计算实验平台：clab.pku.edu.cn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交换分区：内存不够时的救命稻草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207073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186956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sudo fallocate -l 4G /swapfile        # 建 4GB 文件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sudo chmod 600 /swapfile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sudo mkswap /swapfile                 # 格式化为交换空间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sudo swapon /swapfile                 # 启用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free -h                               # 确认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echo '/swapfile none swap sw 0 0' | sudo tee -a /etc/fstab   # 开机自动挂载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488055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swap 在磁盘上，比内存慢几个数量级；它防的是"崩溃"，不是"变慢"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2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Linux Shell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目录树与路径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467737"/>
            <a:ext cx="11057839" cy="25260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/                根目录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|-- home/        用户主目录      ~ 等价于 /home/你的用户名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|-- etc/         配置文件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|-- usr/         用户程序（/usr/bin, /usr/local）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|-- var/         可变数据（日志 /var/log）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+-- tmp/         临时文件（重启会清）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绝对路径：以 / 开头        相对路径：. 当前  .. 上级  ~ 主目录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必会命令（上）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7" cy="3185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75809"/>
                <a:gridCol w="2772913"/>
                <a:gridCol w="5309115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命令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作用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常用形式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71374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pwd / ls / cd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当前目录 / 列目录 / 切换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ls -la ；cd - 回上一个目录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mkdir / cp / mv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建目录 / 复制 / 移动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mkdir -p a/b/c ；cp -r src dst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rm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删除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rm -rf dir ⚠️ 不可恢复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71374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cat / head / tail / less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查看文件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tail -f log ；less big.txt（q 退出）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grep / find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搜内容 / 搜文件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grep -rn "def main" . ；find . -name "*.py"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必会命令（下）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7" cy="2636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07963"/>
                <a:gridCol w="2279966"/>
                <a:gridCol w="6269908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命令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作用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常用形式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wc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计数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wc -l a.txt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chmod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改权限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chmod +x run.sh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df / du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磁盘用量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du -sh *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ps / top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看进程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ps aux | grep python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kill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结束进程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kill -9 PID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4081272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⚠️ rm -rf 没有回收站：执行前先把命令改成 ls 跑一遍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文件权限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467737"/>
            <a:ext cx="11057839" cy="25260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-rwxr-xr--  1 yan staff  1024 Sep  8 10:00 run.sh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|+-+-+-+-+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| |  |  +--- 其他人 others: r--  (4)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| |  +------ 同组   group:  r-x  (5)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| +--------- 属主   user:   rwx  (7)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+----------- 类型：- 普通文件，d 目录，l 符号链接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r=4  w=2  x=1     -&gt;   chmod 754 run.sh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重定向与管道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155892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135775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python3 a.py &lt; in.txt &gt; out.txt        # 输入来自文件，输出写入文件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python3 a.py &gt; out.txt 2&gt;&amp;1            # 错误也一起写进去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python3 a.py &gt;&gt; log.txt                # 追加而不是覆盖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cat data.txt | sort | uniq -c | sort -rn | head   # 管道：词频 Top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976245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⭐ 本课最有用的一条：python3 solution.py &lt; in.txt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快捷键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2636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86159"/>
                <a:gridCol w="8071679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键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作用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Ctrl+C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中断当前程序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Ctrl+D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输入结束（EOF）—— 测试读到文件尾的程序时要用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Ctrl+A / Ctrl+E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行首 / 行尾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Ctrl+R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反向搜索历史命令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Tab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补全（按两下列出候选）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3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开发环境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Python 虚拟环境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258254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238137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python3 -m venv .venv                 # 创建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source .venv/bin/activate             # 启用（macOS / Linux）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.venv\Scripts\activate                # 启用（Windows PowerShell）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pip install numpy matplotlib          # 装包，只影响这个环境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pip freeze &gt; requirements.txt         # 导出依赖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deactivate                            # 退出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# Windows 若提示无法运行脚本：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# Set-ExecutionPolicy -Scope CurrentUser -ExecutionPolicy RemoteSigned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999865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不同项目依赖不同版本的包，虚拟环境把它们隔离开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PyCharm 的两个必用功能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调试器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：行号左侧打断点 → Debug → 单步 F8 / 步入 F7 / 看变量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不会用调试器就只能靠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print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猜，效率差一个数量级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直接输入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：右上角选择 Current File，点击运行 ▶；程序执行到 input() 时，在下方 Run 窗口直接输入数据并按回车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适合课堂练习和临时测试，无需配置运行参数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在线可视化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pythontutor.com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第 8 周讲递归时理解栈帧最快的工具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4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编程语法练习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变量与基本类型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2326640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2125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n = 42               # int，Python 的整数没有位数上限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x = 3.14             # float，双精度，约 15~16 位有效数字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 = "hello"          # str，不可变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flag = True          # bool（首字母大写）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items = [1, 2, 3]    # list，可变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pair = (1, 2)        # tuple，不可变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uniq = {1, 2, 3}     # set，无序不重复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 = {"a": 1}         # dict，键值对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分支与循环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360616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340499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score = int(input())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if score &gt;= 90: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grade = "A"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elif score &gt;= 60: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grade = "C"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else: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grade = "F"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for i in range(1, 10, 2):            # 1 3 5 7 9 —— start, stop, step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print(i, end=' ')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for i, v in enumerate(["a", "b"]):   # 同时要下标和值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print(i, v)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023485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Python 用缩进表示代码块；⚠️ 不要混用 Tab 和空格（初学者第二大坑）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字符串常用操作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1814830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16136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 = "  Hello, World  "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print(s.strip())            # 去首尾空白 —— 读输入必备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print("a,b,c".split(","))   # ['a', 'b', 'c']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print("-".join(["a", "b"])) # "a-b"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print("abc"[::-1])          # "cba"  —— 反转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print("abc".find("b"))      # 1，找不到返回 -1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23215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字符串不可变：要改就先转 list，改完再 join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列表与二维列表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309435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289318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a = [3, 1, 2]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a.append(4); a.sort()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print(a[0], a[-1], a[1:3])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print(sum(a), max(a), len(a))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print([x * x for x in a if x % 2 == 1])   # 列表推导式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m, n = 3, 4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grid = [[0] * n for _ in range(m)]        # ✅ 每行独立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wrong = [[0] * n] * m                     # ❌ m 行是同一个列表的别名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wrong[0][0] = 1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print(wrong)   # 三行全被改了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11675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⚠️ 初学者第三大坑：二维列表的别名陷阱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E02689 / E02676：两道语法练习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# E02689 大小写字母互换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print(input().swapcase())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# 手写版（理解 ASCII，第 3 周正面讲）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out = []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for ch in input():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if 'a' &lt;= ch &lt;= 'z':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    out.append(chr(ord(ch) - 32))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elif 'A' &lt;= ch &lt;= 'Z':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    out.append(chr(ord(ch) + 32))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else: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    out.append(ch)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print(''.join(out))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# E02676 整数的个数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k = int(input())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nums = list(map(int, input().split()))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print(nums.count(1)); print(nums.count(5)); print(nums.count(10))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list.count() 是 O(n)：要统计的值有很多种时该用字典一次扫完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上机实践任务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创建 / 连接一台 Linux 主机，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uname -a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查看内核版本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建目录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~/cs101/week02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，写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sum.py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从标准输入读两个整数并输出和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echo "3 4" &gt; in.txt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，再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python3 sum.py &lt; in.txt &gt; out.txt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cat out.txt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chmod +x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一个 shell 脚本并运行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创建 Python 虚拟环境并安装一个包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本周作业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6" cy="3954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8662"/>
                <a:gridCol w="3977325"/>
                <a:gridCol w="1748274"/>
                <a:gridCol w="3343575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#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题目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编号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考点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与 7 无关的数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02701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循环、取模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2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判断闰年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02733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分支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3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大小写字母互换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E02689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字符串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4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整数的个数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E02676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列表统计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5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验证"歌德巴赫猜想"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E03143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素数判断、枚举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6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多项式时间复杂度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E23563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字符串解析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7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文字排版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E06374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字符串、模拟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8（选做）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THE DRUNK JAILER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E01218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数学规律 / 模拟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小结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虚拟机 = 完整的模拟计算机；容器 = 共享内核的轻量隔离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Shell 的核心是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路径、权限、重定向、管道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四件事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python3 a.py &lt; in.txt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是本课最常用的一条命令；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rm -rf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不可恢复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Python 语法三大坑：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忘 `int()`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、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Tab/空格混用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、**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[[0]*n]*m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别名陷阱**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读输入一律 </a:t>
            </a:r>
            <a:r>
              <a:rPr sz="1879" b="1" i="0">
                <a:solidFill>
                  <a:srgbClr val="12395B"/>
                </a:solidFill>
                <a:latin typeface="Consolas"/>
                <a:ea typeface="Consolas"/>
              </a:rPr>
              <a:t>.strip()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下周预告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计算机原理（1/2）：从图灵机、冯·诺依曼结构到二进制与 ASCII。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