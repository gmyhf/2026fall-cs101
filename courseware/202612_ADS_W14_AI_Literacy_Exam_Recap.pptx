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计算概论（B） · 第 14 周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素养、12 月月考讲评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与综合复习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大语言模型的工作原理：分词 · 词向量 · 注意力 · 训练对齐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幻觉的成因与识别 · 提示词的有效结构 · AI 辅助编程的边界与学术诚信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月月考样卷讲评（6 题，含错误归因）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综合复习清单：12 个模板 · 高频陷阱 · 复习节奏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2026 Fall · github.com/GMyhf/2026fall-cs101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帮我写题解，算不算我做的？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能不能讲清楚自己交的每一行代码，是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的判据；讲不清楚 = 学术不端。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说的都对吗？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训练目标是「合理」，不是「正确」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——题号、版本号这类精确标识符最容易被编。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月考没考好，问题出在哪？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六道题对应六个高频坑：并列不处理、排序键靠猜、状态少一维……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错误归因比正解更重要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是</a:t>
            </a:r>
            <a:r>
              <a:rPr lang="en-US" sz="14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</a:t>
            </a:r>
            <a:r>
              <a:rPr lang="en-US" sz="14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代考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怎么用它不违反诚信、怎么防它把你带偏，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是本周真正要学的东西。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AI 素养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LLM 在做什么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四个关键部件：分词/词向量/注意力/训练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幻觉：为什么会编、怎么自检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提示词的有效结构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1.5–1.6 能与不能、学术诚信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月考讲评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T1–T6 六题：题面 · 解法 · 错误归因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难度梯度 ★★ → ★★★★★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六个高频坑逐题对应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综合复习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必须默写的 12 个模板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高频陷阱清单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到机考前的复习节奏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 · 思考题 · 小结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素养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大语言模型在做什么、为什么会编、怎么用才不越线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分词 · 词向量 · 注意力 · 幻觉 · 提示词 · 学术诚信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AI 素养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大语言模型在做什么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一句话：</a:t>
            </a: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给定前面的文字，预测下一个词（token）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5800" y="1554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输入：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15544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"计算概论这门课主要用"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12140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下一个 token 的概率：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12140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"Python" 0.62　"C++" 0.18　"Java" 0.05 …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268833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采样一个：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2688336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E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"Python" → 拼回输入 → 再预测下一个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2834640" y="1554480"/>
            <a:ext cx="0" cy="1133856"/>
          </a:xfrm>
          <a:prstGeom prst="line">
            <a:avLst/>
          </a:prstGeom>
          <a:noFill/>
          <a:ln w="19050">
            <a:solidFill>
              <a:srgbClr val="F2B13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57200" y="352044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反复执行这一步，就生成了一整段话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3904488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没有「理解」，只有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在海量文本上学到的统计规律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。这决定了它擅长「接话」，不擅长「算数」「记精确事实」。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AI 素养 · 四个关键部件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（1）分词 Tokenization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文字先被切成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token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（子词单元）；一句话被拆成 token 序列后，模型才能逐个处理。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484632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600200"/>
            <a:ext cx="4700016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naive_tokenize(text):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"""一个极简的演示：按空白和标点切。真实的 BPE 分词要复杂得多。"""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import re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[t for t in re.split(r'(\W)', text) if t.strip()]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print(naive_tokenize("Hello, 计算概论!"))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['Hello', ',', '计算概论', '!']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0" y="1554480"/>
            <a:ext cx="320040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23560" y="16459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经验值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596128" y="1938528"/>
            <a:ext cx="2980944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英文 1 个 token ≈ 0.75 个单词；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 1 个汉字 ≈ 1–2 个 token；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「上下文窗口 128K」说的是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token 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，不是字数。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AI 素养 · 四个关键部件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（2）词向量 Embedding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 token 被映射成一个高维向量，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语义相近的向量方向相近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512064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497433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math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cosine(u, v):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"""余弦相似度：两个向量夹角的余弦，范围 [-1, 1]。"""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dot = sum(a * b for a, b in zip(u, v))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nu = math.sqrt(sum(a * a for a in u))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nv = math.sqrt(sum(b * b for b in v))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dot / (nu * nv)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玩具例子：三维"语义空间"（前两维≈"王室/人"，第三维≈"食物"）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king = [0.9, 0.8, 0.1]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queen = [0.85, 0.75, 0.2]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 = [0.1, 0.15, 0.95]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print(f"king-queen  {cosine(king, queen):.3f}")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print(f"king-apple  {cosine(king, apple):.3f}")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715000" y="1371600"/>
            <a:ext cx="2971800" cy="960120"/>
          </a:xfrm>
          <a:prstGeom prst="roundRect">
            <a:avLst>
              <a:gd name="adj" fmla="val 7619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24728" y="14264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824728" y="1627632"/>
            <a:ext cx="2752344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king-queen  0.996  语义相近 -&gt; 方向几乎重合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king-apple  0.261  语义无关 -&gt; 接近正交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715000" y="2468880"/>
            <a:ext cx="2971800" cy="1508760"/>
          </a:xfrm>
          <a:prstGeom prst="roundRect">
            <a:avLst>
              <a:gd name="adj" fmla="val 4848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52160" y="25603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852160" y="2852928"/>
            <a:ext cx="2697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真实模型的向量是几千维、由训练学出来的。这里只是让你看到「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 = 向量的几何关系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」这件事。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AI 素养 · 四个关键部件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（3）注意力 Attention：概念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生成每个新 token 时，模型要决定「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前文里哪些词更重要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」。注意力就是给前文的每个位置算一个权重，再做加权求和。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187452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621792" y="1975104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" y="1975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788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当前要生成的位置，「我在找什么」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560320" y="1828800"/>
            <a:ext cx="187452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4" name="Shape 12"/>
          <p:cNvSpPr/>
          <p:nvPr/>
        </p:nvSpPr>
        <p:spPr>
          <a:xfrm>
            <a:off x="2724912" y="1975104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724912" y="1975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697480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2697480" y="2788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前文每个位置，「我是什么」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663440" y="1828800"/>
            <a:ext cx="187452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19" name="Shape 17"/>
          <p:cNvSpPr/>
          <p:nvPr/>
        </p:nvSpPr>
        <p:spPr>
          <a:xfrm>
            <a:off x="4828032" y="1975104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28032" y="1975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00600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点积 + softmax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4800600" y="2788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算出一组和为 1 的权重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766560" y="1828800"/>
            <a:ext cx="187452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24" name="Shape 22"/>
          <p:cNvSpPr/>
          <p:nvPr/>
        </p:nvSpPr>
        <p:spPr>
          <a:xfrm>
            <a:off x="6931152" y="1975104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931152" y="1975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加权求和 Value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903720" y="2788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权重大的位置贡献更多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「Attention is All You Need」（2017）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399592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提出的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Transformer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架构，正是今天所有大模型的基础。第 15 周会把神经网络的其余部分补齐。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AI 素养 · 四个关键部件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（3）注意力 Attention：最小实现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303520" cy="3063240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157216" cy="2971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math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softmax(xs):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 = max(xs)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exps = [math.exp(x - m) for x in xs]          </a:t>
            </a:r>
            <a:r>
              <a:rPr lang="en-US" sz="8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减最大值防溢出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= sum(exps)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[e / total for e in exps]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attention(query, keys, values):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"""最简形式的注意力：用点积算相关度，softmax 归一化，再加权求和。"""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scores = [sum(q * k for q, k in zip(query, key)) for key in keys]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weights = softmax(scores)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dim = len(values[0])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 = [sum(w * v[d] for w, v in zip(weights, values)) for d in range(dim)]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weights, out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 = [1.0, 0.0]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keys = [[1.0, 0.0], [0.0, 1.0], [0.7, 0.7]]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 = [[10.0], [20.0], [30.0]]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w, o = attention(q, keys, values)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print([f"{x:.3f}" for x in w], f"{o[0]:.3f}")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5897880" y="1005840"/>
            <a:ext cx="2788920" cy="685800"/>
          </a:xfrm>
          <a:prstGeom prst="roundRect">
            <a:avLst>
              <a:gd name="adj" fmla="val 10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0760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07608" y="1261872"/>
            <a:ext cx="256946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['0.474', '0.174', '0.351'] 18.771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97880" y="1828800"/>
            <a:ext cx="2788920" cy="2240280"/>
          </a:xfrm>
          <a:prstGeom prst="roundRect">
            <a:avLst>
              <a:gd name="adj" fmla="val 3265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35040" y="19202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怎么读这行输出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212848"/>
            <a:ext cx="25146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query = [1,0] 越像的 key，权重越大：第一个 key = [1,0] 权重 0.474 最高；第三个 key = [0.7,0.7] 次之；第二个 key = [0,1] 与 query 正交，权重最小。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AI 素养 · 四个关键部件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（4）训练与对齐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49808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12070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预训练 Pre-training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15544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在海量文本上学「下一个词」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120640" y="1097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会说话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480560" y="1965960"/>
            <a:ext cx="0" cy="18288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31520" y="2148840"/>
            <a:ext cx="749808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0120" y="22585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监督微调 SFT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2606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在人写的问答对上学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14884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会答题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480560" y="3017520"/>
            <a:ext cx="0" cy="18288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31520" y="3200400"/>
            <a:ext cx="749808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0120" y="33101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人类反馈强化学习 RLHF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3657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按人的偏好排序打分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120640" y="32004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答得有用、无害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AI 素养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幻觉：为什么它会编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训练目标是「合理」，不是「正确」。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模型没有事实数据库，它输出的是「在训练数据的统计规律下，这里最可能出现什么」。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926080"/>
                <a:gridCol w="3749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例子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精确标识符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OJ 题号、论文编号、API 版本号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格式规律强、具体值随机，模型只能「编一个像的」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时效信息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最新版本、今年的规定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训练数据有截止时间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小众细节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冷门函数的参数顺序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训练数据里样本太少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算术与计数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大数乘法、字符计数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 token 生成，不做真正的计算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7033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794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本课的实测经验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408736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AI 报 OpenJudge 题号，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错误率很高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。讲义里的每一个题号都必须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自己打开链接确认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AI 素养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自检方法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353312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5800" y="1353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1097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换个问法再问一遍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答案不稳定的地方，多半是编的。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214884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3" name="Shape 11"/>
          <p:cNvSpPr/>
          <p:nvPr/>
        </p:nvSpPr>
        <p:spPr>
          <a:xfrm>
            <a:off x="685800" y="2404872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21488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要求给出处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214884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给不出可核验的出处就当作没有。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320040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85800" y="3456432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5800" y="3456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320040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凡是数字、编号、链接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4663440" y="320040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一律自己验证。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AI 素养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提示词：有效的结构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1B2B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170432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【角色】你是一位帮助大一学生的编程助教。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499616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【背景】我在做 OpenJudge 上的一道题，n ≤ 10^5，时限 1 秒。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182880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【我的尝试】（贴上代码）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157984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【现象】样例过了，提交后 TLE。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48716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【问题】我的复杂度是多少？瓶颈在哪一行？请只指出问题，不要直接给完整代码。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15468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五个要素：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角色、背景（含约束）、已有尝试、观察到的现象、明确的问题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6118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最后一句是关键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99592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不要直接给完整代码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——让 AI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指路而不是代跑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，你才在学习。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AI 素养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辅助编程：能与不能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CFE0D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1430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能（推荐）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554480"/>
            <a:ext cx="365760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解释报错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 traceback 贴给它，让它翻译成人话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审查代码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：问「这段代码在什么输入下会出错」——这是 AI 最有价值的用法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补测试数据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：让它构造边界情况，然后你自己验证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解释算法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：让它用比喻和小例子讲一个你不懂的概念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写样板代码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：读入模板、格式化输出这类没有思维含量的部分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63440" y="100584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1430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不能（红线）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554480"/>
            <a:ext cx="365760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让它写作业代码然后原样提交</a:t>
            </a:r>
            <a:endParaRPr lang="en-US" sz="12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相信它给的题号、链接、成绩规则、考试安排</a:t>
            </a:r>
            <a:endParaRPr lang="en-US" sz="12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考试中使用任何 AI 工具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——包括本地模型和 IDE 的智能补全插件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AI 素养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学术诚信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18872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期末上机考试禁止任何 AI 工具。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169164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无法解释自己提交的代码，按学术不端处理，成绩记 0。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这不是一条可以商量的文案，而是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考核制度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。它也直接决定了你平时该怎么学：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06324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1546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自检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447288"/>
            <a:ext cx="7955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每完成一道题，关掉所有窗口，从空文件重写一遍。写不出来，说明这道题</a:t>
            </a: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你没有做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，只是围观了 AI 做题。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月月考讲评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题 / 112 分钟，期末机考的同构演练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每题都做错误归因——比讲正解更重要的，是搞清楚大家为什么会错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一套样卷，六个难度台阶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484632"/>
          </a:xfrm>
          <a:prstGeom prst="roundRect">
            <a:avLst>
              <a:gd name="adj" fmla="val 15094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078992"/>
            <a:ext cx="640080" cy="33832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078992"/>
            <a:ext cx="640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1005840"/>
            <a:ext cx="23774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课程互选统计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886200" y="1005840"/>
            <a:ext cx="2880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字典/集合/排序 · W4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1005840"/>
            <a:ext cx="1645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★★☆☆☆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1581912"/>
            <a:ext cx="8229600" cy="484632"/>
          </a:xfrm>
          <a:prstGeom prst="roundRect">
            <a:avLst>
              <a:gd name="adj" fmla="val 15094"/>
            </a:avLst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360" y="1655064"/>
            <a:ext cx="640080" cy="33832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1655064"/>
            <a:ext cx="640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1581912"/>
            <a:ext cx="23774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最优装载顺序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886200" y="1581912"/>
            <a:ext cx="2880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贪心+交换论证 · W6/W10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1581912"/>
            <a:ext cx="1645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★★★☆☆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2157984"/>
            <a:ext cx="8229600" cy="484632"/>
          </a:xfrm>
          <a:prstGeom prst="roundRect">
            <a:avLst>
              <a:gd name="adj" fmla="val 15094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594360" y="2231136"/>
            <a:ext cx="640080" cy="33832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2231136"/>
            <a:ext cx="640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2157984"/>
            <a:ext cx="23774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网格中的宝藏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886200" y="2157984"/>
            <a:ext cx="2880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带状态 BFS · W12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903720" y="2157984"/>
            <a:ext cx="1645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★★★☆☆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2734056"/>
            <a:ext cx="8229600" cy="484632"/>
          </a:xfrm>
          <a:prstGeom prst="roundRect">
            <a:avLst>
              <a:gd name="adj" fmla="val 15094"/>
            </a:avLst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360" y="2807208"/>
            <a:ext cx="640080" cy="33832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4360" y="2807208"/>
            <a:ext cx="640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417320" y="2734056"/>
            <a:ext cx="23774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分组考试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886200" y="2734056"/>
            <a:ext cx="2880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DP+前缀和 · W10/W11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2734056"/>
            <a:ext cx="1645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★★★★☆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3310128"/>
            <a:ext cx="8229600" cy="484632"/>
          </a:xfrm>
          <a:prstGeom prst="roundRect">
            <a:avLst>
              <a:gd name="adj" fmla="val 15094"/>
            </a:avLst>
          </a:prstGeom>
          <a:solidFill>
            <a:srgbClr val="F1F4F2"/>
          </a:solidFill>
          <a:ln/>
        </p:spPr>
      </p:sp>
      <p:sp>
        <p:nvSpPr>
          <p:cNvPr id="32" name="Shape 30"/>
          <p:cNvSpPr/>
          <p:nvPr/>
        </p:nvSpPr>
        <p:spPr>
          <a:xfrm>
            <a:off x="594360" y="3383280"/>
            <a:ext cx="640080" cy="33832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94360" y="3383280"/>
            <a:ext cx="640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T5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417320" y="3310128"/>
            <a:ext cx="23774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书架分层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3886200" y="3310128"/>
            <a:ext cx="2880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二分答案+贪心校验 · W12/W13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903720" y="3310128"/>
            <a:ext cx="1645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★★★★☆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57200" y="3886200"/>
            <a:ext cx="8229600" cy="484632"/>
          </a:xfrm>
          <a:prstGeom prst="roundRect">
            <a:avLst>
              <a:gd name="adj" fmla="val 15094"/>
            </a:avLst>
          </a:prstGeom>
          <a:solidFill>
            <a:srgbClr val="FFFFFF"/>
          </a:solidFill>
          <a:ln/>
        </p:spPr>
      </p:sp>
      <p:sp>
        <p:nvSpPr>
          <p:cNvPr id="38" name="Shape 36"/>
          <p:cNvSpPr/>
          <p:nvPr/>
        </p:nvSpPr>
        <p:spPr>
          <a:xfrm>
            <a:off x="594360" y="3959352"/>
            <a:ext cx="640080" cy="33832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94360" y="3959352"/>
            <a:ext cx="640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T6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417320" y="3886200"/>
            <a:ext cx="23774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敌友阵营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886200" y="3886200"/>
            <a:ext cx="2880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扩展域并查集 · W09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6903720" y="3886200"/>
            <a:ext cx="1645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★★★★★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本节的重点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：不是把六题的正解讲一遍，而是对每题做</a:t>
            </a: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错误归因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——同一个坑，下次换个皮还会踩。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课程互选统计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考点：字典、集合、排序（W4）　　难度：★★☆☆☆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34440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个学生各选了若干门课。求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选课人数最多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的课程；若有并列，输出课程名字典序最小的那个。再求有多少对学生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至少共选了一门课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01168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103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样例输入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3774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math physics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math chemistry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physics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663440" y="201168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1B2B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2103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样例输出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377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math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30632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math 与 physics 都是 2 人，取字典序小的 math；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共选过课的学生对：(1,2) 同选 math，(1,3) 同选 physics，共 2 对。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384048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先算复杂度再动手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422452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题目保证 Σkᵢ ≤ 10⁴，按课程枚举学生对总数 ≤ Σ C(cᵢ,2)，最坏情况仍可控；对每对学生求集合交集是 O(n²·k)，n=1000 时 10⁷ 次 → 危险。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参考解答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30352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15721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collections import defaultdict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solve(lines):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 = int(lines[0])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students = []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course_students = defaultdict(list)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n + 1):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parts = lines[i].split()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courses = parts[1:1 + int(parts[0])]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students.append(set(courses))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c in courses: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course_students[c].append(i - 1)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hottest = min(course_students,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key=lambda c: (-len(course_students[c]), c))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pairs = set()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c, ss in course_students.items():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a in range(len(ss)):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for b in range(a + 1, len(ss)):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pairs.add((ss[a], ss[b]))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hottest, len(pairs)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print(solve(["3", "2 math physics", "2 math chemistry", "1 physics"]))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('math', 2)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5897880" y="1005840"/>
            <a:ext cx="278892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35040" y="10972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并列时取字典序最小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389888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physics 也是 2 人，但 math &lt; physics。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min(..., key=lambda c: (-len(...), c))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一行同时处理了「人数降序」和「名字升序」。</a:t>
            </a:r>
            <a:endParaRPr lang="en-US" sz="11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2606040"/>
          <a:ext cx="27889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371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错法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只按人数取 max，不处理并列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并列输出不确定 → WA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数学生对逐对求交集 O(n²k)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n=1000 → 10⁷ 次 → TLE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最优装载顺序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考点：贪心 + 交换论证（W6、W10）　　难度：★★★☆☆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34440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个货箱，第 i 个重 wᵢ、卸货耗时 tᵢ。按装货的逆序卸货，第 i 个被卸货箱的「等待成本」= 它前面所有被卸货箱的耗时之和 × 它的重量。求最小总成本。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148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样例：3 箱 (1,3) (2,1) (3,2) → 6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5146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按 t/w 升序卸货：(2,1)→(3,2)→(1,3)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成本 = 0×2 + 1×3 + 3×1 = 6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63440" y="205740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2148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交换论证：相邻 a、b 谁在前？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2441448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在前额外成本 tₐ·w_b；b 在前额外成本 t_b·wₐ。所以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排 b 前 ⟺ tₐ·w_b &lt; t_b·wₐ ⟺ tₐ/wₐ &lt; t_b/w_b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——按 t/w 升序。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参考解答：浮点版 → 整数交叉相乘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30352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15721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min_cost(boxes):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"""boxes: [(重量, 耗时)]；按 t/w 升序卸货。"""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order = sorted(boxes, key=lambda b: (b[1] * 1.0 / b[0]))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elapsed, total = 0,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w, t in order: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total += elapsed * w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前面耗时之和 × 本箱重量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elapsed += t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total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print(min_cost([(1, 3), (2, 1), (3, 2)]))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788920"/>
            <a:ext cx="530352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834640"/>
            <a:ext cx="5157216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functools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min_cost_int(boxes):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cmp(x, y):          </a:t>
            </a:r>
            <a:r>
              <a:rPr lang="en-US" sz="82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x 在前更优 &lt;=&gt; t_x*w_y &lt; t_y*w_x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left, right = x[1] * y[0], y[1] * x[0]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-1 if left &lt; right else (1 if left &gt; right else 0)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order = sorted(boxes, key=functools.cmp_to_key(cmp))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elapsed, total = 0, 0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w, t in order: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total += elapsed * w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elapsed += t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total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print(min_cost_int([(1, 3), (2, 1), (3, 2)]))    </a:t>
            </a:r>
            <a:r>
              <a:rPr lang="en-US" sz="82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5897880" y="100584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CFE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035040" y="10972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为什么推荐整数版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1389888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大数据下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t/w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浮点排序在相等值附近的误差会让顺序不稳，偶发 WA；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cmp_to_key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交叉相乘完全避开浮点。</a:t>
            </a:r>
            <a:endParaRPr lang="en-US" sz="11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2606040"/>
          <a:ext cx="27889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50876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错法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 w 降序 / t 升序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反例 (1,100)(100,1) → WA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t/w 浮点排序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大数据偶发 WA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每次重算前缀和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 → TLE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网格中的宝藏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考点：带状态 BFS（W12）　　难度：★★★☆☆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34440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n×m 网格，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可走、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是墙、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钥匙、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上锁的门（拿到钥匙后可通过，一把钥匙开所有门）、S 起点、T 终点。求 S 到 T 的最少步数。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148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样例：3×5，答案 8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688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. D . T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 # . # 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 . K . 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63440" y="205740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2148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关键：状态要不要加一维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2441448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状态是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(x, y, 是否已拿到钥匙)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——两层网格。如果「同一个格子，在不同情况下能做的事不同」，就必须加维——这是 BFS 题的核心判断。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参考解答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1838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375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collections import deque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treasure(grid):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n, m = len(grid), len(grid[0])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sx = sy = tx = ty = -1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range(n):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range(m):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grid[i][j] == 'S': sx, sy = i, j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elif grid[i][j] == 'T': tx, ty = i, j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DIRS = ((-1,0),(1,0),(0,-1),(0,1))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dist = [[[-1]*m for _ in range(n)] for _ in range(2)]   </a:t>
            </a:r>
            <a:r>
              <a:rPr lang="en-US" sz="7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dist[has_key][x][y]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start_key = 1 if grid[sx][sy] == 'K' else 0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dist[start_key][sx][sy] = 0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 = deque([(sx, sy, start_key)])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q: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x, y, k = q.popleft()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(x, y) == (tx, ty):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 dist[k][x][y]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dx, dy in DIRS: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nx, ny = x+dx, y+dy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not (0 &lt;= nx &lt; n and 0 &lt;= ny &lt; m): continue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cell = grid[nx][ny]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cell == '</a:t>
            </a:r>
            <a:r>
              <a:rPr lang="en-US" sz="7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#': continue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cell == 'D' and k == 0: continue   </a:t>
            </a:r>
            <a:r>
              <a:rPr lang="en-US" sz="7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没钥匙，过不去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nk = 1 if cell == 'K' else k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dist[nk][nx][ny] &gt;= 0: continue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dist[nk][nx][ny] = dist[k][x][y] + 1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q.append((nx, ny, nk))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-1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print(treasure(["S.D.T", ".#.#.", "..K.."]))  </a:t>
            </a:r>
            <a:r>
              <a:rPr lang="en-US" sz="7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8</a:t>
            </a:r>
            <a:endParaRPr lang="en-US" sz="7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错误归因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错法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后果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visited[x][y] 只有一层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拿钥匙前访问过的格子，拿钥匙后进不去 → WA（答案偏大或 -1）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 DFS 求最短步数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第一次到达不是最短 → WA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 list.pop(0)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500×500×2 = 5×10⁵ 状态 → TLE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忘了起点本身可能是钥匙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边界 WA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84048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「状态里要不要加一维」是 BFS 题的核心判断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224528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如果「同一个格子，在不同情况下能做的事不同」，就必须加维。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分组考试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考点：DP + 前缀和（W10、W11）　　难度：★★★★☆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34440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个学生按学号排成一列，成绩 a₁..aₙ。切成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 k 段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连续区间，每段「不平衡度」= 段内最大值−最小值。求总不平衡度的最小值。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148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样例：[1,3,5,5,9], k=2 → 4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5146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切成 [1,3,5,5]（度 4）与 [9]（度 0）</a:t>
            </a:r>
            <a:endParaRPr lang="en-US" sz="11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总计 4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205740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2148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 / 转移 / 边界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2441448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dp[i][j]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前 i 人分 j 段的最小总不平衡度；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dp[i][j] = min(dp[t][j-1] + cost(t+1,i))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dp[0][0]=0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，其余 +inf，答案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dp[n][k]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参考解答：O(n²k)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30352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15721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group_exam(a, k):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 = len(a)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INF = float('inf')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cost = [[0] * n for _ in range(n)]      </a:t>
            </a:r>
            <a:r>
              <a:rPr lang="en-US" sz="9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cost[l][r] = a[l..r] 最大-最小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l in range(n):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mx = mn = a[l]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r in range(l, n):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mx, mn = max(mx, a[r]), min(mn, a[r])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cost[l][r] = mx - mn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 = [[INF] * (k + 1) for _ in range(n + 1)]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dp[0][0] = 0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n + 1):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range(1, min(i, k) + 1):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best = INF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for t in range(j - 1, i):          </a:t>
            </a:r>
            <a:r>
              <a:rPr lang="en-US" sz="9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上一段结束于 t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if dp[t][j - 1] &lt; INF: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best = min(best, dp[t][j - 1] + cost[t][i - 1])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dp[i][j] = best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dp[n][k]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print(group_exam([1, 3, 5, 5, 9], 2))       </a:t>
            </a:r>
            <a:r>
              <a:rPr lang="en-US" sz="9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print(group_exam([1, 3, 5, 5, 9], 1))       </a:t>
            </a:r>
            <a:r>
              <a:rPr lang="en-US" sz="9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897880" y="1005840"/>
            <a:ext cx="2788920" cy="1737360"/>
          </a:xfrm>
          <a:prstGeom prst="roundRect">
            <a:avLst>
              <a:gd name="adj" fmla="val 4211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35040" y="10972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「恰好 k 段」的坑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389888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全初始化为 0 会让「恰好 k 段」退化成「至多 k 段」→ 答案偏小 WA。必须用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+inf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初始化——第 11 周 1.5 节讲过的坑，这里再犯一次的人非常多。</a:t>
            </a:r>
            <a:endParaRPr lang="en-US" sz="11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2880360"/>
          <a:ext cx="27889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错法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后果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dp 全初始化为 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「恰好」退化成「至多」→ WA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现算 cost(t+1,i)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O(n³k) → TLE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贪心切最大间隙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不平衡度不可加 → WA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书架分层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考点：二分答案 + 贪心校验（W12、W13）　　难度：★★★★☆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34440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本书按顺序排列，第 i 本厚 aᵢ。放进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 k 层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书架，每层放连续一段。一层「承重」= 该层书厚度之和。求最大承重的最小值。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148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样例：[1,2,3,4,5], k=3 → 6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切成 [1,2,3][4][5]，承重 6,4,5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最大承重 6，任何切法都不小于 6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63440" y="205740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2148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为什么能二分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2441448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答案具有单调性：承重上限 cap 越大，需要的层数越少。「最小的可行 cap」是二分答案的标准形状；下界必须是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max(a)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 0。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参考解答：O(n log Σaᵢ)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303520" cy="3063240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157216" cy="2971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solve(n, k, a):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shelves(cap):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贪心：装不下就换下一层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cnt, cur = 1,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x in a: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cur + x &gt; cap: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cnt +=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cur = x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else: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cur += x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cnt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lo, hi = max(a), sum(a)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下界必须是 max(a)：单本书也要放得下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lo &lt; hi: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mid = (lo + hi) // 2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shelves(mid) &lt;= k: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层数够少 -&gt; 承重还能再压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hi = mid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lo = mid + 1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lo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print(solve(5, 3, [1, 2, 3, 4, 5]))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97880" y="1005840"/>
            <a:ext cx="278892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35040" y="10972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判据是 &lt;=k，不是 ==k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389888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层数比 k 少时，把任意一层再切一刀就能补到 k，承重只会更小、不会更大。</a:t>
            </a:r>
            <a:endParaRPr lang="en-US" sz="11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2194560"/>
          <a:ext cx="27889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错法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下界写 0 或 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shelves 恒不可行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mid=(lo+hi+1)//2 配 hi=mid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死循环 TLE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判据写 ==k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答案偏大 WA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敌友阵营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考点：扩展域并查集（W09）　　难度：★★★★★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34440"/>
            <a:ext cx="82296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人给出 m 条关系（F 朋友 / E 敌人），按输入顺序生效：朋友的朋友是朋友，敌人的敌人是朋友，朋友的敌人是敌人。矛盾的关系跳过。求第一条矛盾关系的编号、最终朋友团体数。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331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样例：F12 E23 E34 F45 → 0 / 2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6517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E23、E34 推出 2、4 是朋友；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1,2,4,5 一团体，3 独自，共 2 个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224028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2331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扩展域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2624328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给每人开两个点：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（本人）与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i+n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（对立面）。朋友把两域同向合并，敌人交叉合并——出现「否定」且否定间还能推理，就开对立域。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参考解答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18388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3757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list(range(2 * n + 1))          </a:t>
            </a:r>
            <a:r>
              <a:rPr lang="en-US" sz="8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 与 i+n 互为对立域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find(x):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p[x] != x: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p[x] = p[p[x]]               </a:t>
            </a:r>
            <a:r>
              <a:rPr lang="en-US" sz="8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路径压缩：不写这行，10^5 条关系就 TLE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x = p[x]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x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union(x, y):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rx, ry = find(x), find(y)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rx != ry: p[rx] = ry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bad = 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i, (op, a, b) in enumerate(relations, 1):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op == 'F':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conflict = find(a) == find(b + n)     </a:t>
            </a:r>
            <a:r>
              <a:rPr lang="en-US" sz="8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说好朋友却已推出敌人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conflict = find(a) == find(b)         </a:t>
            </a:r>
            <a:r>
              <a:rPr lang="en-US" sz="8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说好敌人却已推出朋友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conflict: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bad == 0: bad = i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continue                              </a:t>
            </a:r>
            <a:r>
              <a:rPr lang="en-US" sz="8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矛盾的关系不采纳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op == 'F':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union(a, b); union(a + n, b + n)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union(a, b + n); union(a + n, b)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bad=0, 团体数=len({find(i) for i in range(1,n+1)})=2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错误归因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错法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后果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find 里不写路径压缩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链式数据退化 O(n)，10⁵ 条关系 → TLE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只开 n 个点，另用「敌人表」记录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推不出「敌人的敌人是朋友」→ WA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a b 只写 union(a,b+n)，漏了 union(a+n,b)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对称性丢失，部分矛盾查不出来 → WA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判出矛盾后照样合并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错误信息污染后续判断 → 团体数 WA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数团体时把 1..2n 全数一遍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对立域被当成真人 → 个数翻倍 WA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65760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「要不要开对立域」的判据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04164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关系里出现了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（敌人、异类、不同侧），且否定之间还能推理，就开——这与 T3 的「状态要不要加一维」是同一类判断：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信息装不进现有的状态，就扩状态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综合复习清单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到机考前该做的两件事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默写 12 个模板 · 重做错题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综合复习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必须能默写的 12 个模板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594360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周次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快速输入 sys.stdin.read().split()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W4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埃氏筛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W4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一维/二维前缀和 + 差分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W6、W10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多关键字排序 key=lambda x:(a,-b)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W6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归并排序的合并（求逆序对）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W6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单调栈（下一个更大元素）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W7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回溯模板（选择→递归→撤销）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W9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并查集（路径压缩+按大小合并）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W9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0-1 背包（倒序）/ 完全背包（正序）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W11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LIS 的 O(n log n) 写法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W11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BFS（deque + 入队标记）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W12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二分答案（判定 + 上/下取整）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W12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综合复习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高频陷阱清单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188720"/>
            <a:ext cx="365760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忘 int() / 忘 strip()</a:t>
            </a:r>
            <a:endParaRPr lang="en-US" sz="12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[[0]*n]*m 的别名陷阱</a:t>
            </a:r>
            <a:endParaRPr lang="en-US" sz="12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 in list 是 O(n)；list.pop(0) 是 O(n)</a:t>
            </a:r>
            <a:endParaRPr lang="en-US" sz="12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浮点用 == 比较；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int(x**0.5)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差 1</a:t>
            </a:r>
            <a:endParaRPr lang="en-US" sz="12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回溯忘 path[:] 拷贝 / 忘还原状态</a:t>
            </a:r>
            <a:endParaRPr lang="en-US" sz="12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0-1 背包写成正序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0584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92040" y="1188720"/>
            <a:ext cx="365760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「恰好装满」没用 ±inf 初始化</a:t>
            </a:r>
            <a:endParaRPr lang="en-US" sz="12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BFS 出队时才标记 visited</a:t>
            </a:r>
            <a:endParaRPr lang="en-US" sz="12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带状态的搜索少加了一维</a:t>
            </a:r>
            <a:endParaRPr lang="en-US" sz="12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二分答案的取整方向写反导致死循环</a:t>
            </a:r>
            <a:endParaRPr lang="en-US" sz="12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多关键字排序只写了一个 key</a:t>
            </a:r>
            <a:endParaRPr lang="en-US" sz="12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输出格式：多余空格 / 换行 / 精度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综合复习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复习节奏建议（本周到机考）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5836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天数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1–2 天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默写 3.1 的 12 个模板，写不出的回去看对应周讲义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3–4 天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重做月考错题（关题解、从空文件写）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5–6 天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按题型各刷 2 题（贪心 / DP / BFS / 回溯 / 并查集 / 二分）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7 天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限时模拟一整套（112 分钟 6 题），只看时间不看对错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考前一天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只整理 cheat sheet，不做新题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✎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291840"/>
                <a:gridCol w="4480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订正 12 月月考全部未 AC 题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三分类 + 关题解重写（W5 第 5 节）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默写 3.1 的 12 个模板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不看讲义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完成一页 A4 cheat sheet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手写，双面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 AI 审查自己的一份 WA 代码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记录它指出的问题里有几条是对的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找出 AI 的一次幻觉并记录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例如让它报 5 个 OJ 题号，逐个验证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完成综合练习 6 题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 W13 第 5.2 节的 B / C 组选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 · 思考题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思考题（1/4）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1430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2763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LLM 在「数一句话里有几个字母 r」这类任务上容易出错？（提示：token 不是字符）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2" name="Shape 10"/>
          <p:cNvSpPr/>
          <p:nvPr/>
        </p:nvSpPr>
        <p:spPr>
          <a:xfrm>
            <a:off x="4828032" y="11430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28032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2763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提示词里加上「不要直接给完整代码」，对你的学习效果有什么影响？试两周再回答。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28346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" y="29718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45643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 的排序键若用浮点 t/w，在什么数据下会出问题？构造一组验证。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63440" y="28346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4828032" y="29718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28032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45643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 若改成「至多 k 段」，代码要改哪一行？答案会变大还是变小？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 · 思考题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思考题（2/4）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1430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2763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T5 的判据若从 &lt;= k 改成 == k，在样例 5 3 / 1 2 3 4 5 上会输出什么？为什么？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2" name="Shape 10"/>
          <p:cNvSpPr/>
          <p:nvPr/>
        </p:nvSpPr>
        <p:spPr>
          <a:xfrm>
            <a:off x="4828032" y="11430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28032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2763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T6 若允许 a == b（自己和自己是敌人），程序会怎样？该在哪一步拦住？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8346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" y="29718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45643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注意力机制里的 softmax 为什么要减去最大值？不减会怎样？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在海量文本上学「下一个 token」的统计规律；四个部件是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分词、词向量、注意力、训练对齐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源于「训练目标是合理而非正确」；最易错的是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精确标识符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。凡是数字、编号、链接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一律自己验证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提示词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五要素：角色、背景、已有尝试、现象、明确问题；加一句「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只指出问题，不要给完整代码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学术诚信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考试禁用任何 AI 工具；讲不清自己的代码 = 学术不端。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平时自检：关掉窗口，从空文件重写。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复习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六题错误归因对应六个高频坑；复习就做两件事：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默写 12 个模板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重做错题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下周预告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知识图谱、神经网络等 AI 专题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专题的正片：从图的表示到反向传播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60 行代码手写一个能学习的网络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计算概论（B）第 14 周 AI 素养、12 月月考讲评与综合复习</dc:title>
  <dc:subject>PptxGenJS Presentation</dc:subject>
  <dc:creator>Hongfei Yan</dc:creator>
  <cp:lastModifiedBy>Hongfei Yan</cp:lastModifiedBy>
  <cp:revision>1</cp:revision>
  <dcterms:created xsi:type="dcterms:W3CDTF">2026-09-22T06:22:01Z</dcterms:created>
  <dcterms:modified xsi:type="dcterms:W3CDTF">2026-09-22T06:22:01Z</dcterms:modified>
</cp:coreProperties>
</file>