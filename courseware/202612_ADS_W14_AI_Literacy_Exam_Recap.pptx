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计算概论（B） · 第 14 周 · 2026 Fall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6400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素养、12 月月考讲评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00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与综合复习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60350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大语言模型的工作原理：分词 · 词向量 · 注意力 · 训练对齐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幻觉的成因与识别 · 提示词的有效结构 · AI 辅助编程的边界与学术诚信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月月考样卷讲评（6 题，含错误归因）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综合复习清单：12 个模板 · 高频陷阱 · 复习节奏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Compiled by Hongfei Yan · 2026 Fall · github.com/GMyhf/2026fall-cs101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本周要回答三个问题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帮我写题解，算不算我做的？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能不能讲清楚自己交的每一行代码，是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的判据；讲不清楚 = 学术不端。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说的都对吗？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训练目标是「合理」，不是「正确」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——题号、版本号这类精确标识符最容易被编。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月考没考好，问题出在哪？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六道题对应六个高频坑：格式没逐字对齐、删不满 k、没看出相遇等价……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错误归因比正解更重要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E3D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一句话概括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0050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是</a:t>
            </a:r>
            <a:r>
              <a:rPr lang="en-US" sz="14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，不是</a:t>
            </a:r>
            <a:r>
              <a:rPr lang="en-US" sz="14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代考</a:t>
            </a: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怎么用它不违反诚信、怎么防它把你带偏，</a:t>
            </a: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是本周真正要学的东西。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内容地图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AI 素养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LLM 在做什么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四个关键部件：分词/词向量/注意力/训练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幻觉：为什么会编、怎么自检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提示词的有效结构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1.5–1.6 能与不能、学术诚信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月考讲评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T1–T6 六题：题面 · 解法 · 错误归因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难度梯度 ★★ → ★★★★★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六个高频坑逐题对应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综合复习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必须默写的 12 个模板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高频陷阱清单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到机考前的复习节奏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本周作业 · 思考题 · 小结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素养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大语言模型在做什么、为什么会编、怎么用才不越线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分词 · 词向量 · 注意力 · 幻觉 · 提示词 · 学术诚信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AI 素养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大语言模型在做什么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</a:t>
            </a: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给定前面的文字，预测下一个词（token）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965960"/>
          </a:xfrm>
          <a:prstGeom prst="roundRect">
            <a:avLst>
              <a:gd name="adj" fmla="val 3721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554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15544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"计算概论这门课主要用"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1214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下一个 token 的概率：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12140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 0.62　"C++" 0.18　"Java" 0.05 …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68833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采样一个：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268833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 → 拼回输入 → 再预测下一个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834640" y="1554480"/>
            <a:ext cx="0" cy="1133856"/>
          </a:xfrm>
          <a:prstGeom prst="line">
            <a:avLst/>
          </a:prstGeom>
          <a:noFill/>
          <a:ln w="19050">
            <a:solidFill>
              <a:srgbClr val="F2B13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" y="352044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CFE0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611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反复执行这一步，就生成了一整段话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90448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没有「理解」，只有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在海量文本上学到的统计规律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。这决定了它擅长「接话」，不擅长「算数」「记精确事实」。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AI 素养 · 四个关键部件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（1）分词 Tokenization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文字先被切成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（子词单元）；一句话被拆成 token 序列后，模型才能逐个处理。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4846320" cy="1737360"/>
          </a:xfrm>
          <a:prstGeom prst="roundRect">
            <a:avLst>
              <a:gd name="adj" fmla="val 4211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600200"/>
            <a:ext cx="4700016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naive_tokenize(text):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"""一个极简的演示：按空白和标点切。真实的 BPE 分词要复杂得多。"""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 re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[t for t in re.split(r'(\W)', text) if t.strip()]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print(naive_tokenize("Hello, 计算概论!"))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['Hello', ',', '计算概论', '!']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1554480"/>
            <a:ext cx="3200400" cy="1737360"/>
          </a:xfrm>
          <a:prstGeom prst="roundRect">
            <a:avLst>
              <a:gd name="adj" fmla="val 4211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23560" y="1645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经验值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596128" y="1938528"/>
            <a:ext cx="2980944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英文 1 个 token ≈ 0.75 个单词；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 1 个汉字 ≈ 1–2 个 token；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「上下文窗口 128K」说的是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数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，不是字数。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AI 素养 · 四个关键部件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（2）词向量 Embedding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token 被映射成一个高维向量，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语义相近的向量方向相近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120640" cy="260604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417320"/>
            <a:ext cx="4974336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math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cosine(u, v):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"""余弦相似度：两个向量夹角的余弦，范围 [-1, 1]。"""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dot = sum(a * b for a, b in zip(u, v))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 = math.sqrt(sum(a * a for a in u))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nv = math.sqrt(sum(b * b for b in v))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dot / (nu * nv)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玩具例子：三维"语义空间"（前两维≈"王室/人"，第三维≈"食物"）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king = [0.9, 0.8, 0.1]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queen = [0.85, 0.75, 0.2]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apple = [0.1, 0.15, 0.95]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print(f"king-queen  {cosine(king, queen):.3f}")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print(f"king-apple  {cosine(king, apple):.3f}")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15000" y="137160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1B2B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24728" y="1426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824728" y="1627632"/>
            <a:ext cx="275234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king-queen  0.996  语义相近 -&gt; 方向几乎重合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king-apple  0.261  语义无关 -&gt; 接近正交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15000" y="2468880"/>
            <a:ext cx="2971800" cy="1508760"/>
          </a:xfrm>
          <a:prstGeom prst="roundRect">
            <a:avLst>
              <a:gd name="adj" fmla="val 4848"/>
            </a:avLst>
          </a:prstGeom>
          <a:solidFill>
            <a:srgbClr val="CFE0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52160" y="25603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2852928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真实模型的向量是几千维、由训练学出来的。这里只是让你看到「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 = 向量的几何关系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」这件事。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AI 素养 · 四个关键部件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（3）注意力 Attention：概念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生成每个新 token 时，模型要决定「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前文里哪些词更重要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」。注意力就是给前文的每个位置算一个权重，再做加权求和。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874520" cy="1554480"/>
          </a:xfrm>
          <a:prstGeom prst="roundRect">
            <a:avLst>
              <a:gd name="adj" fmla="val 4706"/>
            </a:avLst>
          </a:prstGeom>
          <a:solidFill>
            <a:srgbClr val="F1F4F2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975104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788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当前要生成的位置，「我在找什么」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0" y="1828800"/>
            <a:ext cx="1874520" cy="1554480"/>
          </a:xfrm>
          <a:prstGeom prst="roundRect">
            <a:avLst>
              <a:gd name="adj" fmla="val 4706"/>
            </a:avLst>
          </a:prstGeom>
          <a:solidFill>
            <a:srgbClr val="FFF6E0"/>
          </a:solidFill>
          <a:ln/>
        </p:spPr>
      </p:sp>
      <p:sp>
        <p:nvSpPr>
          <p:cNvPr id="14" name="Shape 12"/>
          <p:cNvSpPr/>
          <p:nvPr/>
        </p:nvSpPr>
        <p:spPr>
          <a:xfrm>
            <a:off x="2724912" y="1975104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724912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69748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2788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前文每个位置，「我是什么」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1828800"/>
            <a:ext cx="1874520" cy="1554480"/>
          </a:xfrm>
          <a:prstGeom prst="roundRect">
            <a:avLst>
              <a:gd name="adj" fmla="val 4706"/>
            </a:avLst>
          </a:prstGeom>
          <a:solidFill>
            <a:srgbClr val="F1F4F2"/>
          </a:solidFill>
          <a:ln/>
        </p:spPr>
      </p:sp>
      <p:sp>
        <p:nvSpPr>
          <p:cNvPr id="19" name="Shape 17"/>
          <p:cNvSpPr/>
          <p:nvPr/>
        </p:nvSpPr>
        <p:spPr>
          <a:xfrm>
            <a:off x="4828032" y="1975104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28032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点积 + softmax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2788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算出一组和为 1 的权重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66560" y="1828800"/>
            <a:ext cx="1874520" cy="1554480"/>
          </a:xfrm>
          <a:prstGeom prst="roundRect">
            <a:avLst>
              <a:gd name="adj" fmla="val 4706"/>
            </a:avLst>
          </a:prstGeom>
          <a:solidFill>
            <a:srgbClr val="FFF6E0"/>
          </a:solidFill>
          <a:ln/>
        </p:spPr>
      </p:sp>
      <p:sp>
        <p:nvSpPr>
          <p:cNvPr id="24" name="Shape 22"/>
          <p:cNvSpPr/>
          <p:nvPr/>
        </p:nvSpPr>
        <p:spPr>
          <a:xfrm>
            <a:off x="6931152" y="1975104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931152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加权求和 Value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2788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权重大的位置贡献更多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CFE0D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4360" y="37033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「Attention is All You Need」（2017）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399592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提出的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架构，正是今天所有大模型的基础。第 15 周会把神经网络的其余部分补齐。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AI 素养 · 四个关键部件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（3）注意力 Attention：最小实现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303520" cy="3063240"/>
          </a:xfrm>
          <a:prstGeom prst="roundRect">
            <a:avLst>
              <a:gd name="adj" fmla="val 2388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5157216" cy="2971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math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softmax(xs):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 = max(xs)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exps = [math.exp(x - m) for x in xs]          </a:t>
            </a:r>
            <a:r>
              <a:rPr lang="en-US" sz="8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减最大值防溢出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sum(exps)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[e / total for e in exps]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attention(query, keys, values):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"""最简形式的注意力：用点积算相关度，softmax 归一化，再加权求和。"""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scores = [sum(q * k for q, k in zip(query, key)) for key in keys]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weights = softmax(scores)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dim = len(values[0])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= [sum(w * v[d] for w, v in zip(weights, values)) for d in range(dim)]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weights, out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[1.0, 0.0]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keys = [[1.0, 0.0], [0.0, 1.0], [0.7, 0.7]]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= [[10.0], [20.0], [30.0]]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w, o = attention(q, keys, values)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print([f"{x:.3f}" for x in w], f"{o[0]:.3f}")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5897880" y="1005840"/>
            <a:ext cx="2788920" cy="685800"/>
          </a:xfrm>
          <a:prstGeom prst="roundRect">
            <a:avLst>
              <a:gd name="adj" fmla="val 10667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07608" y="1060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007608" y="1261872"/>
            <a:ext cx="25694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['0.474', '0.174', '0.351'] 18.771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97880" y="1828800"/>
            <a:ext cx="2788920" cy="2240280"/>
          </a:xfrm>
          <a:prstGeom prst="roundRect">
            <a:avLst>
              <a:gd name="adj" fmla="val 3265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35040" y="19202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怎么读这行输出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212848"/>
            <a:ext cx="2514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query = [1,0] 越像的 key，权重越大：第一个 key = [1,0] 权重 0.474 最高；第三个 key = [0.7,0.7] 次之；第二个 key = [0,1] 与 query 正交，权重最小。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AI 素养 · 四个关键部件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（4）训练与对齐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498080" cy="868680"/>
          </a:xfrm>
          <a:prstGeom prst="roundRect">
            <a:avLst>
              <a:gd name="adj" fmla="val 842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1207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 Pre-training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在海量文本上学「下一个词」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0972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会说话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480560" y="1965960"/>
            <a:ext cx="0" cy="182880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1520" y="2148840"/>
            <a:ext cx="7498080" cy="868680"/>
          </a:xfrm>
          <a:prstGeom prst="roundRect">
            <a:avLst>
              <a:gd name="adj" fmla="val 8421"/>
            </a:avLst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2258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监督微调 SFT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在人写的问答对上学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1488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会答题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480560" y="3017520"/>
            <a:ext cx="0" cy="182880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1520" y="3200400"/>
            <a:ext cx="7498080" cy="868680"/>
          </a:xfrm>
          <a:prstGeom prst="roundRect">
            <a:avLst>
              <a:gd name="adj" fmla="val 8421"/>
            </a:avLst>
          </a:prstGeom>
          <a:solidFill>
            <a:srgbClr val="CFE0D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33101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人类反馈强化学习 RLHF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3657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按人的偏好排序打分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32004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答得有用、无害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AI 素养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幻觉：为什么它会编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训练目标是「合理」，不是「正确」。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模型没有事实数据库，它输出的是「在训练数据的统计规律下，这里最可能出现什么」。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926080"/>
                <a:gridCol w="37490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例子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精确标识符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OJ 题号、论文编号、API 版本号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格式规律强、具体值随机，模型只能「编一个像的」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时效信息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最新版本、今年的规定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训练数据有截止时间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小众细节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冷门函数的参数顺序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训练数据里样本太少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算术与计数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大数乘法、字符计数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 token 生成，不做真正的计算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7033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DF0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3794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本课的实测经验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0873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报 OpenJudge 题号，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错误率很高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。讲义里的每一个题号都必须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自己打开链接确认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AI 素养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自检方法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353312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0972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换个问法再问一遍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答案不稳定的地方，多半是编的。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6E0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404872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1488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要求给出处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1488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给不出可核验的出处就当作没有。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456432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3456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32004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凡是数字、编号、链接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32004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一律自己验证。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AI 素养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提示词：有效的结构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1965960"/>
          </a:xfrm>
          <a:prstGeom prst="roundRect">
            <a:avLst>
              <a:gd name="adj" fmla="val 3721"/>
            </a:avLst>
          </a:prstGeom>
          <a:solidFill>
            <a:srgbClr val="1B2B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17043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【角色】你是一位帮助大一学生的编程助教。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49961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【背景】我在做 OpenJudge 上的一道题，n ≤ 10^5，时限 1 秒。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8288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【我的尝试】（贴上代码）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15798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【现象】样例过了，提交后 TLE。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48716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【问题】我的复杂度是多少？瓶颈在哪一行？请只指出问题，不要直接给完整代码。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五个要素：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角色、背景（含约束）、已有尝试、观察到的现象、明确的问题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CFE0D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37033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最后一句是关键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995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不要直接给完整代码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——让 AI 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指路而不是代跑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，你才在学习。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AI 素养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辅助编程：能与不能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CFE0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能（推荐）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554480"/>
            <a:ext cx="365760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解释报错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：把 traceback 贴给它，让它翻译成人话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审查代码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：问「这段代码在什么输入下会出错」——这是 AI 最有价值的用法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补测试数据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：让它构造边界情况，然后你自己验证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解释算法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：让它用比喻和小例子讲一个你不懂的概念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写样板代码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：读入模板、格式化输出这类没有思维含量的部分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DF0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不能（红线）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554480"/>
            <a:ext cx="36576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让它写作业代码然后原样提交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相信它给的题号、链接、成绩规则、考试安排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考试中使用任何 AI 工具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——包括本地模型和 IDE 的智能补全插件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AI 素养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学术诚信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1E3D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1887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期末上机考试禁止任何 AI 工具。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6916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无法解释自己提交的代码，按学术不端处理，成绩记 0。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这不是一条可以商量的文案，而是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考核制度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。它也直接决定了你平时该怎么学：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154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自检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44728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每完成一道题，关掉所有窗口，从空文件重写一遍。写不出来，说明这道题</a:t>
            </a: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你没有做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，只是围观了 AI 做题。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月月考讲评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题 / 112 分钟，期末机考的同构演练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每题都做错误归因——比讲正解更重要的，是搞清楚大家为什么会错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月考讲评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一套样卷，六个难度台阶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484632"/>
          </a:xfrm>
          <a:prstGeom prst="roundRect">
            <a:avLst>
              <a:gd name="adj" fmla="val 15094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078992"/>
            <a:ext cx="640080" cy="338328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078992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E29945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1005840"/>
            <a:ext cx="2377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神秘数字的宇宙旅行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886200" y="1005840"/>
            <a:ext cx="2880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 / Collatz 轨迹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1005840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581912"/>
            <a:ext cx="822960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1655064"/>
            <a:ext cx="640080" cy="338328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1655064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E29946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1581912"/>
            <a:ext cx="2377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删数问题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886200" y="1581912"/>
            <a:ext cx="2880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单调栈、贪心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1581912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157984"/>
            <a:ext cx="8229600" cy="484632"/>
          </a:xfrm>
          <a:prstGeom prst="roundRect">
            <a:avLst>
              <a:gd name="adj" fmla="val 15094"/>
            </a:avLst>
          </a:prstGeom>
          <a:solidFill>
            <a:srgbClr val="F1F4F2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2231136"/>
            <a:ext cx="640080" cy="338328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2231136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E30091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2157984"/>
            <a:ext cx="2377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缺德的图书馆管理员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886200" y="2157984"/>
            <a:ext cx="2880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 / 贪心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2157984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2734056"/>
            <a:ext cx="822960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2807208"/>
            <a:ext cx="640080" cy="338328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94360" y="2807208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M27371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2734056"/>
            <a:ext cx="2377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Playfair密码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886200" y="2734056"/>
            <a:ext cx="2880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字符串、矩阵模拟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2734056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3310128"/>
            <a:ext cx="8229600" cy="484632"/>
          </a:xfrm>
          <a:prstGeom prst="roundRect">
            <a:avLst>
              <a:gd name="adj" fmla="val 15094"/>
            </a:avLst>
          </a:prstGeom>
          <a:solidFill>
            <a:srgbClr val="F1F4F2"/>
          </a:solidFill>
          <a:ln/>
        </p:spPr>
      </p:sp>
      <p:sp>
        <p:nvSpPr>
          <p:cNvPr id="32" name="Shape 30"/>
          <p:cNvSpPr/>
          <p:nvPr/>
        </p:nvSpPr>
        <p:spPr>
          <a:xfrm>
            <a:off x="594360" y="3383280"/>
            <a:ext cx="640080" cy="338328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94360" y="3383280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T30201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417320" y="3310128"/>
            <a:ext cx="2377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旅行售货商问题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3886200" y="3310128"/>
            <a:ext cx="2880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状态压缩 DP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903720" y="3310128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" y="3886200"/>
            <a:ext cx="822960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594360" y="3959352"/>
            <a:ext cx="640080" cy="338328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94360" y="3959352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T30204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417320" y="3886200"/>
            <a:ext cx="2377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小P的LLM推理加速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3886200" y="3886200"/>
            <a:ext cx="2880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周期能耗、贪心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903720" y="3886200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本节的重点</a:t>
            </a: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：不是把六题的正解讲一遍，而是对每题做</a:t>
            </a:r>
            <a:r>
              <a:rPr lang="en-US" sz="105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错误归因</a:t>
            </a: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——同一个坑，下次换个皮还会踩。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月考讲评 · T1 E29945 神秘数字的宇宙旅行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模拟：Collatz 轨迹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从正整数 n（≤ 2,000,000）开始：偶数变 n/2，奇数变 3n+1；逐步输出每次跳跃的算式，直到跳到 1，最后输出 End。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508760"/>
            <a:ext cx="4974336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int(input())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n != 1: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% 2: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print(f'{n}*3+1={3*n+1}')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 = 3 * n + 1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print(f'{n}/2={n//2}')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 //= 2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print('End')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1B2B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33924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593592"/>
            <a:ext cx="49011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输入: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5*3+1=16, 16/2=8, 8/2=4, 4/2=2, 2/2=1, End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60720" y="146304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97880" y="1554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为什么一定会停在 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1847088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这是著名的「3n+1 猜想」——目前无人证明对所有正整数都成立，但 2×10⁶ 范围内已逐一验证过都会停，题目保证不会死循环。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月考讲评 · T2 E29946 删数问题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单调栈：贪心删大数字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给定最多 250 位的正整数，删除恰好 k 位并保持剩余数字顺序，使所得非负整数最小。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417320"/>
            <a:ext cx="4974336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input().strip()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int(input())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 = []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ch in n: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k and stack and stack[-1] &gt; ch: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stack.pop(); k -= 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stack.append(ch)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k: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 = stack[:-k]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print(("".join(stack)).lstrip('0') or '0')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1B2B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36667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867912"/>
            <a:ext cx="490118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输入: 175438 / k=4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输出: 13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0" y="1371600"/>
            <a:ext cx="2926080" cy="2926080"/>
          </a:xfrm>
          <a:prstGeom prst="roundRect">
            <a:avLst>
              <a:gd name="adj" fmla="val 2500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97880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单调栈：越靠前的数字影响越大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1755648"/>
            <a:ext cx="2651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从左到右扫描，只要当前数字比栈顶小、还有删除名额，就弹掉栈顶——相当于优先删掉「前面比后面大」的高位数字，剩下的名额留到末尾删。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月考讲评 · T3 E30091 缺德的图书馆管理员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模拟：相遇即擦肩而过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走廊坐标 1..L，学生以速度 1 行走，相向相遇就同时转身；不知道每人初始朝哪，求全部离开的最短和最长可能时间。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8229600" cy="1417320"/>
          </a:xfrm>
          <a:prstGeom prst="roundRect">
            <a:avLst>
              <a:gd name="adj" fmla="val 5161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600200"/>
            <a:ext cx="8083296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int(input())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int(input())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 = list(map(int, input().split())) if n else []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print(max(min(x, L + 1 - x) for x in pos) if pos else 0,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max(max(x, L + 1 - x) for x in pos) if pos else 0)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3977640" cy="777240"/>
          </a:xfrm>
          <a:prstGeom prst="roundRect">
            <a:avLst>
              <a:gd name="adj" fmla="val 9412"/>
            </a:avLst>
          </a:prstGeom>
          <a:solidFill>
            <a:srgbClr val="1B2B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32095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410712"/>
            <a:ext cx="37581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输入: L=4 / n=2 / pos=1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输出: 2 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315468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09160" y="3246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相遇可以看成两人擦肩而过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53872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相向而行、相遇后同时转身，等价于两人互不影响地穿过对方——所以每人的离开时刻只取决于自己到最近/最远出口的距离，不用真的模拟碰撞。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月考讲评 · T4 M27371 Playfair密码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字符串、5×5 矩阵模拟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用去重后的密钥和去掉 j 的字母表构造 5×5 矩阵；明文按字母对分组，重复字母间插入 x（首字母为 x 时插入 q），奇数长度末尾补字符，再按同行右移 / 同列下移 / 矩形换列加密。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5394960" cy="2788920"/>
          </a:xfrm>
          <a:prstGeom prst="roundRect">
            <a:avLst>
              <a:gd name="adj" fmla="val 2623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554480"/>
            <a:ext cx="5248656" cy="2697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string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= input().strip(); q = int(input())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 = []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ch in key + string.ascii_lowercase.replace('j', ''):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 = 'i' if ch == 'j' else ch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ch not in seq: seq.append(ch)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= {ch: divmod(i, 5) for i, ch in enumerate(seq)}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enc_pair(a, b):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ra, ca = at[a]; rb, cb = at[b]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ra == rb: return seq[ra*5+(ca+1)%5] + seq[rb*5+(cb+1)%5]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ca == cb: return seq[((ra+1)%5)*5+ca] + seq[((rb+1)%5)*5+cb]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seq[ra*5+cb] + seq[rb*5+ca]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_ in range(q):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= input().strip().replace('j', 'i'); out = []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= 0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i &lt; len(s):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 = s[i]; b = s[i+1] if i+1 &lt; len(s) else ('q' if a == 'x' else 'x')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 == b: b = 'q' if a == 'x' else 'x'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 i += 1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out.append(enc_pair(a, b)); i += 1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print(''.join(out))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5989320" y="150876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1B2B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99048" y="15636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099048" y="1764792"/>
            <a:ext cx="24780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输入: key=keyword / q=1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balloon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输出: cbizsces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89320" y="242316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26480" y="2514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三种加密规则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807208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同行：各自右移一格取字符；同列：各自下移一格；否则取「矩形对角」——本行取对方所在列。</a:t>
            </a:r>
            <a:r>
              <a:rPr lang="en-US" sz="9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enc_pair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三个分支各对应一种。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月考讲评 · T5 T30201 旅行售货商问题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状态压缩 DP：集合当下标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≤ n ≤ 18 个城市完全连通，从任意城市出发访问每城恰好一次并回到起点，求最小总费用。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417320"/>
            <a:ext cx="8083296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int(input()); c = [list(map(int, input().split())) for _ in range(n)]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 = 10**18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 = [[INF] * n for _ in range(1 &lt;&lt; n)]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dp[1][0] = 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mask in range(1 &lt;&lt; n):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u in range(n):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dp[mask][u] == INF: continue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v in range(n):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not mask &gt;&gt; v &amp; 1: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nm = mask | (1 &lt;&lt; v)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dp[nm][v] = min(dp[nm][v], dp[mask][u] + c[u][v])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= (1 &lt;&lt; n) - 1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print(min(dp[full][u] + c[u][0] for u in range(1, n)))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1B2B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38953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096512"/>
            <a:ext cx="375818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输入: n=4 及一个 4×4 费用矩阵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输出: 7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384048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09160" y="3931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已访问集合 + 当前城市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4224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mask 第 i 位是 1 表示城市 i 已访问；从 dp[mask][u] 转移到未访问的 v，n≤18 时 2¹⁸×18×18≈8×10⁷，可过。</a:t>
            </a:r>
            <a:endParaRPr lang="en-US" sz="8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月考讲评 · T6 T30204 小P的LLM推理加速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周期能耗：二分 + 前缀贪心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i 个核的能耗按 xᵢ,yᵢ,xᵢ,yᵢ,... 交替；总预算 m，任意分配任务，求最多完成的总周期数。完成 2q+1 个周期的成本是 q·(xᵢ+yᵢ)+xᵢ。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5394960" cy="2880360"/>
          </a:xfrm>
          <a:prstGeom prst="roundRect">
            <a:avLst>
              <a:gd name="adj" fmla="val 2540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508760"/>
            <a:ext cx="5248656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list(map(int, sys.stdin.buffer.read().split()))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n, budget = data[:2]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sorted(data[i] for i in range(2, 2 * n + 2, 2))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 = min(data[i] + data[i + 1] for i in range(2, 2 * n + 2, 2))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prefix = [0]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v in x: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prefix.append(prefix[-1] + v)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feasible(k):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 = k &amp; 1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best = 10**30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odd in range(start, min(n, k) + 1, 2):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best = min(best, (k - odd) // 2 * pair + prefix[odd])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best &lt;= budget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lo, hi = 0, 2 * budget // pair + n + 1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lo + 1 &lt; hi: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mid = (lo + hi) // 2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feasible(mid): lo = mid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 hi = mid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print(lo)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989320" y="146304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1B2B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99048" y="15179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099048" y="1719072"/>
            <a:ext cx="24780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输入: n=2 m=10 / 4 1 / 3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输出: 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89320" y="2286000"/>
            <a:ext cx="2697480" cy="2057400"/>
          </a:xfrm>
          <a:prstGeom prst="roundRect">
            <a:avLst>
              <a:gd name="adj" fmla="val 3556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26480" y="2377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二分周期数，贪心判可行性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670048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固定周期数 k，让 odd 个核各完成 1 个周期（选 xᵢ 最小的 odd 个），剩下的周期全部以最便宜的二周期组 pair 完成——枚举 odd 找最小总成本，≤ 预算就说明 k 可行。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综合复习清单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到机考前该做的两件事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默写 12 个模板 · 重做错题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综合复习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必须能默写的 12 个模板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594360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模板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周次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快速输入 sys.stdin.read().split()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W4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埃氏筛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W4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一维/二维前缀和 + 差分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W6、W10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多关键字排序 key=lambda x:(a,-b)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W6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归并排序的合并（求逆序对）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W6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单调栈（下一个更大元素）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W7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回溯模板（选择→递归→撤销）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W9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并查集（路径压缩+按大小合并）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W9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0-1 背包（倒序）/ 完全背包（正序）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W11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LIS 的 O(n log n) 写法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W11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BFS（deque + 入队标记）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W12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二分答案（判定 + 上/下取整）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W12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综合复习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高频陷阱清单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188720"/>
            <a:ext cx="36576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忘 int() / 忘 strip()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[[0]*n]*m 的别名陷阱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in list 是 O(n)；list.pop(0) 是 O(n)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浮点用 == 比较；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int(x**0.5)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差 1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回溯忘 path[:] 拷贝 / 忘还原状态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0-1 背包写成正序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1188720"/>
            <a:ext cx="36576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「恰好装满」没用 ±inf 初始化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BFS 出队时才标记 visited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带状态的搜索少加了一维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二分答案的取整方向写反导致死循环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多关键字排序只写了一个 key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输出格式：多余空格 / 换行 / 精度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综合复习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复习节奏建议（本周到机考）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天数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1–2 天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默写 3.1 的 12 个模板，写不出的回去看对应周讲义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3–4 天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重做月考错题（关题解、从空文件写）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5–6 天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按题型各刷 2 题（贪心 / DP / BFS / 回溯 / 并查集 / 二分）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7 天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限时模拟一整套（112 分钟 6 题），只看时间不看对错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考前一天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只整理 cheat sheet，不做新题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✎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本周练习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本周作业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291840"/>
                <a:gridCol w="44805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订正 12 月月考全部未 AC 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三分类 + 关题解重写（W5 第 5 节）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默写 3.1 的 12 个模板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不看讲义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完成十页 A4 cheat sheet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双面，手写或打印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 AI 审查自己的一份 WA 代码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记录它指出的问题里有几条是对的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找出 AI 的一次幻觉并记录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例如让它报 5 个 OJ 题号，逐个验证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完成综合练习 6 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 W13 第 5.2 节的 B / C 组选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本周练习 · 思考题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思考题（1/2）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14300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62763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LLM 在「数一句话里有几个字母 r」这类任务上容易出错？（提示：token 不是字符）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12" name="Shape 10"/>
          <p:cNvSpPr/>
          <p:nvPr/>
        </p:nvSpPr>
        <p:spPr>
          <a:xfrm>
            <a:off x="4828032" y="114300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28032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62763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提示词里加上「不要直接给完整代码」，对你的学习效果有什么影响？试两周再回答。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" y="297180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45643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T2 删数问题的参考解答末尾为什么还要 stack[:-k]？构造一个扫描完 k 仍大于 0 的输入。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28346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  <a:ln/>
        </p:spPr>
      </p:sp>
      <p:sp>
        <p:nvSpPr>
          <p:cNvPr id="20" name="Shape 18"/>
          <p:cNvSpPr/>
          <p:nvPr/>
        </p:nvSpPr>
        <p:spPr>
          <a:xfrm>
            <a:off x="4828032" y="297180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28032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45643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T3 里「相遇同时转身」为什么可以看成「互相穿过」？用 L=5、位置 2 4 手推验证。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本周练习 · 思考题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思考题（2/2）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14300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62763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T5 在 n = 18 时 dp 表有多少个状态？三重循环约多少次运算？Python 跑得完吗？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12" name="Shape 10"/>
          <p:cNvSpPr/>
          <p:nvPr/>
        </p:nvSpPr>
        <p:spPr>
          <a:xfrm>
            <a:off x="4828032" y="114300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28032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62763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T6 固定总周期数 k 时，为什么 odd 必须与 k 同奇偶？可行性为什么对 k 单调、能二分？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" y="297180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45643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注意力机制里的 softmax 为什么要减去最大值？不减会怎样？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2103120"/>
            <a:ext cx="3108960" cy="310896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3444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097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0972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在海量文本上学「下一个 token」的统计规律；四个部件是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分词、词向量、注意力、训练对齐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1993392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8562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85623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源于「训练目标是合理而非正确」；最易错的是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精确标识符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。凡是数字、编号、链接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一律自己验证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2752344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61518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261518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五要素：角色、背景、已有尝试、现象、明确问题；加一句「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只指出问题，不要给完整代码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511296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37413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学术诚信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337413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考试禁用任何 AI 工具；讲不清自己的代码 = 学术不端。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平时自检：关掉窗口，从空文件重写。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33088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4270248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1330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13308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六题错误归因对应六个高频坑；复习就做两件事：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默写 12 个模板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重做错题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下周预告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知识图谱、神经网络等 AI 专题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专题的正片：从图的表示到反向传播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60 行代码手写一个能学习的网络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计算概论（B）第 14 周 AI 素养、12 月月考讲评与综合复习</dc:title>
  <dc:subject>PptxGenJS Presentation</dc:subject>
  <dc:creator>Hongfei Yan</dc:creator>
  <cp:lastModifiedBy>Hongfei Yan</cp:lastModifiedBy>
  <cp:revision>1</cp:revision>
  <dcterms:created xsi:type="dcterms:W3CDTF">2026-10-19T14:44:37Z</dcterms:created>
  <dcterms:modified xsi:type="dcterms:W3CDTF">2026-10-19T14:44:37Z</dcterms:modified>
</cp:coreProperties>
</file>