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计算概论（B） · 第 8 周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相信它，而不是展开它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递归的定义与三法则 · 栈帧与系统调用栈 · 递归深度的两道墙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经典三部曲：斐波那契 · 汉诺塔 · 全排列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分治：快速幂 · 二分查找 · 最大公约数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递归的调试：打印调用树、常见错误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2026 Fall · github.com/GMyhf/2026fall-cs101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写递归时要在脑子里展开每一层吗？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相信它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：只回答「最小情况怎么办」和「更小的问题已解决，怎么拼出答案」。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递归到底会不会「爆栈」？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递归深度有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两道墙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：Python 层计数器（能调）和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调用栈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（调不到）——能不能定量把握。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 / 分治 / 回溯，怎么选？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同一个「调用自己」的机制，用在不同地方就是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递归三部曲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——本周把它们串起来。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5760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4164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 = </a:t>
            </a:r>
            <a:r>
              <a:rPr lang="en-US" sz="14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有基例、向基例逼近、调用自身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；剩下的三法则以外的一切，都是「怎么用好它」。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1–2  是什么 · 会怎样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递归三法则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思维方式：相信它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递归 ⇄ 迭代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栈帧：两道墙、虚拟地址空间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三部曲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斐波那契：重叠子问题 → 记忆化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汉诺塔：指数复杂度的实感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全排列：回溯模板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4–5  分治与调试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分治：快速幂 · 二分查找 · gcd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打印调用树、可视化、常见错误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 · 思考题 · 小结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什么是递归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函数在自己的定义中调用自己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 · 相信它 · 递归 ⇄ 迭代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什么是递归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递归：函数调用自己 + 三法则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factorial(n):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&lt;= 1:  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基例（base case）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1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 * factorial(n - 1)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递归调用，向基例逼近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print(factorial(5))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120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60720" y="1005840"/>
            <a:ext cx="2880360" cy="640080"/>
          </a:xfrm>
          <a:prstGeom prst="roundRect">
            <a:avLst>
              <a:gd name="adj" fmla="val 11429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7044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870448" y="1261872"/>
            <a:ext cx="2660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760720" y="1783080"/>
            <a:ext cx="288036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18745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递归三法则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870448" y="2167128"/>
            <a:ext cx="2660904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必须有基例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——不再递归的终止条件；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必须改变状态并向基例逼近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——否则永远到不了终点；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必须调用自身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0632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1546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缺一不可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344728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三条缺一，就是死循环——Python 里表现为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RecursionError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递归的思维方式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相信它：只回答两个问题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写递归时不要在脑子里展开每一层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344168"/>
            <a:ext cx="8010144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最小的情况怎么办？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（基例）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假设「更小的问题已经解决了」，怎么用它拼出当前问题的答案？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30352" y="2240280"/>
            <a:ext cx="383133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list_sum(a):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a:               </a:t>
            </a:r>
            <a:r>
              <a:rPr lang="en-US" sz="9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1) 空数组和为 0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0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a[0] + list_sum(a[1:])   </a:t>
            </a:r>
            <a:r>
              <a:rPr lang="en-US" sz="9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2) 首元素 + 剩下的和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print(list_sum([1, 3, 5, 7, 9]))    </a:t>
            </a:r>
            <a:r>
              <a:rPr lang="en-US" sz="9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25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4562856" y="2194560"/>
            <a:ext cx="4123944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36008" y="2240280"/>
            <a:ext cx="397764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list_sum2(a, i=0):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(0 if i == len(a)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else a[i] + list_sum2(a, i + 1))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print(list_sum2([1, 3, 5, 7, 9]))   </a:t>
            </a:r>
            <a:r>
              <a:rPr lang="en-US" sz="9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25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457200" y="3913632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40050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例子求和的时间复杂度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29768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左边每层都做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a[1:]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切片（O(n)），整体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O(n²)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。实战里用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而不是切片——右边改成 O(n) 的方式，用一个下标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代替真的切一刀。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递归 ⇄ 迭代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任何递归都能改写成迭代（用显式栈）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递归版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to_base_rec(n, base):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digits = "0123456789ABCDEF"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 base: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digits[n]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to_base_rec(n // base, base) + digits[n % base]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423160"/>
            <a:ext cx="5120640" cy="1572768"/>
          </a:xfrm>
          <a:prstGeom prst="roundRect">
            <a:avLst>
              <a:gd name="adj" fmla="val 465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468880"/>
            <a:ext cx="4974336" cy="1481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迭代版（显式栈）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to_base_iter(n, base):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digits = "0123456789ABCDEF"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== 0: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"0"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stack = []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n: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stack.append(digits[n % base])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 //= base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''.join(reversed(stack))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4069080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41239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25112"/>
            <a:ext cx="4901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to_base_rec(233, 16), to_base_iter(233, 16)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 E9 E9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760720" y="1005840"/>
            <a:ext cx="28803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897880" y="1097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选哪个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870448" y="1389888"/>
            <a:ext cx="2660904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递归代码短、更贴近问题的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数学定义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没有深度限制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、常数更小。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760720" y="2514600"/>
            <a:ext cx="2880360" cy="868680"/>
          </a:xfrm>
          <a:prstGeom prst="roundRect">
            <a:avLst>
              <a:gd name="adj" fmla="val 8421"/>
            </a:avLst>
          </a:prstGeom>
          <a:solidFill>
            <a:srgbClr val="FDF0E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97880" y="26060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经验法则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897880" y="289864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能写成简单循环的，就别用递归。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栈帧：递归为什么会爆栈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系统调用栈 · 递归深度的两道墙 · 进程虚拟地址空间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栈帧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每次函数调用都压入一个栈帧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运行时保存参数、局部变量和返回地址；函数返回时弹出。跟踪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factorial(3)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1732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 factorial(3)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566160" y="1426464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66160" y="1426464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f(3)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251960" y="1426464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</p:sp>
      <p:sp>
        <p:nvSpPr>
          <p:cNvPr id="12" name="Shape 10"/>
          <p:cNvSpPr/>
          <p:nvPr/>
        </p:nvSpPr>
        <p:spPr>
          <a:xfrm>
            <a:off x="4937760" y="1426464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06440" y="141732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1837944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 factorial(2)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566160" y="1847088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66160" y="1847088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f(3)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51960" y="1847088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51960" y="1847088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f(2)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937760" y="1847088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806440" y="183794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向下压栈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2258568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 factorial(1)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566160" y="2267712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566160" y="2267712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f(3)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51960" y="2267712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251960" y="2267712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f(2)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37760" y="2267712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37760" y="2267712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f(1)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806440" y="225856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到达基例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267919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f(1) 返回 1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566160" y="2688336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566160" y="2688336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f(3)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51960" y="2688336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251960" y="2688336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f(2)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937760" y="2688336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806440" y="267919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弹出 f(1)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309981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f(2) 返回 2*1=2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566160" y="3108960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566160" y="3108960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f(3)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251960" y="3108960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</p:sp>
      <p:sp>
        <p:nvSpPr>
          <p:cNvPr id="40" name="Shape 38"/>
          <p:cNvSpPr/>
          <p:nvPr/>
        </p:nvSpPr>
        <p:spPr>
          <a:xfrm>
            <a:off x="4937760" y="3108960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806440" y="309981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弹出 f(2)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352044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f(3) 返回 3*2=6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566160" y="3529584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</p:sp>
      <p:sp>
        <p:nvSpPr>
          <p:cNvPr id="44" name="Shape 42"/>
          <p:cNvSpPr/>
          <p:nvPr/>
        </p:nvSpPr>
        <p:spPr>
          <a:xfrm>
            <a:off x="4251960" y="3529584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</p:sp>
      <p:sp>
        <p:nvSpPr>
          <p:cNvPr id="45" name="Shape 43"/>
          <p:cNvSpPr/>
          <p:nvPr/>
        </p:nvSpPr>
        <p:spPr>
          <a:xfrm>
            <a:off x="4937760" y="3529584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806440" y="35204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弹出 f(3)，栈空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57200" y="3950208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CFE0D8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94360" y="40416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 = 在用系统栈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594360" y="4334256"/>
            <a:ext cx="7955280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栈的空间有限，递归太深就会溢出。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递归深度限制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其实有两道墙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print(sys.getrecursionlimit())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默认 1000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sys.setrecursionlimit(1 &lt;&lt; 20)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OJ 上深递归的常见写法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743200"/>
                <a:gridCol w="2651760"/>
                <a:gridCol w="21031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是什么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撞上去会怎样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setrecursionlimit 管得到吗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墙一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解释器自己数的嵌套层数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抛 RecursionError，看得懂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管得到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墙二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调用栈（主线程通常 8 MB）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段错误，进程直接死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 管不到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37033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3794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墙一本来是护栏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4087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让你在真正撞墙之前，先收到一个能看懂的异常。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setrecursionlimit(1 &lt;&lt; 20)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把护栏挪远了，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墙二一动没动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——调大限制只解除了 Python 层的检查，C 栈仍然有限。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递归深度限制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CPython 3.11 之后，两道墙的位置变了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两处变化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344168"/>
            <a:ext cx="8010144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3.11 起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，「Python 函数调 Python 函数」在解释器主循环内部展开，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不再占用 C 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3.12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又给「确实要走 C 的递归」另设了一道上限，这道上限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setrecursionlimit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管不到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286000"/>
            <a:ext cx="822960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本机实测（CPython 3.12.3 / Linux，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setrecursionlimit(1 &lt;&lt; 20)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之后）：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219456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递归形状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最深能到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加大线程栈到 64 MB 有用吗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纯 Python 递归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 万层照跑（连 32 KB 的线程栈都够）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没有区别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递归穿过 C 代码（如 @lru_cache）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3331 层封顶，抛 RecursionError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没用，还是 3331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457200" y="397764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别当成语言规范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4361688"/>
            <a:ext cx="79552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/>
          </a:lstStyle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这两行数字是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某个环境下的实测值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，换 Python 版本、换评测机都可能不同——这恰恰是不该依赖它的理由。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递归深度限制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什么叫「递归穿过 C 代码」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只要递归的调用链中间夹了一层 C 实现的东西，就会掉进墙二。常见的有：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63040"/>
            <a:ext cx="822960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@lru_cache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@cache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的记忆化搜索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（§3.1 本周就在教，也是最常踩的）；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repr()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一个深度嵌套的列表；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sorted(key=...)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min/max(key=...)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里调用递归函数；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的回溯匹配、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copy.deepcopy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json.dumps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pickle.dumps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383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想自己量一量：二分探深度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675888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probe(make)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：二分出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make()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造出来的递归函数最深能跑到几层——下一页看结果。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递归深度限制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二分探测：纯递归 vs 穿过 lru_cache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21208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06577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probe(make):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"""二分出 make() 造出来的递归函数最深能跑到几层。"""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lo, hi = 1, 100000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lo &lt; hi: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mid = (lo + hi + 1) // 2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 = make()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try: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f(mid); lo = mid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except RecursionError: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hi = mid - 1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lo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plain():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f(n): return 0 if n == 0 else 1 + f(n - 1)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cached():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@functools.lru_cache(maxsize=None)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f(n): return 0 if n == 0 else 1 + f(n - 1)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3429000"/>
          </a:xfrm>
          <a:prstGeom prst="roundRect">
            <a:avLst>
              <a:gd name="adj" fmla="val 2540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1616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916168" y="1216152"/>
            <a:ext cx="2660904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纯 Python 递归 : 100000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（就是探测上界，说明根本没撞墙）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经 lru_cache   : 3331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（撞的是墙二，调多大限制都没用）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递归深度限制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那段线程写法还要不要写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main():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sys.setrecursionlimit(1 &lt;&lt; 20)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... 深递归代码 ...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threading.stack_size(1 &lt;&lt; 26)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64 MB：只对「吃 C 栈」的递归有意义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threading.Thread(target=main)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t.start(); t.join()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2316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环境 / 递归形状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这招有效吗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CPython ≤ 3.10，任意递归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有效——每层调用真的压 C 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CPython 3.11+，纯 Python 递归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没必要——本来就不吃 C 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穿过 C 的递归（lru_cache 那类）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没用——实测加到 64 MB 仍是 3331 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395020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DF0E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40416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别把它当护身符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4334256"/>
            <a:ext cx="79552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/>
          </a:lstStyle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它能不能救你，取决于评测机装的是哪个版本、你的递归是哪种形状——这两件事你都控制不了。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递归深度限制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唯一与版本、评测机都无关的做法：改写成迭代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21208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06577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depth_rec(n):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0 if n == 0 else 1 + depth_rec(n - 1)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depth_iter(n):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"""同一件事的显式栈版本：深度只受内存限制。"""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= 0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stack = [n]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stack: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k = stack.pop()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k: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total +=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stack.append(k - 1)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total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2331720"/>
          </a:xfrm>
          <a:prstGeom prst="roundRect">
            <a:avLst>
              <a:gd name="adj" fmla="val 313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1616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916168" y="1216152"/>
            <a:ext cx="2660904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depth_rec(3000), depth_iter(3000)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 3000 3000  （小深度上两者一致）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depth_iter(10**6)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 1000000    （递归版到不了这里）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47472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5661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深递归题的可靠解法只有一个：显式栈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858768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用显式栈把递归摊平，深度就只受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堆内存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限制，既绕开墙一，也绕开墙二。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setrecursionlimit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threading.stack_size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都是「看运气」的补丁，而且失败的方式（段错误 / RE）恰恰是最难在考场上诊断的那一种。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进程的虚拟地址空间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栈从哪儿来？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11887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高地址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37360" y="1280160"/>
            <a:ext cx="4206240" cy="493776"/>
          </a:xfrm>
          <a:prstGeom prst="roundRect">
            <a:avLst>
              <a:gd name="adj" fmla="val 14815"/>
            </a:avLst>
          </a:prstGeom>
          <a:solidFill>
            <a:srgbClr val="F2F5F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37360" y="1280160"/>
            <a:ext cx="4206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内核区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737360" y="1847088"/>
            <a:ext cx="4206240" cy="493776"/>
          </a:xfrm>
          <a:prstGeom prst="roundRect">
            <a:avLst>
              <a:gd name="adj" fmla="val 14815"/>
            </a:avLst>
          </a:prstGeom>
          <a:solidFill>
            <a:srgbClr val="F1F4F2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737360" y="1847088"/>
            <a:ext cx="4206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Stack  ← 函数调用帧，向下增长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737360" y="2414016"/>
            <a:ext cx="4206240" cy="493776"/>
          </a:xfrm>
          <a:prstGeom prst="roundRect">
            <a:avLst>
              <a:gd name="adj" fmla="val 14815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737360" y="2414016"/>
            <a:ext cx="4206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 Heap  ← 动态分配的对象，向上增长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737360" y="2980944"/>
            <a:ext cx="4206240" cy="493776"/>
          </a:xfrm>
          <a:prstGeom prst="roundRect">
            <a:avLst>
              <a:gd name="adj" fmla="val 14815"/>
            </a:avLst>
          </a:prstGeom>
          <a:solidFill>
            <a:srgbClr val="F2F5F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737360" y="2980944"/>
            <a:ext cx="4206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全局 / 静态数据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737360" y="3547872"/>
            <a:ext cx="4206240" cy="493776"/>
          </a:xfrm>
          <a:prstGeom prst="roundRect">
            <a:avLst>
              <a:gd name="adj" fmla="val 14815"/>
            </a:avLst>
          </a:prstGeom>
          <a:solidFill>
            <a:srgbClr val="F2F5F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737360" y="3547872"/>
            <a:ext cx="4206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代码段 Text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069080"/>
            <a:ext cx="11887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低地址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72200" y="1280160"/>
            <a:ext cx="2514600" cy="1645920"/>
          </a:xfrm>
          <a:prstGeom prst="roundRect">
            <a:avLst>
              <a:gd name="adj" fmla="val 4444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09360" y="13716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vs 堆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281928" y="1664208"/>
            <a:ext cx="2295144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：自动管理，容量小（通常 8 MB），深递归撑爆的就是它；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：手动 / GC 管理，容量大，Python 的列表、字典都在这儿。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72200" y="306324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CFE0D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0936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「虚拟」的含义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3447288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每个进程都以为自己独占整个地址空间，实际由操作系统 + MMU 映射到物理内存——这就是为什么两个程序都能用地址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0x1000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而不冲突。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递归三部曲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斐波那契：重叠子问题 → 记忆化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汉诺塔：指数复杂度的实感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全排列：回溯模板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序曲：斐波那契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02753: 菲波那契数列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cs101.openjudge.cn/practice/02753 —— 定义：F(1) = F(2) = 1，F(n) = F(n−1) + F(n−2)。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63040"/>
            <a:ext cx="4974336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fib_naive(n):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&lt;= 2: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1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fib_naive(n - 1) + fib_naive(n - 2)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print(fib_naive(10))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760720" y="141732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70448" y="14721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870448" y="1673352"/>
            <a:ext cx="2660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55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2148840"/>
            <a:ext cx="288036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97880" y="2240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问题：这是 O(2ⁿ)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253288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同一个子问题被重复计算无数次——下一页画出这棵调用树。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为什么慢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重叠子问题：fib(5) 的调用树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749040" y="105156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749040" y="105156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fib(5)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03120" y="169164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03120" y="169164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fib(4)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394960" y="169164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FDF0E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394960" y="169164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fib(3)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05840" y="233172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5840" y="23317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fib(3)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233172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00400" y="23317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fib(2)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0" y="233172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0" y="23317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fib(2)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233172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17920" y="23317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fib(1)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297180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7200" y="29718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fib(2)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554480" y="297180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554480" y="29718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fib(1)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 flipH="1">
            <a:off x="2468880" y="1435608"/>
            <a:ext cx="1645920" cy="256032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60520" y="1435608"/>
            <a:ext cx="1463040" cy="256032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>
            <a:off x="1280160" y="2075688"/>
            <a:ext cx="1143000" cy="256032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468880" y="2075688"/>
            <a:ext cx="1051560" cy="256032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892040" y="2075688"/>
            <a:ext cx="731520" cy="256032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852160" y="2075688"/>
            <a:ext cx="457200" cy="256032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777240" y="2715768"/>
            <a:ext cx="548640" cy="256032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71600" y="2715768"/>
            <a:ext cx="457200" cy="256032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fib(3) 算了 2 次，fib(2) 算了 3 次——问题规模越大，重复越多。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402336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CFE0D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4360" y="4114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看到重复的子树，就该上记忆化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94360" y="4407408"/>
            <a:ext cx="7955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把「算过的答案」存起来，下次直接查表——这就是下一页的三种修法。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三种修法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记忆化 · 迭代递推 · 自底向上填表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337560"/>
          </a:xfrm>
          <a:prstGeom prst="roundRect">
            <a:avLst>
              <a:gd name="adj" fmla="val 219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3246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functools import lru_cache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@lru_cache(maxsize=None)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修法一：记忆化，O(n)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fib_memo(n):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&lt;= 2: return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fib_memo(n - 1) + fib_memo(n - 2)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fib_iter(n):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修法二：迭代递推，O(n)、O(1) 空间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a, b = 1,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_ in range(n - 2):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a, b = b, a + b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 if n &gt;= 2 else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fib_dp(n): 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修法三：自底向上填表，O(n)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&lt;= 2: return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[0] * (n + 1); dp[1] = dp[2] =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range(3, n + 1):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dp[i] = dp[i - 1] + dp[i - 2]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dp[n]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6355080" y="960120"/>
            <a:ext cx="2331720" cy="1554480"/>
          </a:xfrm>
          <a:prstGeom prst="roundRect">
            <a:avLst>
              <a:gd name="adj" fmla="val 4706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6480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464808" y="1216152"/>
            <a:ext cx="211226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fib_memo(50), fib_iter(50), fib_dp(50)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 12586269025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12586269025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12586269025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（三者一致）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55080" y="2651760"/>
            <a:ext cx="2331720" cy="1645920"/>
          </a:xfrm>
          <a:prstGeom prst="roundRect">
            <a:avLst>
              <a:gd name="adj" fmla="val 444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7432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最划算的一行代码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035808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lru_cache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一个装饰器把指数降成线性。但它要求参数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可哈希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（不能传 list），且缓存会一直占内存。另见 M02786 Pell 数列，同一套路。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第一部：汉诺塔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04147: 汉诺塔问题 (Tower of Hanoi)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题意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44168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n 个盘子从 A 柱移到 C 柱，借助 B 柱；每次只能移一个，大盘不能压在小盘上。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173736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828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递归思路（三步）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2121408"/>
            <a:ext cx="8010144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把上面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n−1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个盘从 A 移到 B（借助 C）；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最大的第 n 个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盘从 A 移到 C；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n−1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个盘从 B 移到 C（借助 A）。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0352" y="3017520"/>
            <a:ext cx="808329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hanoi(n, src, aux, dst, moves):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== 0: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hanoi(n - 1, src, dst, aux, moves)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1) n-1 个到辅助柱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moves.append(f"{n}:{src}-&gt;{dst}")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2) 最大的一个到目标柱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hanoi(n - 1, aux, src, dst, moves)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3) n-1 个从辅助柱到目标柱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汉诺塔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跑一遍 hanoi(3, ...) + 移动次数公式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84048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3694176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moves = []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hanoi(3, 'A', 'B', 'C', moves)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print(len(moves))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m in moves: print(m)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34840" y="960120"/>
            <a:ext cx="2103120" cy="1691640"/>
          </a:xfrm>
          <a:prstGeom prst="roundRect">
            <a:avLst>
              <a:gd name="adj" fmla="val 4324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4456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4544568" y="1216152"/>
            <a:ext cx="188366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1:A-&gt;C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2:A-&gt;B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1:C-&gt;B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3:A-&gt;C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1:B-&gt;A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2:B-&gt;C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1:A-&gt;C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675120" y="960120"/>
            <a:ext cx="201168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1051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移动次数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1344168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T(n) = 2T(n−1) + 1，T(1) = 1  ⟹ 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T(n) = 2ⁿ − 1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30352" y="2834640"/>
            <a:ext cx="4974336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hanoi_count(n):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(1 &lt;&lt; n) - 1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print([hanoi_count(k) for k in range(1, 8)])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760720" y="278892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1B2B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70448" y="28437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5870448" y="3044952"/>
            <a:ext cx="2660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 3, 7, 15, 31, 63, 127]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97764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DF0E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指数复杂度的实感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4361688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传说中的 64 层汉诺塔需要 2⁶⁴−1 ≈ 1.8×10¹⁹ 次移动。每秒一次，需要约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5850 亿年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第二部：全排列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02748: 全排列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21208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06577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permutations(a):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res, used, path = [], [False] * len(a), []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dfs():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len(path) == len(a):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res.append(path[:])       </a:t>
            </a:r>
            <a:r>
              <a:rPr lang="en-US" sz="9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必须拷贝，否则存的是同一个列表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i in range(len(a)):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used[i]: continue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used[i] = True; path.append(a[i])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dfs()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path.pop(); used[i] = False    </a:t>
            </a:r>
            <a:r>
              <a:rPr lang="en-US" sz="9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回溯：撤销选择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dfs()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 in permutations([1, 2, 3]):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print(''.join(map(str, p)), end=' ')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1616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916168" y="1216152"/>
            <a:ext cx="26609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123 132 213 231 312 321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1645920"/>
            <a:ext cx="2880360" cy="21488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17373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三个必须记住的细节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16168" y="2029968"/>
            <a:ext cx="266090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3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res.append(path[:])</a:t>
            </a:r>
            <a:r>
              <a:rPr lang="en-US" sz="10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3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不拷贝就全是同一个空列表</a:t>
            </a:r>
            <a:r>
              <a:rPr lang="en-US" sz="10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0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3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path.pop()</a:t>
            </a:r>
            <a:r>
              <a:rPr lang="en-US" sz="10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3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used[i]=False</a:t>
            </a:r>
            <a:r>
              <a:rPr lang="en-US" sz="10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3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回溯要把状态还原</a:t>
            </a:r>
            <a:r>
              <a:rPr lang="en-US" sz="10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0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 </a:t>
            </a:r>
            <a:r>
              <a:rPr lang="en-US" sz="103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O(n! · n)</a:t>
            </a:r>
            <a:r>
              <a:rPr lang="en-US" sz="10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，n ≤ 10 才可行（第 4 周的范围表）。</a:t>
            </a:r>
            <a:endParaRPr lang="en-US" sz="103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全排列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内建也提供全排列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itertools import permutations as it_perm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print([''.join(map(str, p)) for p in it_perm([1, 2, 3])])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['123', '132', '213', '231', '312', '321']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2377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但考试要会手写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67004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9 周的回溯（八皇后、组合、子集）全建立在 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dfs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这个模板上——「选择 → 递归 → 撤销」三步，itertools 帮不了你现场推导。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分治：递归的另一种用法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分成子问题 → 治（递归解决）→ 合并答案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 · 快速排序 · 二分查找 · 快速幂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分治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分（Divide）→ 治（Conquer）→ 合（Combine）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377440"/>
                <a:gridCol w="237744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算法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复杂度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归并排序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对半切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合并两个有序表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快速排序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 pivot 划分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无需合并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 O(n log n)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二分查找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只保留半边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无需合并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快速幂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指数减半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611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本节讲后两个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99592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归并、快排留到第 6、7 周排序专题——这里聚焦「分治」这个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思维模式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本身：快速幂与二分查找。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快速幂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指数减半：O(log b) 求 aᵇ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fast_pow(a, b, mod=None):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"""计算 a^b（可选取模），O(log b)。"""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b == 0: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1 % mod if mod else 1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half = fast_pow(a, b // 2, mod)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 = half * half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b &amp; 1: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 *= a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 % mod if mod else res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60720" y="1005840"/>
            <a:ext cx="2880360" cy="1965960"/>
          </a:xfrm>
          <a:prstGeom prst="roundRect">
            <a:avLst>
              <a:gd name="adj" fmla="val 3721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7044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870448" y="1261872"/>
            <a:ext cx="266090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fast_pow(2, 10) -&gt; 1024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fast_pow(3, 100, 1e9+7) -&gt; 886041711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pow(3, 100, 1e9+7)      -&gt; 886041711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2461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内建就是快速幂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53872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内建的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pow(a, b, mod)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就是快速幂，直接用即可——手写一遍是为了看懂「指数减半」这个分治思路。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二分查找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只保留半边，O(log n)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binary_search(a, target):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lo, hi = 0, len(a) - 1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lo &lt;= hi: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mid = (lo + hi) // 2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a[mid] == target: return mid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a[mid] &lt; target: lo = mid + 1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 hi = mid - 1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-1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[1, 3, 5, 7, 9, 11]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print(binary_search(a, 7), binary_search(a, 4))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3 -1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871216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求「第一个 ≥ target 的位置」（更常用的形态）：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145536"/>
            <a:ext cx="5120640" cy="1444752"/>
          </a:xfrm>
          <a:prstGeom prst="roundRect">
            <a:avLst>
              <a:gd name="adj" fmla="val 5063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30352" y="3191256"/>
            <a:ext cx="4974336" cy="1353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bisect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lower_bound(a, target):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lo, hi = 0, len(a)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lo &lt; hi: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mid = (lo + hi) // 2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a[mid] &lt; target: lo = mid + 1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 hi = mid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lo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[1, 3, 5, 7, 9]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print(lower_bound(a, 5), bisect.bisect_left(a, 5))   </a:t>
            </a:r>
            <a:r>
              <a:rPr lang="en-US" sz="8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 2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5760720" y="3145536"/>
            <a:ext cx="288036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323697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模板选择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3529584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 &lt; hi</a:t>
            </a:r>
            <a:r>
              <a:rPr lang="en-US" sz="9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93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 = mid</a:t>
            </a:r>
            <a:r>
              <a:rPr lang="en-US" sz="9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这一版</a:t>
            </a:r>
            <a:r>
              <a:rPr lang="en-US" sz="93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不会死循环，也不会漏边界</a:t>
            </a:r>
            <a:r>
              <a:rPr lang="en-US" sz="9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。建议只记这一版；需要「最后一个 ≤ target」时用 </a:t>
            </a:r>
            <a:r>
              <a:rPr lang="en-US" sz="93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lower_bound(a, target+1) - 1</a:t>
            </a:r>
            <a:r>
              <a:rPr lang="en-US" sz="9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3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 最大公约数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03248: 最大公约数 —— 辗转相除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gcd(a, b):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 if b == 0 else gcd(b, a % b)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lcm(a, b):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 // gcd(a, b) * b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先除后乘，避免溢出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print(gcd(12, 18), lcm(4, 6))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 12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60720" y="100584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7044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870448" y="1261872"/>
            <a:ext cx="2660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6 12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2880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gcd(a,b) = gcd(b, a%b)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17296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和 b 的公约数集合，与 b 和 a mod b 的公约数集合完全相同——因为 a = kb + r，任何同时整除 b 和 r 的数也整除 a。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递归的调试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打印调用树 · 可视化 · 常见错误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 打印调用树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缩进就是栈深度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fib_trace(n, depth=0):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  " * depth + f"fib({n})")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&lt;= 2: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fib_trace(n - 1, depth + 1) + fib_trace(n - 2, depth + 1)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fib_trace(4)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760720" y="1005840"/>
            <a:ext cx="2880360" cy="1600200"/>
          </a:xfrm>
          <a:prstGeom prst="roundRect">
            <a:avLst>
              <a:gd name="adj" fmla="val 4571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7044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870448" y="1261872"/>
            <a:ext cx="2660904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fib(4)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fib(3)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fib(2)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fib(1)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fib(2)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108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看到重复的子树，就该上记忆化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40156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调用树里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fib(2)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出现了不止一次——这正是 §3.1 里「重叠子问题」的直接证据。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5.2–5.3 可视化与常见错误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pythontutor.com 逐步展示栈帧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推荐工具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4416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pythontutor.com 能逐步展示栈帧的压入与弹出——理解递归最快的工具，强烈建议把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factorial(4)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hanoi(3,...)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各跑一遍。</a:t>
            </a:r>
            <a:endParaRPr lang="en-US" sz="12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5720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症状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RecursionError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没有基例，或没向基例逼近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结果全一样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收集答案时忘了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path[:]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拷贝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结果多了 / 少了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忘了回溯（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pop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/ 状态还原）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TLE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有重叠子问题却没记忆化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RE（评测机上，且没有 traceback）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递归太深撞穿 C 栈（§2.2 墙二）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道题：从记忆化到回溯模板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200400"/>
                <a:gridCol w="1554480"/>
                <a:gridCol w="292608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菲波那契数列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02753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 + 记忆化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Pell 数列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M02786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汉诺塔问题(Tower of Hanoi)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04147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递归三步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全排列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02748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回溯模板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最大公约数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03248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辗转相除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递归比较字符串大小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28717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递归定义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放苹果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01664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递归计数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简单的整数划分问题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04117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 + 记忆化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9*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Help Jimmy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T01661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 + 记忆化（难）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10*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汉诺塔的移动次数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 </a:t>
                      </a:r>
                      <a:r>
                        <a:rPr lang="en-US" sz="11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2**n-1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验证 §3.2 的推导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3708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选做。编号前带字母：cs101.openjudge.cn。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思考题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五道思考题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1170432"/>
          </a:xfrm>
          <a:prstGeom prst="roundRect">
            <a:avLst>
              <a:gd name="adj" fmla="val 6250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097280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0972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78992" y="107899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调用次数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46304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fib_naive(n)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一共调用了多少次自身？（提示：与 F(n) 本身同阶）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960120"/>
            <a:ext cx="4023360" cy="1170432"/>
          </a:xfrm>
          <a:prstGeom prst="roundRect">
            <a:avLst>
              <a:gd name="adj" fmla="val 6250"/>
            </a:avLst>
          </a:prstGeom>
          <a:solidFill>
            <a:srgbClr val="FFF6E0"/>
          </a:solidFill>
          <a:ln/>
        </p:spPr>
      </p:sp>
      <p:sp>
        <p:nvSpPr>
          <p:cNvPr id="13" name="Shape 11"/>
          <p:cNvSpPr/>
          <p:nvPr/>
        </p:nvSpPr>
        <p:spPr>
          <a:xfrm>
            <a:off x="4828032" y="1097280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28032" y="10972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85232" y="107899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46304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list_sum(a[1:])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O(n²)？改成传下标后是多少？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221992"/>
            <a:ext cx="4023360" cy="1170432"/>
          </a:xfrm>
          <a:prstGeom prst="roundRect">
            <a:avLst>
              <a:gd name="adj" fmla="val 6250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" y="2359152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" y="2359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78992" y="2340864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数学归纳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2724912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汉诺塔 T(n) = 2T(n−1) + 1，用数学归纳法证明 T(n) = 2ⁿ − 1。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63440" y="2221992"/>
            <a:ext cx="4023360" cy="1170432"/>
          </a:xfrm>
          <a:prstGeom prst="roundRect">
            <a:avLst>
              <a:gd name="adj" fmla="val 6250"/>
            </a:avLst>
          </a:prstGeom>
          <a:solidFill>
            <a:srgbClr val="FFF6E0"/>
          </a:solidFill>
          <a:ln/>
        </p:spPr>
      </p:sp>
      <p:sp>
        <p:nvSpPr>
          <p:cNvPr id="23" name="Shape 21"/>
          <p:cNvSpPr/>
          <p:nvPr/>
        </p:nvSpPr>
        <p:spPr>
          <a:xfrm>
            <a:off x="4828032" y="2359152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28032" y="2359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285232" y="2340864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溢出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846320" y="2724912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二分查找的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mid = (lo+hi)//2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 C++ 里可能溢出，应该怎么写？Python 为什么不用担心？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3483864"/>
            <a:ext cx="4023360" cy="1170432"/>
          </a:xfrm>
          <a:prstGeom prst="roundRect">
            <a:avLst>
              <a:gd name="adj" fmla="val 6250"/>
            </a:avLst>
          </a:prstGeom>
          <a:solidFill>
            <a:srgbClr val="F1F4F2"/>
          </a:solidFill>
          <a:ln/>
        </p:spPr>
      </p:sp>
      <p:sp>
        <p:nvSpPr>
          <p:cNvPr id="28" name="Shape 26"/>
          <p:cNvSpPr/>
          <p:nvPr/>
        </p:nvSpPr>
        <p:spPr>
          <a:xfrm>
            <a:off x="621792" y="3621024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1792" y="36210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78992" y="360273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改写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3986784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把汉诺塔改写成非递归版本（用显式栈），验证移动序列与递归版完全一致。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有基例、向基例逼近、调用自身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。写的时候只想两层，不要在脑子里展开。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两道墙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层计数器（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setrecursionlimit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管得到）和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调用栈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（管不到）；穿过 C 的递归另有一道调不动的上限。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深递归唯一可靠的解法是显式栈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三部曲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斐波那契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（重叠子问题 → 记忆化）、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汉诺塔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（2ⁿ−1，指数的实感）、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全排列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（回溯模板：选择 → 递归 → 撤销）。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分治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 + 治 + 合：归并、快排、二分、快速幂。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回溯两个必犯错误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忘拷贝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path[:]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忘还原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pop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下周预告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递归、回溯与并查集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把递归用到底——回溯（八皇后、马走日、组合与子集）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与并查集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计算概论（B）第 8 周 递归</dc:title>
  <dc:subject>PptxGenJS Presentation</dc:subject>
  <dc:creator>Hongfei Yan</dc:creator>
  <cp:lastModifiedBy>Hongfei Yan</cp:lastModifiedBy>
  <cp:revision>1</cp:revision>
  <dcterms:created xsi:type="dcterms:W3CDTF">2026-09-22T06:21:20Z</dcterms:created>
  <dcterms:modified xsi:type="dcterms:W3CDTF">2026-09-22T06:21:20Z</dcterms:modified>
</cp:coreProperties>
</file>