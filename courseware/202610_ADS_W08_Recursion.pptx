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8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相信它，而不是展开它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递归的定义与三法则 · 栈帧与系统调用栈 · 递归深度的两道墙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经典三部曲：斐波那契 · 汉诺塔 · 全排列（决策树与 DFS）· 子集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分治：快速幂 · 二分查找 · 最大公约数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递归的调试：打印调用树、常见错误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写递归时要在脑子里展开每一层吗？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相信它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：只回答「最小情况怎么办」和「更小的问题已解决，怎么拼出答案」。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递归到底会不会「爆栈」？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递归深度有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两道墙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：Python 层计数器（能调）和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调用栈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（调不到）——能不能定量把握。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 / 分治 / 回溯，怎么选？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同一个「调用自己」的机制，用在不同地方就是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递归三部曲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——本周把它们串起来。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41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 = </a:t>
            </a:r>
            <a:r>
              <a:rPr lang="en-US" sz="14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有基例、向基例逼近、调用自身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；剩下的三法则以外的一切，都是「怎么用好它」。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  是什么 · 会怎样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递归三法则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思维方式：相信它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递归 ⇄ 迭代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栈帧：两道墙、虚拟地址空间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三部曲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斐波那契：重叠子问题 → 记忆化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汉诺塔：指数复杂度的实感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全排列：决策树 · DFS · 回溯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子集：选或不选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4–5  分治与调试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分治：快速幂 · 二分查找 · gcd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打印调用树、可视化、常见错误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 · 思考题 · 小结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什么是递归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函数在自己的定义中调用自己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 · 相信它 · 递归 ⇄ 迭代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什么是递归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递归：函数调用自己 + 三法则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基例（base case）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递归调用，向基例逼近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print(factorial(5))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88036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261872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78308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递归三法则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2167128"/>
            <a:ext cx="2660904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必须有基例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——不再递归的终止条件；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必须改变状态并向基例逼近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——否则永远到不了终点；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必须调用自身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154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缺一不可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4472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三条缺一，就是死循环——Python 里表现为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递归的思维方式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相信它：只回答两个问题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写递归时不要在脑子里展开每一层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44168"/>
            <a:ext cx="8010144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最小的情况怎么办？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（基例）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假设「更小的问题已经解决了」，怎么用它拼出当前问题的答案？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" y="2240280"/>
            <a:ext cx="3831336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list_sum(a):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a:           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空数组和为 0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a[0] + list_sum(a[1:])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首元素 + 剩下的和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print(list_sum([1, 3, 5, 7, 9]))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25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62856" y="2194560"/>
            <a:ext cx="4123944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36008" y="2240280"/>
            <a:ext cx="39776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list_sum2(a, i=0):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(0 if i == len(a)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a[i] + list_sum2(a, i + 1))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print(list_sum2([1, 3, 5, 7, 9]))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25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0050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例子求和的时间复杂度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左边每层都做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a[1:]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切片（O(n)），整体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O(n²)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。实战里用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而不是切片——右边改成 O(n) 的方式，用一个下标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代替真的切一刀。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递归 ⇄ 迭代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任何递归都能改写成迭代（用显式栈）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递归版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to_base_rec(n, base):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digits = "0123456789ABCDEF"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 base: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digits[n]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to_base_rec(n // base, base) + digits[n % base]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468880"/>
            <a:ext cx="4974336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迭代版（显式栈）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to_base_iter(n, base):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digits = "0123456789ABCDEF"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"0"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stack.append(digits[n % base])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//= base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''.join(reversed(stack))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41239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325112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to_base_rec(233, 16), to_base_iter(233, 16)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E9 E9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100584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97880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选哪个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1389888"/>
            <a:ext cx="26609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递归代码短、更贴近问题的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数学定义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没有深度限制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、常数更小。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2514600"/>
            <a:ext cx="2880360" cy="868680"/>
          </a:xfrm>
          <a:prstGeom prst="roundRect">
            <a:avLst>
              <a:gd name="adj" fmla="val 8421"/>
            </a:avLst>
          </a:prstGeom>
          <a:solidFill>
            <a:srgbClr val="FDF0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9788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经验法则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2898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能写成简单循环的，就别用递归。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栈帧：递归为什么会爆栈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系统调用栈 · 递归深度的两道墙 · 进程虚拟地址空间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栈帧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每次函数调用都压入一个栈帧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运行时保存参数、局部变量和返回地址；函数返回时弹出。跟踪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factorial(3)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factorial(3)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42646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42646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42646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42646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8379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factorial(2)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1847088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6160" y="184708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847088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51960" y="184708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f(2)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847088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06440" y="1837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向下压栈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258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factorial(1)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2267712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66160" y="226771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2267712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51960" y="226771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267712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37760" y="226771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f(1)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2258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到达基例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679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f(1) 返回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2688336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66160" y="268833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f(3)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2688336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51960" y="268833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f(2)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688336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806440" y="2679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 f(1)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099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f(2) 返回 2*1=2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3108960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CFE0D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566160" y="310896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f(3)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51960" y="3108960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40" name="Shape 38"/>
          <p:cNvSpPr/>
          <p:nvPr/>
        </p:nvSpPr>
        <p:spPr>
          <a:xfrm>
            <a:off x="4937760" y="3108960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80644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 f(2)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520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f(3) 返回 3*2=6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66160" y="352958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44" name="Shape 42"/>
          <p:cNvSpPr/>
          <p:nvPr/>
        </p:nvSpPr>
        <p:spPr>
          <a:xfrm>
            <a:off x="4251960" y="352958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45" name="Shape 43"/>
          <p:cNvSpPr/>
          <p:nvPr/>
        </p:nvSpPr>
        <p:spPr>
          <a:xfrm>
            <a:off x="4937760" y="3529584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F2F5F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0644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 f(3)，栈空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95020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FE0D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94360" y="40416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 = 在用系统栈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94360" y="4334256"/>
            <a:ext cx="79552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栈的空间有限，递归太深就会溢出。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递归深度限制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其实有两道墙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print(sys.getrecursionlimit())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默认 1000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sys.setrecursionlimit(1 &lt;&lt; 20)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OJ 上深递归的常见写法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265176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撞上去会怎样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setrecursionlimit 管得到吗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墙一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解释器自己数的嵌套层数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抛 RecursionError，看得懂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管得到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墙二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调用栈（主线程通常 8 MB）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段错误，进程直接死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管不到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墙一本来是护栏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087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让你在真正撞墙之前，先收到一个能看懂的异常。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setrecursionlimit(1 &lt;&lt; 20)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把护栏挪远了，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墙二一动没动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——调大限制只解除了 Python 层的检查，C 栈仍然有限。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递归深度限制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 之后，两道墙的位置变了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两处变化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44168"/>
            <a:ext cx="801014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3.11 起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，「Python 函数调 Python 函数」在解释器主循环内部展开，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不再占用 C 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3.12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又给「确实要走 C 的递归」另设了一道上限，这道上限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setrecursionlimit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管不到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本机实测（CPython 3.12.3 / Linux，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setrecursionlimit(1 &lt;&lt; 20)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之后）：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递归形状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最深能到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加大线程栈到 64 MB 有用吗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 Python 递归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万层照跑（连 32 KB 的线程栈都够）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没有区别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递归穿过 C 代码（如 @lru_cache）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3331 层封顶，抛 RecursionError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没用，还是 3331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别当成语言规范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361688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/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这两行数字是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某个环境下的实测值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，换 Python 版本、换评测机都可能不同——这恰恰是不该依赖它的理由。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递归深度限制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什么叫「递归穿过 C 代码」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只要递归的调用链中间夹了一层 C 实现的东西，就会掉进墙二。常见的有：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@cache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的记忆化搜索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（§3.1 本周就在教，也是最常踩的）；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repr()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一个深度嵌套的列表；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sorted(key=...)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min/max(key=...)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里调用递归函数；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的回溯匹配、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copy.deepcopy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pickle.dumps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想自己量一量：二分探深度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7588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probe(make)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：二分出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造出来的递归函数最深能跑到几层——下一页看结果。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递归深度限制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二分探测：纯递归 vs 穿过 lru_cache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06577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probe(make):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"""二分出 make() 造出来的递归函数最深能跑到几层。"""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1, 100000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 hi: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 + 1) // 2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 = make()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f(mid); lo = mid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RecursionError: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= mid - 1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plain():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f(n): return 0 if n == 0 else 1 + f(n - 1)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cached():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@functools.lru_cache(maxsize=None)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f(n): return 0 if n == 0 else 1 + f(n - 1)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880360" cy="3429000"/>
          </a:xfrm>
          <a:prstGeom prst="roundRect">
            <a:avLst>
              <a:gd name="adj" fmla="val 2540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161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216152"/>
            <a:ext cx="2660904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纯 Python 递归 : 100000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（就是探测上界，说明根本没撞墙）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经 lru_cache   : 3331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（撞的是墙二，调多大限制都没用）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递归深度限制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那段线程写法还要不要写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sys.setrecursionlimit(1 &lt;&lt; 20)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深递归代码 ...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threading.stack_size(1 &lt;&lt; 26)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64 MB：只对「吃 C 栈」的递归有意义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threading.Thread(target=main)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 t.join()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 / 递归形状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这招有效吗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CPython ≤ 3.10，任意递归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有效——每层调用真的压 C 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CPython 3.11+，纯 Python 递归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没必要——本来就不吃 C 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穿过 C 的递归（lru_cache 那类）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没用——实测加到 64 MB 仍是 3331 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5020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F0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40416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别把它当护身符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334256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/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它能不能救你，取决于评测机装的是哪个版本、你的递归是哪种形状——这两件事你都控制不了。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递归深度限制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唯一与版本、评测机都无关的做法：改写成迭代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06577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depth_rec(n):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 if n == 0 else 1 + depth_rec(n - 1)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depth_iter(n):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"""同一件事的显式栈版本：深度只受内存限制。"""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[n]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stack: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 = stack.pop()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stack.append(k - 1)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880360" cy="2331720"/>
          </a:xfrm>
          <a:prstGeom prst="roundRect">
            <a:avLst>
              <a:gd name="adj" fmla="val 313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161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216152"/>
            <a:ext cx="266090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depth_rec(3000), depth_iter(3000)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3000 3000  （小深度上两者一致）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depth_iter(10**6)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1000000    （递归版到不了这里）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566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深递归题的可靠解法只有一个：显式栈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5876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用显式栈把递归摊平，深度就只受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堆内存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限制，既绕开墙一，也绕开墙二。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setrecursionlimit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threading.stack_size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都是「看运气」的补丁，而且失败的方式（段错误 / RE）恰恰是最难在考场上诊断的那一种。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进程的虚拟地址空间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栈从哪儿来？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高地址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1280160"/>
            <a:ext cx="4206240" cy="493776"/>
          </a:xfrm>
          <a:prstGeom prst="roundRect">
            <a:avLst>
              <a:gd name="adj" fmla="val 14815"/>
            </a:avLst>
          </a:prstGeom>
          <a:solidFill>
            <a:srgbClr val="F2F5F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128016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1847088"/>
            <a:ext cx="4206240" cy="493776"/>
          </a:xfrm>
          <a:prstGeom prst="roundRect">
            <a:avLst>
              <a:gd name="adj" fmla="val 14815"/>
            </a:avLst>
          </a:prstGeom>
          <a:solidFill>
            <a:srgbClr val="F1F4F2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184708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Stack  ← 函数调用帧，向下增长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2414016"/>
            <a:ext cx="4206240" cy="493776"/>
          </a:xfrm>
          <a:prstGeom prst="roundRect">
            <a:avLst>
              <a:gd name="adj" fmla="val 14815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41401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 Heap  ← 动态分配的对象，向上增长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2980944"/>
            <a:ext cx="4206240" cy="493776"/>
          </a:xfrm>
          <a:prstGeom prst="roundRect">
            <a:avLst>
              <a:gd name="adj" fmla="val 14815"/>
            </a:avLst>
          </a:prstGeom>
          <a:solidFill>
            <a:srgbClr val="F2F5F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298094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/ 静态数据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3547872"/>
            <a:ext cx="4206240" cy="493776"/>
          </a:xfrm>
          <a:prstGeom prst="roundRect">
            <a:avLst>
              <a:gd name="adj" fmla="val 14815"/>
            </a:avLst>
          </a:prstGeom>
          <a:solidFill>
            <a:srgbClr val="F2F5F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354787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代码段 Text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低地址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28016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vs 堆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1664208"/>
            <a:ext cx="2295144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：自动管理，容量小（通常 8 MB），深递归撑爆的就是它；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：手动 / GC 管理，容量大，Python 的列表、字典都在这儿。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0632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「虚拟」的含义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44728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每个进程都以为自己独占整个地址空间，实际由操作系统 + MMU 映射到物理内存——这就是为什么两个程序都能用地址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而不冲突。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递归三部曲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斐波那契：重叠子问题 → 记忆化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汉诺塔：指数复杂度的实感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全排列：决策树 + DFS = 回溯模板；补充：子集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序曲：斐波那契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02753: 菲波那契数列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cs101.openjudge.cn/practice/02753 —— 定义：F(1) = F(2) = 1，F(n) = F(n−1) + F(n−2)。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63040"/>
            <a:ext cx="4974336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fib_naive(n - 1) + fib_naive(n - 2)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print(fib_naive(10))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41732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70448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870448" y="167335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1488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问题：这是 O(2ⁿ)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5328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同一个子问题被重复计算无数次——下一页画出这棵调用树。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为什么慢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重叠子问题：fib(5) 的调用树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49040" y="105156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49040" y="1051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6916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0312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6916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DF0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9496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33172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33172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0040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3172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3172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fib(1)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2971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fib(2)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297180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54480" y="2971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fib(1)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2468880" y="1435608"/>
            <a:ext cx="164592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0520" y="1435608"/>
            <a:ext cx="146304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1280160" y="2075688"/>
            <a:ext cx="114300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2075688"/>
            <a:ext cx="105156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4892040" y="2075688"/>
            <a:ext cx="73152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2075688"/>
            <a:ext cx="45720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777240" y="2715768"/>
            <a:ext cx="54864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2715768"/>
            <a:ext cx="457200" cy="256032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fib(3) 算了 2 次，fib(2) 算了 3 次——问题规模越大，重复越多。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看到重复的子树，就该上记忆化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440740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把「算过的答案」存起来，下次直接查表——这就是下一页的三种修法。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三种修法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记忆化 · 迭代递推 · 自底向上填表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337560"/>
          </a:xfrm>
          <a:prstGeom prst="roundRect">
            <a:avLst>
              <a:gd name="adj" fmla="val 219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修法一：记忆化，O(n)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 return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fib_memo(n - 1) + fib_memo(n - 2)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fib_iter(n):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修法二：迭代递推，O(n)、O(1) 空间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1,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 - 2):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 if n &gt;= 2 else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fib_dp(n):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修法三：自底向上填表，O(n)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 return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+ 1); dp[1] = dp[2] 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range(3, n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 - 1] + dp[i - 2]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355080" y="96012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480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1216152"/>
            <a:ext cx="21122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fib_memo(50), fib_iter(50), fib_dp(50)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12586269025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12586269025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12586269025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（三者一致）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2651760"/>
            <a:ext cx="2331720" cy="1645920"/>
          </a:xfrm>
          <a:prstGeom prst="roundRect">
            <a:avLst>
              <a:gd name="adj" fmla="val 444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最划算的一行代码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03580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lru_cache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一个装饰器把指数降成线性。但它要求参数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可哈希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（不能传 list），且缓存会一直占内存。另见 M02786 Pell 数列，同一套路。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第一部：汉诺塔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04147: 汉诺塔问题 (Tower of Hanoi)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题意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4416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n 个盘子从 A 柱移到 C 柱，借助 B 柱；每次只能移一个，大盘不能压在小盘上。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828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递归思路（三步）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121408"/>
            <a:ext cx="8010144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把上面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个盘从 A 移到 B（借助 C）；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最大的第 n 个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盘从 A 移到 C；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个盘从 B 移到 C（借助 A）。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" y="3017520"/>
            <a:ext cx="808329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hanoi(n, src, aux, dst, moves):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hanoi(n - 1, src, dst, aux, moves)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n-1 个到辅助柱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moves.append(f"{n}:{src}-&gt;{dst}")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最大的一个到目标柱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hanoi(n - 1, aux, src, dst, moves)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n-1 个从辅助柱到目标柱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汉诺塔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跑一遍 hanoi(3, ...) + 移动次数公式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36941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moves = []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hanoi(3, 'A', 'B', 'C', moves)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print(len(moves))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 in moves: print(m)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96012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445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1216152"/>
            <a:ext cx="188366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1:A-&gt;C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2:A-&gt;B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1:C-&gt;B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3:A-&gt;C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1:B-&gt;A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2:B-&gt;C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1:A-&gt;C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9601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移动次数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3441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T(n) = 2T(n−1) + 1，T(1) = 1  ⟹ 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T(n) = 2ⁿ − 1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" y="2834640"/>
            <a:ext cx="497433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hanoi_count(n):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(1 &lt;&lt; n) - 1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print([hanoi_count(k) for k in range(1, 8)])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278892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70448" y="2843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304495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3, 7, 15, 31, 63, 127]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0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指数复杂度的实感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3616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传说中的 64 层汉诺塔需要 2⁶⁴−1 ≈ 1.8×10¹⁹ 次移动。每秒一次，需要约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5850 亿年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预备知识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树与决策树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FAFCFB"/>
          </a:solidFill>
          <a:ln w="12700">
            <a:solidFill>
              <a:srgbClr val="CFE0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树：节点 + 边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173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层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层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7889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flipH="1">
            <a:off x="2057400" y="1682496"/>
            <a:ext cx="68580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682496"/>
            <a:ext cx="68580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645920" y="2368296"/>
            <a:ext cx="41148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2368296"/>
            <a:ext cx="41148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368296"/>
            <a:ext cx="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3716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14600" y="13716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20574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828800" y="20574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0574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00400" y="20574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17320" y="27432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417320" y="27432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27432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240280" y="27432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27432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00400" y="27432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1389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根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154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是 D、E 的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父节点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；D、E 是 B 的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子节点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D、E、F 没有子节点，叫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43400" y="960120"/>
            <a:ext cx="4343400" cy="2743200"/>
          </a:xfrm>
          <a:prstGeom prst="roundRect">
            <a:avLst>
              <a:gd name="adj" fmla="val 2667"/>
            </a:avLst>
          </a:prstGeom>
          <a:solidFill>
            <a:srgbClr val="FAFCFB"/>
          </a:solidFill>
          <a:ln w="12700">
            <a:solidFill>
              <a:srgbClr val="CFE0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决策树：一步一步做选择（出门穿搭）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flipH="1">
            <a:off x="5532120" y="1682496"/>
            <a:ext cx="96012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1682496"/>
            <a:ext cx="100584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4914900" y="2368296"/>
            <a:ext cx="61722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2368296"/>
            <a:ext cx="38862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6972300" y="2368296"/>
            <a:ext cx="52578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2368296"/>
            <a:ext cx="52578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13716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080760" y="1371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20640" y="20574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120640" y="20574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白T恤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86600" y="20574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086600" y="20574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衬衫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34840" y="2743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34840" y="27432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白T+牛仔裤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40680" y="2743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440680" y="27432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白T+短裤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2743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92240" y="27432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衬衫+牛仔裤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43800" y="2743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543800" y="27432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衬衫+短裤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448056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先选上衣（2 种），再选裤子（2 种）：2 × 2 = 4 个叶子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38404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8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决策树的四个对应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594360" y="42245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做到一半的状态 ·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一次选择 ·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全部选完 ·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→ 叶子的一条路径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一个完整方案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预备知识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DFS：一条路走到底，再退回岔路口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FAFCFB"/>
          </a:solidFill>
          <a:ln w="12700">
            <a:solidFill>
              <a:srgbClr val="CFE0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蓝圈数字 = DFS 访问顺序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2057400" y="1682496"/>
            <a:ext cx="68580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682496"/>
            <a:ext cx="68580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645920" y="2368296"/>
            <a:ext cx="41148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368296"/>
            <a:ext cx="41148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368296"/>
            <a:ext cx="0" cy="374904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3716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14600" y="13716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0574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828800" y="20574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0574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20574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17320" y="27432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417320" y="27432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0280" y="27432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240280" y="27432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00400" y="27432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90088" y="1216152"/>
            <a:ext cx="256032" cy="256032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990088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04288" y="1901952"/>
            <a:ext cx="256032" cy="256032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04288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92808" y="2587752"/>
            <a:ext cx="256032" cy="256032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89280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15768" y="2587752"/>
            <a:ext cx="256032" cy="256032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71576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75888" y="1901952"/>
            <a:ext cx="256032" cy="256032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675888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75888" y="2587752"/>
            <a:ext cx="256032" cy="256032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7588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3154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DFS：A B D E C F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BFS（一层一层）：A B C D E 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43400" y="96012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416552" y="1005840"/>
            <a:ext cx="419709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dfs(node):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visit(node)              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访问当前节点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child in node.children: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dfs(child)           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调用 = 往下走一层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函数返回 = 退回上一层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4343400" y="228600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480560" y="2377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递归就是天然的 DFS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453128" y="2670048"/>
            <a:ext cx="4123944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调用一次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dfs(child)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往下走一层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函数返回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退回上一层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，回到岔路口换下一个孩子；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 D 时栈里是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dfs(A)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dfs(B)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dfs(D)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正是根到 D 的路径。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8404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像走迷宫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" y="42245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沿一条路走到底；走到尽头，就退回最近的岔路口，换一条没走过的路 —— 这就是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深度优先搜索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（Depth-First Search）。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第二部：全排列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全排列的决策树：叶子就是答案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flipH="1">
            <a:off x="2368296" y="1335024"/>
            <a:ext cx="2432304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35024"/>
            <a:ext cx="0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335024"/>
            <a:ext cx="2432304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760220" y="1929384"/>
            <a:ext cx="608076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68296" y="1929384"/>
            <a:ext cx="608076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4192524" y="1929384"/>
            <a:ext cx="608076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929384"/>
            <a:ext cx="608076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624828" y="1929384"/>
            <a:ext cx="608076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32904" y="1929384"/>
            <a:ext cx="608076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60220" y="2523744"/>
            <a:ext cx="0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6372" y="2523744"/>
            <a:ext cx="0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92524" y="2523744"/>
            <a:ext cx="0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8676" y="2523744"/>
            <a:ext cx="0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4828" y="2523744"/>
            <a:ext cx="0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40980" y="2523744"/>
            <a:ext cx="0" cy="265176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6260" y="100584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66260" y="10058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33956" y="160020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933956" y="1600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66260" y="160020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66260" y="1600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98564" y="160020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98564" y="1600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325880" y="21945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32588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[1,2]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42032" y="21945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542032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[1,3]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58184" y="21945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758184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[2,1]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74336" y="21945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974336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[2,3]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0488" y="21945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90488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[3,1]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06640" y="21945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4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406640" y="2194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[3,2]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25880" y="27889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325880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[1,2,3]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542032" y="27889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2542032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[1,3,2]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58184" y="27889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758184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[2,1,3]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74336" y="27889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974336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[2,3,1]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0488" y="27889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190488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[3,1,2]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406640" y="27889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406640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[3,2,1]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274320" y="1033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根：1 个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274320" y="16276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1 个：3 个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274320" y="22219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2 个：3×2 = 6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274320" y="28163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叶子：3×2×1 = 6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3310128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94360" y="3401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DFS 从左到右走一遍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566928" y="3694176"/>
            <a:ext cx="801014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根到当前节点的路径：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往下一层，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path.pop()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退回一层；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走到叶子（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len(path) == 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）就把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path[:]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存进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6 个叶子恰好是 6 个排列；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下一页的代码，就是在这棵树上做 DFS。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第二部：全排列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02748: 全排列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06577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permutations(a):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res, used, path = [], [False] * len(a), []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dfs():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len(path) == len(a):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res.append(path[:])   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必须拷贝，否则存的是同一个列表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range(len(a)):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used[i]: continue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used[i] = True; path.append(a[i])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path.pop(); used[i] = False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回溯：撤销选择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dfs()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 in permutations([1, 2, 3]):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print(''.join(map(str, p)), end=' ')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161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216152"/>
            <a:ext cx="26609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123 132 213 231 312 321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164592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三个必须记住的细节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16168" y="2029968"/>
            <a:ext cx="266090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3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res.append(path[:])</a:t>
            </a: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03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不拷贝就全是同一个空列表</a:t>
            </a: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3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path.pop()</a:t>
            </a: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3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used[i]=False</a:t>
            </a: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03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回溯要把状态还原</a:t>
            </a: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 </a:t>
            </a:r>
            <a:r>
              <a:rPr lang="en-US" sz="103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 · n!)</a:t>
            </a: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（下一页解释），n ≤ 10 才可行（第 4 周的范围表）。</a:t>
            </a:r>
            <a:endParaRPr lang="en-US" sz="10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全排列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O(n · n!)：数一数节点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从叶子往上看，每往上一层少选一个数，节点数依次再除以 1、2、3、…</a:t>
            </a:r>
            <a:endParaRPr lang="en-US" sz="11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=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一般形式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n! / 0!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往上一层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÷ 1 = 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n! / 1!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再往上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÷ 2 =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n! / 2!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÷ 3 =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n! / n! =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n! × (1/0! + 1/1! + … + 1/n!)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212080" y="1280160"/>
            <a:ext cx="3474720" cy="1975104"/>
          </a:xfrm>
          <a:prstGeom prst="roundRect">
            <a:avLst>
              <a:gd name="adj" fmla="val 3704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&lt; e · n!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21808" y="1664208"/>
            <a:ext cx="3255264" cy="1517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+ 1 + 1/2! + 1/3! + … 无限加下去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≈ 2.718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只加到 1/n!，所以节点总数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e · n!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验算 n = 3：6 × 2.667 = 16 &lt; e × 6 ≈ 16.3。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40156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493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 O(n) ⟹ 总时间 O(n · n!)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785616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内部节点要把 n 个数循环一遍（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used[i]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判断是 O(1)），叶子要拷贝 n 个数。节点数只是叶子数 n! 的常数倍。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405993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DF0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41513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not in path</a:t>
            </a: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判断是否已用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4443984"/>
            <a:ext cx="7955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这一步本身就是 O(n)，总时间变成 O(n² · n!)。上一页的代码用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数组，正是为了让判断降到 O(1)。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全排列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 = DFS + 撤销：显式与隐式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显式回溯：共享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，手动撤销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34440"/>
            <a:ext cx="387705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range(len(a)):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used[i]: continue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used[i] = True; path.append(a[i])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dfs()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path.pop(); used[i] = False   </a:t>
            </a:r>
            <a:r>
              <a:rPr lang="en-US" sz="96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手动撤销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914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隐式回溯：每层传一个新列表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234440"/>
            <a:ext cx="3877056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dfs(p):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len(p) == len(a):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res.append(p)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 已是新列表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a: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x not in p: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dfs(p + [x])     </a:t>
            </a:r>
            <a:r>
              <a:rPr lang="en-US" sz="96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返回后自动恢复</a:t>
            </a:r>
            <a:endParaRPr lang="en-US" sz="96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显式回溯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隐式回溯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退回时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path.pop()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，自己写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栈帧丢弃，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从未被改，自动恢复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修改、恢复都是 O(1)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每层复制一次列表，O(n)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84048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CFE0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42245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传值的状态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+ 1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+ [x]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）返回后自动恢复；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共享且原地修改的状态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）必须手动撤销。回溯 = 在决策树上做 DFS + 退回时撤销。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全排列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内建也提供全排列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permutations as it_perm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print([''.join(map(str, p)) for p in it_perm([1, 2, 3])])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['123', '132', '213', '231', '312', '321']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77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但考试要会手写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700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周的回溯（八皇后、组合、子集）全建立在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这个模板上——「选择 → 递归 → 撤销」三步，itertools 帮不了你现场推导。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补充：子集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 78 子集：每个元素选或不选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66344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51713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subsets(nums):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ans, sol = len(nums), [], []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backtrack(i):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 == n: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叶子：每个元素都决定过了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ans.append(sol[:])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backtrack(i + 1)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不选 nums[i]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sol.append(nums[i])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选 nums[i]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backtrack(i + 1)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sol.pop()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手动撤销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backtrack(0)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ans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print(subsets([1, 2, 3]))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96512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[[], [3], [2], [2, 3], [1], [1, 3], [1, 2], [1, 2, 3]]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960120"/>
            <a:ext cx="3383280" cy="3630168"/>
          </a:xfrm>
          <a:prstGeom prst="roundRect">
            <a:avLst>
              <a:gd name="adj" fmla="val 2162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4068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决策树：每层决定一个元素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1344168"/>
            <a:ext cx="3163824" cy="3172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 = 不选，右 = 选；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 2ⁿ 个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，就是全部子集；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== 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（叶子）收集；中间节点不收集，否则会重复；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 · 2ⁿ)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：每个叶子拷贝 O(n)；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是隐式回溯，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要手动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输出顺序与 LC 示例不同，题目允许任意顺序。第 9 周再讲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的写法。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分治：递归的另一种用法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分成子问题 → 治（递归解决）→ 合并答案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 · 快速排序 · 二分查找 · 快速幂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分治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分（Divide）→ 治（Conquer）→ 合（Combine）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3774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归并排序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对半切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合并两个有序表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快速排序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pivot 划分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无需合并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 O(n log n)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二分查找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只保留半边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无需合并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指数减半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本节讲后两个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959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归并、快排留到第 6、7 周排序专题——这里聚焦「分治」这个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思维模式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本身：快速幂与二分查找。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快速幂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指数减半：O(log b) 求 aᵇ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fast_pow(a, b, mod=None):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"""计算 a^b（可选取模），O(log b)。"""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 == 0: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1 % mod if mod else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half = fast_pow(a, b // 2, mod)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 = half * half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 &amp; 1: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 *= 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 % mod if mod else 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880360" cy="1965960"/>
          </a:xfrm>
          <a:prstGeom prst="roundRect">
            <a:avLst>
              <a:gd name="adj" fmla="val 372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261872"/>
            <a:ext cx="266090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fast_pow(2, 10) -&gt; 1024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fast_pow(3, 100, 1e9+7) -&gt; 886041711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pow(3, 100, 1e9+7)      -&gt; 886041711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内建就是快速幂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5387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内建的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pow(a, b, mod)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就是快速幂，直接用即可——手写一遍是为了看懂「指数减半」这个分治思路。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二分查找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只保留半边，O(log 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binary_search(a, target):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len(a) - 1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&lt;= hi: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hi) // 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a[mid] == target: return mid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a[mid] &lt; target: lo = mid + 1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hi = mid - 1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3, 5, 7, 9, 11]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print(binary_search(a, 7), binary_search(a, 4))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3 -1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71216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求「第一个 ≥ target 的位置」（更常用的形态）：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45536"/>
            <a:ext cx="5120640" cy="1444752"/>
          </a:xfrm>
          <a:prstGeom prst="roundRect">
            <a:avLst>
              <a:gd name="adj" fmla="val 5063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" y="3191256"/>
            <a:ext cx="4974336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bisect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lower_bound(a, target):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len(a)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 hi: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hi) // 2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a[mid] &lt; target: lo = mid + 1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hi = mid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3, 5, 7, 9]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print(lower_bound(a, 5), bisect.bisect_left(a, 5))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2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760720" y="3145536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32369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模板选择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352958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&lt; hi</a:t>
            </a:r>
            <a:r>
              <a:rPr lang="en-US" sz="9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93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= mid</a:t>
            </a:r>
            <a:r>
              <a:rPr lang="en-US" sz="9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这一版</a:t>
            </a:r>
            <a:r>
              <a:rPr lang="en-US" sz="93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不会死循环，也不会漏边界</a:t>
            </a:r>
            <a:r>
              <a:rPr lang="en-US" sz="9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。建议只记这一版；需要「最后一个 ≤ target」时用 </a:t>
            </a:r>
            <a:r>
              <a:rPr lang="en-US" sz="93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lower_bound(a, target+1) - 1</a:t>
            </a:r>
            <a:r>
              <a:rPr lang="en-US" sz="9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最大公约数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03248: 最大公约数 —— 辗转相除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gcd(a, b):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if b == 0 else gcd(b, a % 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lcm(a, b):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// gcd(a, b) * b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先除后乘，避免溢出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print(gcd(12, 18), lcm(4, 6))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26187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gcd(a,b) = gcd(b, a%b)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1729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和 b 的公约数集合，与 b 和 a mod b 的公约数集合完全相同——因为 a = kb + r，任何同时整除 b 和 r 的数也整除 a。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递归的调试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打印调用树 · 可视化 · 常见错误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打印调用树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缩进就是栈深度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fib_trace(n, depth=0):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  " * depth + f"fib({n})")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fib_trace(n - 1, depth + 1) + fib_trace(n - 2, depth + 1)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fib_trace(4)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261872"/>
            <a:ext cx="266090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fib(3)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fib(2)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fib(1)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fib(2)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看到重复的子树，就该上记忆化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015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调用树里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fib(2)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出现了不止一次——这正是 §3.1 里「重叠子问题」的直接证据。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5.2–5.3 可视化与常见错误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pythontutor.com 逐步展示栈帧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推荐工具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44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pythontutor.com 能逐步展示栈帧的压入与弹出——理解递归最快的工具，强烈建议把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factorial(4)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hanoi(3,...)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各跑一遍。</a:t>
            </a:r>
            <a:endParaRPr lang="en-US" sz="12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症状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RecursionError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没有基例，或没向基例逼近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结果全一样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收集答案时忘了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path[:]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拷贝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结果多了 / 少了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忘了回溯（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/ 状态还原）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有重叠子问题却没记忆化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RE（评测机上，且没有 traceback）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递归太深撞穿 C 栈（§2.2 墙二）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道题：从记忆化到回溯模板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00400"/>
                <a:gridCol w="1554480"/>
                <a:gridCol w="29260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菲波那契数列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 + 记忆化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Pell 数列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M02786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汉诺塔问题(Tower of Hanoi)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04147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递归三步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全排列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02748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回溯模板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最大公约数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03248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辗转相除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递归比较字符串大小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28717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递归定义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放苹果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01664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简单的整数划分问题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 + 记忆化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Help Jimmy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T01661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 + 记忆化（难）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汉诺塔的移动次数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</a:t>
                      </a: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2**n-1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验证 §3.2 的推导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选做。编号前带字母：cs101.openjudge.cn。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五道思考题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9728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078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调用次数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4630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fib_naive(n)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一共调用了多少次自身？（提示：与 F(n) 本身同阶）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09728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1078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4630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list_sum(a[1:])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O(n²)？改成传下标后是多少？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2199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359152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23408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数学归纳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249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汉诺塔 T(n) = 2T(n−1) + 1，用数学归纳法证明 T(n) = 2ⁿ − 1。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2199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6E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2359152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85232" y="23408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27249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二分查找的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= (lo+hi)//2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C++ 里可能溢出，应该怎么写？Python 为什么不用担心？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83864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1F4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3621024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" y="36027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98678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把汉诺塔改写成非递归版本（用显式栈），验证移动序列与递归版完全一致。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有基例、向基例逼近、调用自身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。写的时候只想两层，不要在脑子里展开。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两道墙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层计数器（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setrecursionlimit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管得到）和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调用栈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（管不到）；穿过 C 的递归另有一道调不动的上限。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深递归唯一可靠的解法是显式栈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三部曲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斐波那契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（重叠子问题 → 记忆化）、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汉诺塔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（2ⁿ−1，指数的实感）、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全排列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（决策树 + DFS：选择 → 递归 → 撤销）；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子集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（选或不选，2ⁿ）。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 + 治 + 合：归并、快排、二分、快速幂。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回溯两个必犯错误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忘拷贝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path[:]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忘还原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）。传值的状态自动恢复（隐式回溯），共享的状态要手动撤销。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递归、回溯与并查集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把递归用到底——回溯（八皇后、马走日、组合与子集）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与并查集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8 周 递归</dc:title>
  <dc:subject>PptxGenJS Presentation</dc:subject>
  <dc:creator>Hongfei Yan</dc:creator>
  <cp:lastModifiedBy>Hongfei Yan</cp:lastModifiedBy>
  <cp:revision>1</cp:revision>
  <dcterms:created xsi:type="dcterms:W3CDTF">2026-10-27T05:17:03Z</dcterms:created>
  <dcterms:modified xsi:type="dcterms:W3CDTF">2026-10-27T05:17:03Z</dcterms:modified>
</cp:coreProperties>
</file>