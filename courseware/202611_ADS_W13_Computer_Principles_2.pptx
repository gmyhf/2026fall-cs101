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03320"/>
            <a:ext cx="12191695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03120"/>
            <a:ext cx="11057839" cy="1554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</a:rPr>
              <a:t>第13周　计算机原理（2/2）与阶段综合练习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C7D3E2"/>
                </a:solidFill>
                <a:latin typeface="Segoe UI"/>
                <a:ea typeface="微软雅黑"/>
              </a:rPr>
              <a:t>编译与解释 · 字节码与 GIL · 进程与虚拟内存 · 缓存与局部性 · 综合练习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160520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北京大学　《计算概论（B）》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主题与学习重点：计算机原理（2/2）与阶段综合练习。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1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程序是怎么跑起来的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编译型 vs 解释型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888742"/>
            <a:ext cx="11057839" cy="16840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编译型（C / C++）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a.cpp -&gt; 编译器 -&gt; 汇编 -&gt; 汇编器 -&gt; .o -&gt; 链接器 -&gt; 可执行文件 -&gt; CPU 直接执行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解释型（Python）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a.py -&gt; 编译 -&gt; 字节码 .pyc -&gt; Python 虚拟机逐条解释 -&gt; 调用 C 函数 -&gt; CPU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第13周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两者的差别与本课影响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2636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5711"/>
                <a:gridCol w="4070850"/>
                <a:gridCol w="5421276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编译型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解释型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代表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C / C++ / Rust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Python / JavaScript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速度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快（直接机器码）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慢 10–100 倍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跨平台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需重新编译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字节码可移植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错误发现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编译期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运行期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本课影响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OJ 上 C++ 时限更宽松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Python 常数大，要靠算法弥补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408127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⭐ 这解释了"同样 O(n^2)，C++ 能过而 Python TLE"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第13周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Python 的对策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不是优化常数，而是换更优的算法。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第13周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看看字节码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60616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40499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import dis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add(a, b):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a + b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dis.dis(add)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#   RESUME                   0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#   LOAD_FAST                a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#   LOAD_FAST                b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#   BINARY_OP                0 (+)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#   RETURN_VALUE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02348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每一条字节码在解释器里是一次循环迭代 + 一次函数分派 —— 这就是 Python 慢的直接原因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第13周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实测：Python 循环 vs 内建函数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86207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6609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import time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n = 3_000_000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t0 = time.time()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 = 0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for i in range(n):                      # 纯 Python 循环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s += i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t1 = time.time()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s2 = sum(range(n))                      # 内建 sum，C 实现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t2 = time.time()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assert s == s2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print(f"python loop: {t1 - t0:.3f}s   builtin sum: {t2 - t1:.3f}s")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# 典型结果：循环约 0.15s，sum 约 0.03s —— 相差 5 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第13周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CPython 的 GIL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13182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96854"/>
                <a:gridCol w="2211567"/>
                <a:gridCol w="4349416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任务类型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多线程有用吗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该用什么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CPU 密集（算数、循环）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❌ 没用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多进程 multiprocessing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I/O 密集（读文件、网络）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✅ 有用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多线程 / asyncio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276301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全局解释器锁：同一时刻只有一个线程能执行 Python 字节码。本课用线程只为加大递归栈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第13周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2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进程与内存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进程与线程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2197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7787"/>
                <a:gridCol w="5442530"/>
                <a:gridCol w="3887521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进程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线程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地址空间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独立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共享（同一进程内）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创建代价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大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小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通信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管道 / 共享内存 / socket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直接读写共享变量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崩溃影响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只影响自己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拖垮整个进程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第13周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虚拟地址空间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87"/>
              </a:lnSpc>
              <a:spcBef>
                <a:spcPts val="0"/>
              </a:spcBef>
              <a:spcAft>
                <a:spcPts val="0"/>
              </a:spcAft>
            </a:pPr>
            <a:r>
              <a:rPr sz="1682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187"/>
              </a:lnSpc>
              <a:spcBef>
                <a:spcPts val="0"/>
              </a:spcBef>
              <a:spcAft>
                <a:spcPts val="0"/>
              </a:spcAft>
            </a:pPr>
            <a:r>
              <a:rPr sz="1682" b="0" i="0">
                <a:solidFill>
                  <a:srgbClr val="12395B"/>
                </a:solidFill>
                <a:latin typeface="Consolas"/>
                <a:ea typeface="Consolas"/>
              </a:rPr>
              <a:t>   高地址  0xFFFF...</a:t>
            </a:r>
          </a:p>
          <a:p>
            <a:pPr algn="l">
              <a:lnSpc>
                <a:spcPts val="2187"/>
              </a:lnSpc>
              <a:spcBef>
                <a:spcPts val="0"/>
              </a:spcBef>
              <a:spcAft>
                <a:spcPts val="0"/>
              </a:spcAft>
            </a:pPr>
            <a:r>
              <a:rPr sz="1682" b="0" i="0">
                <a:solidFill>
                  <a:srgbClr val="12395B"/>
                </a:solidFill>
                <a:latin typeface="Consolas"/>
                <a:ea typeface="Consolas"/>
              </a:rPr>
              <a:t>   +--------------------+</a:t>
            </a:r>
          </a:p>
          <a:p>
            <a:pPr algn="l">
              <a:lnSpc>
                <a:spcPts val="2187"/>
              </a:lnSpc>
              <a:spcBef>
                <a:spcPts val="0"/>
              </a:spcBef>
              <a:spcAft>
                <a:spcPts val="0"/>
              </a:spcAft>
            </a:pPr>
            <a:r>
              <a:rPr sz="1682" b="0" i="0">
                <a:solidFill>
                  <a:srgbClr val="12395B"/>
                </a:solidFill>
                <a:latin typeface="Consolas"/>
                <a:ea typeface="Consolas"/>
              </a:rPr>
              <a:t>   |      内核空间       |  用户程序不可直接访问</a:t>
            </a:r>
          </a:p>
          <a:p>
            <a:pPr algn="l">
              <a:lnSpc>
                <a:spcPts val="2187"/>
              </a:lnSpc>
              <a:spcBef>
                <a:spcPts val="0"/>
              </a:spcBef>
              <a:spcAft>
                <a:spcPts val="0"/>
              </a:spcAft>
            </a:pPr>
            <a:r>
              <a:rPr sz="1682" b="0" i="0">
                <a:solidFill>
                  <a:srgbClr val="12395B"/>
                </a:solidFill>
                <a:latin typeface="Consolas"/>
                <a:ea typeface="Consolas"/>
              </a:rPr>
              <a:t>   +--------------------+</a:t>
            </a:r>
          </a:p>
          <a:p>
            <a:pPr algn="l">
              <a:lnSpc>
                <a:spcPts val="2187"/>
              </a:lnSpc>
              <a:spcBef>
                <a:spcPts val="0"/>
              </a:spcBef>
              <a:spcAft>
                <a:spcPts val="0"/>
              </a:spcAft>
            </a:pPr>
            <a:r>
              <a:rPr sz="1682" b="0" i="0">
                <a:solidFill>
                  <a:srgbClr val="12395B"/>
                </a:solidFill>
                <a:latin typeface="Consolas"/>
                <a:ea typeface="Consolas"/>
              </a:rPr>
              <a:t>   |       栈 Stack      |  函数调用帧；向下增长；通常 8 MB</a:t>
            </a:r>
          </a:p>
          <a:p>
            <a:pPr algn="l">
              <a:lnSpc>
                <a:spcPts val="2187"/>
              </a:lnSpc>
              <a:spcBef>
                <a:spcPts val="0"/>
              </a:spcBef>
              <a:spcAft>
                <a:spcPts val="0"/>
              </a:spcAft>
            </a:pPr>
            <a:r>
              <a:rPr sz="1682" b="0" i="0">
                <a:solidFill>
                  <a:srgbClr val="12395B"/>
                </a:solidFill>
                <a:latin typeface="Consolas"/>
                <a:ea typeface="Consolas"/>
              </a:rPr>
              <a:t>   |          v          |</a:t>
            </a:r>
          </a:p>
          <a:p>
            <a:pPr algn="l">
              <a:lnSpc>
                <a:spcPts val="2187"/>
              </a:lnSpc>
              <a:spcBef>
                <a:spcPts val="0"/>
              </a:spcBef>
              <a:spcAft>
                <a:spcPts val="0"/>
              </a:spcAft>
            </a:pPr>
            <a:r>
              <a:rPr sz="1682" b="0" i="0">
                <a:solidFill>
                  <a:srgbClr val="12395B"/>
                </a:solidFill>
                <a:latin typeface="Consolas"/>
                <a:ea typeface="Consolas"/>
              </a:rPr>
              <a:t>   |     （未映射）       |  访问这里 -&gt; 段错误 Segmentation Fault</a:t>
            </a:r>
          </a:p>
          <a:p>
            <a:pPr algn="l">
              <a:lnSpc>
                <a:spcPts val="2187"/>
              </a:lnSpc>
              <a:spcBef>
                <a:spcPts val="0"/>
              </a:spcBef>
              <a:spcAft>
                <a:spcPts val="0"/>
              </a:spcAft>
            </a:pPr>
            <a:r>
              <a:rPr sz="1682" b="0" i="0">
                <a:solidFill>
                  <a:srgbClr val="12395B"/>
                </a:solidFill>
                <a:latin typeface="Consolas"/>
                <a:ea typeface="Consolas"/>
              </a:rPr>
              <a:t>   |          ^          |</a:t>
            </a:r>
          </a:p>
          <a:p>
            <a:pPr algn="l">
              <a:lnSpc>
                <a:spcPts val="2187"/>
              </a:lnSpc>
              <a:spcBef>
                <a:spcPts val="0"/>
              </a:spcBef>
              <a:spcAft>
                <a:spcPts val="0"/>
              </a:spcAft>
            </a:pPr>
            <a:r>
              <a:rPr sz="1682" b="0" i="0">
                <a:solidFill>
                  <a:srgbClr val="12395B"/>
                </a:solidFill>
                <a:latin typeface="Consolas"/>
                <a:ea typeface="Consolas"/>
              </a:rPr>
              <a:t>   |       堆 Heap       |  malloc / Python 对象；向上增长</a:t>
            </a:r>
          </a:p>
          <a:p>
            <a:pPr algn="l">
              <a:lnSpc>
                <a:spcPts val="2187"/>
              </a:lnSpc>
              <a:spcBef>
                <a:spcPts val="0"/>
              </a:spcBef>
              <a:spcAft>
                <a:spcPts val="0"/>
              </a:spcAft>
            </a:pPr>
            <a:r>
              <a:rPr sz="1682" b="0" i="0">
                <a:solidFill>
                  <a:srgbClr val="12395B"/>
                </a:solidFill>
                <a:latin typeface="Consolas"/>
                <a:ea typeface="Consolas"/>
              </a:rPr>
              <a:t>   +--------------------+</a:t>
            </a:r>
          </a:p>
          <a:p>
            <a:pPr algn="l">
              <a:lnSpc>
                <a:spcPts val="2187"/>
              </a:lnSpc>
              <a:spcBef>
                <a:spcPts val="0"/>
              </a:spcBef>
              <a:spcAft>
                <a:spcPts val="0"/>
              </a:spcAft>
            </a:pPr>
            <a:r>
              <a:rPr sz="1682" b="0" i="0">
                <a:solidFill>
                  <a:srgbClr val="12395B"/>
                </a:solidFill>
                <a:latin typeface="Consolas"/>
                <a:ea typeface="Consolas"/>
              </a:rPr>
              <a:t>   |   BSS / Data 段     |  全局变量、常量</a:t>
            </a:r>
          </a:p>
          <a:p>
            <a:pPr algn="l">
              <a:lnSpc>
                <a:spcPts val="2187"/>
              </a:lnSpc>
              <a:spcBef>
                <a:spcPts val="0"/>
              </a:spcBef>
              <a:spcAft>
                <a:spcPts val="0"/>
              </a:spcAft>
            </a:pPr>
            <a:r>
              <a:rPr sz="1682" b="0" i="0">
                <a:solidFill>
                  <a:srgbClr val="12395B"/>
                </a:solidFill>
                <a:latin typeface="Consolas"/>
                <a:ea typeface="Consolas"/>
              </a:rPr>
              <a:t>   +--------------------+</a:t>
            </a:r>
          </a:p>
          <a:p>
            <a:pPr algn="l">
              <a:lnSpc>
                <a:spcPts val="2187"/>
              </a:lnSpc>
              <a:spcBef>
                <a:spcPts val="0"/>
              </a:spcBef>
              <a:spcAft>
                <a:spcPts val="0"/>
              </a:spcAft>
            </a:pPr>
            <a:r>
              <a:rPr sz="1682" b="0" i="0">
                <a:solidFill>
                  <a:srgbClr val="12395B"/>
                </a:solidFill>
                <a:latin typeface="Consolas"/>
                <a:ea typeface="Consolas"/>
              </a:rPr>
              <a:t>   |      Text 代码段     |  机器指令，只读</a:t>
            </a:r>
          </a:p>
          <a:p>
            <a:pPr algn="l">
              <a:lnSpc>
                <a:spcPts val="2187"/>
              </a:lnSpc>
              <a:spcBef>
                <a:spcPts val="0"/>
              </a:spcBef>
              <a:spcAft>
                <a:spcPts val="0"/>
              </a:spcAft>
            </a:pPr>
            <a:r>
              <a:rPr sz="1682" b="0" i="0">
                <a:solidFill>
                  <a:srgbClr val="12395B"/>
                </a:solidFill>
                <a:latin typeface="Consolas"/>
                <a:ea typeface="Consolas"/>
              </a:rPr>
              <a:t>   +--------------------+</a:t>
            </a:r>
          </a:p>
          <a:p>
            <a:pPr algn="l">
              <a:lnSpc>
                <a:spcPts val="2187"/>
              </a:lnSpc>
              <a:spcBef>
                <a:spcPts val="0"/>
              </a:spcBef>
              <a:spcAft>
                <a:spcPts val="0"/>
              </a:spcAft>
            </a:pPr>
            <a:r>
              <a:rPr sz="1682" b="0" i="0">
                <a:solidFill>
                  <a:srgbClr val="12395B"/>
                </a:solidFill>
                <a:latin typeface="Consolas"/>
                <a:ea typeface="Consolas"/>
              </a:rPr>
              <a:t>   低地址  0x0000...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内存按 4 KB 的"页"管理，页表 + MMU 完成翻译；缺页中断处理未映射访问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第13周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"虚拟"的三个好处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隔离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：进程 A 写坏自己的内存，碰不到进程 B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统一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：每个程序都以为自己从地址 0 开始，编译器不用关心实际位置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超额分配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：虚拟空间可以大于物理内存，靠换页（swap）支撑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Linux 允许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超额提交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malloc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可能成功，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真正写入时才 OOM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第13周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能申请 10^18 字节吗？先看看实际开销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155892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135775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import sys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print(sys.maxsize)              # 9223372036854775807 = 2^63 - 1，64 位解释器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print(sys.getsizeof(0), sys.getsizeof(10 ** 20))     # 28 36（字节）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print(sys.getsizeof([]), sys.getsizeof([0] * 1000))  # 56 8056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97624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实际 CPU 只用 48 位虚拟地址（256 TB）；物理内存 + swap 才是真正的上限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第13周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做题时的内存估算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2197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70503"/>
                <a:gridCol w="6987335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结构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10^6 个元素约占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list of small int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~40 MB（8 字节指针 + 对象本身）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array('i', ...)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~4 MB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bytearray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~1 MB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set / dict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~70 MB 以上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64185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OJ 内存限制常见 64–256 MB：n=10^7 的一维 list 已经危险，改用 bytearray / array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第13周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Python 的内存管理：引用计数 + 分代 GC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663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import sys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import gc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a = [1, 2, 3]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print(sys.getrefcount(a))       # 2（a 自己 + getrefcount 的参数）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b = a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print(sys.getrefcount(a))       # 3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del b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print(sys.getrefcount(a))       # 2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class Node: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def __init__(self):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    self.ref = None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x, y = Node(), Node()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x.ref = y; y.ref = x            # 循环引用，引用计数永远不为 0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del x, y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print(gc.collect() &gt; 0)         # True —— GC 回收了这些不可达对象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第13周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3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缓存与局部性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局部性原理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时间局部性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：刚访问过的数据，很可能马上再被访问（循环变量）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空间局部性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：访问了某个地址，很可能马上访问它旁边的（数组遍历）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写出对缓存友好的代码 = 顺序访问连续内存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Python 的列表是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指针数组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，缓存效应不如 C 明显；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但"把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a[i]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提到内层循环外"同样有效 —— 少一次索引就是少一条字节码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第13周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时间层次的实感（1 ns = 1 秒）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3075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60661"/>
                <a:gridCol w="2730330"/>
                <a:gridCol w="2866847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操作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时间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人类尺度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L1 缓存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 ns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 秒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L2 缓存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4 ns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4 秒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内存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100 ns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1.7 分钟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SSD 随机读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100 μs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1.2 天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磁盘寻道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10 ms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4 个月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网络往返（同城）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 ms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11 天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452069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这张表解释了为什么"少读一次磁盘"比"少算一万次加法"更重要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第13周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文件 I/O 与缓冲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60616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40499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with open('data.txt', 'w', encoding='utf-8') as f: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f.write("hello\n")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with open('data.txt', encoding='utf-8') as f: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for line in f:                    # 逐行读，内存友好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print(line.rstrip('\n'))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# OJ 上：批量输出比逐条 print 快一个数量级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import sys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out = [str(i * i) for i in range(5)]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sys.stdout.write('\n'.join(out) + '\n')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data = sys.stdin.read().split()       # 输入也要批量读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02348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with 语句保证文件一定会被关闭，即使中间抛异常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第13周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4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阶段综合练习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题型识别速查表（上）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3075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81434"/>
                <a:gridCol w="3580810"/>
                <a:gridCol w="1595594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题面里出现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大概率考点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周次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"统计出现次数""按……排序输出"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字典 + 多关键字排序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W4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"n &lt;= 10^6""每次询问"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预处理 + O(1) 查询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W4、W6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"最少多少个""最多能选几个"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贪心（先想排序键）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W6、W10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"合并 / 覆盖 / 相交" + 区间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区间贪心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W10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"有多少种方案""最大 / 最小价值"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DP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W10、W11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"每个物品选或不选"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0-1 背包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W11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第13周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题型识别速查表（下）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3075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9033"/>
                <a:gridCol w="2843444"/>
                <a:gridCol w="1805361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题面里出现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大概率考点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周次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"最少几步""最短路径"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BFS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W12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"所有路径""全排列 / 组合"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回溯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W9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"是否连通""分成几组"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并查集 / DFS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W9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"最小的最大值""最大的最小值"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二分答案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W12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"下一个更大的"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单调栈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W7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表达式、括号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栈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W7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第13周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综合练习题单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A 组（基础巩固，全部应 AC）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排队做实验 M21554 ｜ 买学区房 M19963 ｜ 装箱问题 01017 ｜ 病人排队 E07618 ｜ 校门外的树 02808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B 组（核心算法）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采药 02773 ｜ 数字三角形 02760 ｜ 拦截导弹 M02945 ｜ 鸣人和佐助 04115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河中跳房子 M08210 ｜ 宗教信仰 02524 ｜ 八皇后 02754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C 组（提高，选做）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最大子矩阵 M02766 ｜ 走山路 M20106 ｜ 变换的迷宫 T04129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食物链 01182 ｜ 小游戏 T02802 ｜ 世界杯只因 T27104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第13周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一道综合例题的完整拆解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题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：n 个任务，第 i 个耗时 tᵢ、截止时间 dᵢ，任意顺序不可中断。求最多按时完成几个。（n ≤ 10⁵）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① 看数据范围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：n ≤ 10⁵ ⟹ 只能 O(n log n)，排除 O(n²) 的 DP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② 认题型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："最多能选几个" ⟹ 贪心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③ 想排序键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：按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截止时间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排序（先做快到期的）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④ 处理冲突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：超时就从已选任务里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丢掉耗时最长的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（大根堆）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⑤ 验证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：和暴力对拍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第13周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综合例题的实现与对拍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import heapq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def max_tasks(tasks):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"""tasks: [(耗时, 截止时间)]。"""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tasks = sorted(tasks, key=lambda t: t[1])       # 按截止时间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heap, total = [], 0                             # heap 存 -耗时（大根堆）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for cost, deadline in tasks: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    heapq.heappush(heap, -cost)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    total += cost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    if total &gt; deadline:                        # 超时了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        total += heapq.heappop(heap)            # 丢掉耗时最长的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return len(heap)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print(max_tasks([(3, 4), (2, 3), (1, 2)]))          # 2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print(max_tasks([(5, 5), (1, 1), (1, 2), (1, 3)]))  #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交换论证：丢掉耗时最长的任务，剩余总时长最小，对后面最有利，且数量正好减一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第13周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这就是考场上应有的流程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看范围 → 认题型 → 定排序键 / 状态 → 处理冲突 → 对拍验证。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第13周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本周作业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3075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8850"/>
                <a:gridCol w="6988383"/>
                <a:gridCol w="2130604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#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任务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说明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完成 A 组全部 5 题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基础巩固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完成 B 组至少 5 题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核心算法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用 dis.dis 反汇编一个函数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观察字节码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4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实测按行 / 按列遍历的时间差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局部性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5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为 A 组任一题写"暴力 + 对拍"脚本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验证方法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6（选做）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C 组任选 2 题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提高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第13周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小结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编译 vs 解释解释了"C++ 过而 Python TLE"：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换算法，不是抠常数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内建函数（C 实现）比等价 Python 循环快 5–10 倍；GIL 让多线程对 CPU 密集无效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虚拟地址空间：栈 8 MB（深递归撑爆它）、堆（Python 对象）；页表 + MMU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估内存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：list 存 10⁶ 个 int 约 40 MB，bytearray 约 1 MB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局部性 →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顺序访问连续内存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；批量 I/O 快一个数量级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综合题流程：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看范围 → 认题型 → 定策略 → 处理冲突 → 对拍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第13周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下周预告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AI 素养、12 月月考讲评与综合复习。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第13周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