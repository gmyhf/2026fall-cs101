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2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96012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计算概论（B） · 第 13 周 · 2026 Fall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25880"/>
            <a:ext cx="64008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计算机原理（2/2）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03120"/>
            <a:ext cx="64008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与阶段综合练习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97480"/>
            <a:ext cx="6035040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编译与解释 · Python 执行模型与字节码 · GIL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进程与线程 · 虚拟地址空间 · 内存管理与引用计数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缓存与局部性原理 · 文件 I/O 与缓冲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阶段综合练习：题型识别 · 综合例题完整拆解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4343400"/>
            <a:ext cx="6400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Compiled by Hongfei Yan · 2026 Fall · github.com/GMyhf/2026fall-cs101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?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本周要回答三个问题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75564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同样是 O(n²)，为什么 C++ 能过而 Python TLE？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5603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编译型直接跑机器码，解释型每条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字节码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都要在虚拟机里走一次循环——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慢 10–100 倍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46120" y="105156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342900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175564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递归写深了为什么会崩？内存能无限申请吗？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25603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程序跑在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虚拟地址空间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里；栈会撑爆，内存也有物理上限——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10¹⁸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字节申请不下来。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35040" y="105156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175564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剩下 12 周的算法，考场上怎么快速对上号？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25603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看数据范围、认题型、定策略——本周最后做一次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阶段综合串讲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65760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1E3D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5800" y="3749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一句话概括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404164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这周最后一次</a:t>
            </a: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往下看一层</a:t>
            </a:r>
            <a:r>
              <a:rPr lang="en-US" sz="13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：程序怎么被机器执行、内存怎么管理；然后回到写题本身，把前 12 周串成一张地图。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内容地图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1887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 程序怎么跑起来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874520"/>
            <a:ext cx="2377440" cy="2606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 编译型 vs 解释型</a:t>
            </a:r>
            <a:endParaRPr lang="en-US" sz="12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 Python 的字节码</a:t>
            </a:r>
            <a:endParaRPr lang="en-US" sz="12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 CPython 的 GIL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4612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429000" y="11887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2–4  进程、内存、I/O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1874520"/>
            <a:ext cx="2377440" cy="2606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2.1–2.2 进程线程、虚拟地址空间</a:t>
            </a:r>
            <a:endParaRPr lang="en-US" sz="12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 能不能申请 10¹⁸ 字节</a:t>
            </a:r>
            <a:endParaRPr lang="en-US" sz="12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2.4 引用计数与 GC</a:t>
            </a:r>
            <a:endParaRPr lang="en-US" sz="12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缓存与局部性</a:t>
            </a:r>
            <a:endParaRPr lang="en-US" sz="12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文件 I/O 与缓冲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3504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217920" y="11887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 阶段综合练习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6172200" y="1874520"/>
            <a:ext cx="2377440" cy="2606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 题型识别速查表</a:t>
            </a:r>
            <a:endParaRPr lang="en-US" sz="12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 综合练习题单 A/B/C 组</a:t>
            </a:r>
            <a:endParaRPr lang="en-US" sz="12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 一道综合例题的完整拆解</a:t>
            </a:r>
            <a:endParaRPr lang="en-US" sz="12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本周作业 · 思考题 · 小结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先跑一遍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三行代码，三个本周要讲清楚的现象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530352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5157216" cy="2240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sys, gc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print(sys.getsizeof([0] * 1000))        </a:t>
            </a: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1000 个整数占多少字节？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print(2 ** 63 - 1 == sys.maxsize)       </a:t>
            </a: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64 位整数的上限在哪？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Node: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__init__(self): self.ref = None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x, y = Node(), Node()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x.ref, y.ref = y, x                     </a:t>
            </a: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循环引用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 x, y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print(gc.collect() &gt; 0)                 </a:t>
            </a: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引用计数破不了环，回收得掉吗？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897880" y="1005840"/>
            <a:ext cx="2788920" cy="1097280"/>
          </a:xfrm>
          <a:prstGeom prst="roundRect">
            <a:avLst>
              <a:gd name="adj" fmla="val 6667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007608" y="106070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6007608" y="1261872"/>
            <a:ext cx="25694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8056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897880" y="228600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getsizeof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955280" y="2304288"/>
            <a:ext cx="685800" cy="25603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955280" y="2304288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§ 2.3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5897880" y="2670048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2**63-1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955280" y="2688336"/>
            <a:ext cx="685800" cy="25603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955280" y="2688336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§ 2.3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5897880" y="3054096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gc.collect()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955280" y="3072384"/>
            <a:ext cx="685800" cy="25603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955280" y="3072384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§ 2.4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35204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8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list 是</a:t>
            </a:r>
            <a:r>
              <a:rPr lang="en-US" sz="108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指针数组</a:t>
            </a:r>
            <a:r>
              <a:rPr lang="en-US" sz="108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：8 字节/指针 × 1000 + 头部开销</a:t>
            </a:r>
            <a:endParaRPr lang="en-US" sz="108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3904488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8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sys.maxsize</a:t>
            </a:r>
            <a:r>
              <a:rPr lang="en-US" sz="108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就是 64 位有符号整数的上限</a:t>
            </a:r>
            <a:endParaRPr lang="en-US" sz="108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428853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8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引用计数</a:t>
            </a:r>
            <a:r>
              <a:rPr lang="en-US" sz="108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破不了环，靠</a:t>
            </a:r>
            <a:r>
              <a:rPr lang="en-US" sz="108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分代 GC</a:t>
            </a:r>
            <a:r>
              <a:rPr lang="en-US" sz="108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兜底</a:t>
            </a:r>
            <a:endParaRPr lang="en-US" sz="10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程序是怎么跑起来的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同一份源码，编译型和解释型走的是两条不同的路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编译 vs 解释 · Python 字节码 · GIL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程序怎么跑起来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编译型 vs 解释型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9601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编译型（C / C++）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源码 a.cpp -[编译器]-&gt; 汇编 -[汇编器]-&gt; 目标文件 .o -[链接器]-&gt; 可执行文件 -&gt; CPU 直接执行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解释型（Python）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源码 a.py -[编译]-&gt; 字节码 .pyc -&gt; Python 虚拟机（CPython）逐条解释 -&gt; 调用 C 函数 -&gt; CPU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291840"/>
                <a:gridCol w="347472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编译型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解释型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代表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 / C++ / Rust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Python / JavaScript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速度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快（直接机器码）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慢 10–100 倍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跨平台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需重新编译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字节码可移植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错误发现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编译期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运行期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本课影响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OJ 上 C++ 时限更宽松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Python 常数大，要靠算法弥补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457200" y="4023360"/>
            <a:ext cx="8229600" cy="594360"/>
          </a:xfrm>
          <a:prstGeom prst="roundRect">
            <a:avLst>
              <a:gd name="adj" fmla="val 12308"/>
            </a:avLst>
          </a:prstGeom>
          <a:solidFill>
            <a:srgbClr val="CFE0D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94360" y="41148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这解释了一个常见困惑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94360" y="4407408"/>
            <a:ext cx="79552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同样是 O(n²) 的代码，C++ 能过而 Python TLE。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的对策不是优化常数，而是换更优的算法。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程序怎么跑起来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的字节码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31920" cy="1371600"/>
          </a:xfrm>
          <a:prstGeom prst="roundRect">
            <a:avLst>
              <a:gd name="adj" fmla="val 533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3785616" cy="1280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dis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add(a, b):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a + b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dis.dis(add)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0" y="1005840"/>
            <a:ext cx="4114800" cy="1371600"/>
          </a:xfrm>
          <a:prstGeom prst="roundRect">
            <a:avLst>
              <a:gd name="adj" fmla="val 5333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81728" y="106070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4681728" y="1261872"/>
            <a:ext cx="3895344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RESUME              0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LOAD_FAST           a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LOAD_FAST           b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BINARY_OP           0 (+)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RETURN_VALUE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56032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" y="26517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每一条字节码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2944368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是解释器里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一次循环迭代 + 一次函数分派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——这就是 Python 慢的直接原因，也是「用内建函数（C 实现）替代 Python 循环」能提速的原因。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57200" y="3611880"/>
            <a:ext cx="530352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30352" y="3657600"/>
            <a:ext cx="5157216" cy="9601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 = 3_000_000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 = 0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range(n): s += i        </a:t>
            </a: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纯 Python 循环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s2 = sum(range(n))               </a:t>
            </a: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内建 sum，C 实现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assert s == s2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897880" y="3611880"/>
            <a:ext cx="2788920" cy="1051560"/>
          </a:xfrm>
          <a:prstGeom prst="roundRect">
            <a:avLst>
              <a:gd name="adj" fmla="val 6957"/>
            </a:avLst>
          </a:prstGeom>
          <a:solidFill>
            <a:srgbClr val="1B2B2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007608" y="366674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6007608" y="3867912"/>
            <a:ext cx="2569464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loop: 0.191s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builtin sum: 0.036s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(约 5~10 倍)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程序怎么跑起来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CPython 的 GIL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FFF6E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94360" y="10972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全局解释器锁（GIL）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389888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同一时刻只有一个线程能执行 Python 字节码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——即使机器有 16 个核，多线程也不能让纯计算并行加速。</a:t>
            </a:r>
            <a:endParaRPr lang="en-US" sz="1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03120"/>
          <a:ext cx="822960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194560"/>
                <a:gridCol w="292608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任务类型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多线程有用吗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该用什么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CPU 密集（算数、循环）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✗ 没用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多进程 multiprocessing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I/O 密集（读文件、网络）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 有用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多线程 / asyncio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457200" y="370332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CFE0D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94360" y="37947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本课唯一用到线程的场景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94360" y="4087368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加大递归栈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（第 8 周 2.2 节）——那不是为了并行，而是绕开主线程固定的栈空间限制。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2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进程与内存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程序跑起来之后，它以为自己独占一整块地址空间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进程与线程 · 虚拟地址空间 · 内存上限 · 引用计数与 GC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进程与内存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进程与线程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383280"/>
                <a:gridCol w="347472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进程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线程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地址空间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独立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A06A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共享（同一进程内）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创建代价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大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通信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管道 / 共享内存 / socket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直接读写共享变量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崩溃影响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只影响自己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拖垮整个进程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42900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FFF6E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35204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3813048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进程是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资源分配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的单位（独立地址空间），线程是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调度执行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的单位（共享地址空间）——第 13 周只需要记住这张表，不要求你会写多进程/多线程代码。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进程与内存 · 第 8 周的展开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虚拟地址空间：一个进程「以为」自己看到的内存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93268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高地址  0xFFFF...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463040" y="1207008"/>
            <a:ext cx="3840480" cy="402336"/>
          </a:xfrm>
          <a:prstGeom prst="roundRect">
            <a:avLst>
              <a:gd name="adj" fmla="val 18182"/>
            </a:avLst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600200" y="1207008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内核空间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3108960" y="1207008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用户程序不可直接访问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1463040" y="1664208"/>
            <a:ext cx="3840480" cy="402336"/>
          </a:xfrm>
          <a:prstGeom prst="roundRect">
            <a:avLst>
              <a:gd name="adj" fmla="val 18182"/>
            </a:avLst>
          </a:prstGeom>
          <a:solidFill>
            <a:srgbClr val="3E7C6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600200" y="1664208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 Stack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3108960" y="1664208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函数调用帧、局部变量；通常 8 MB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1463040" y="2121408"/>
            <a:ext cx="3840480" cy="402336"/>
          </a:xfrm>
          <a:prstGeom prst="roundRect">
            <a:avLst>
              <a:gd name="adj" fmla="val 18182"/>
            </a:avLst>
          </a:prstGeom>
          <a:solidFill>
            <a:srgbClr val="F7F9F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600200" y="2121408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（未映射）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3108960" y="2121408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访问这里 -&gt; 段错误 Segmentation Fault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1463040" y="2578608"/>
            <a:ext cx="3840480" cy="402336"/>
          </a:xfrm>
          <a:prstGeom prst="roundRect">
            <a:avLst>
              <a:gd name="adj" fmla="val 18182"/>
            </a:avLst>
          </a:prstGeom>
          <a:solidFill>
            <a:srgbClr val="CFE0D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600200" y="2578608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 Heap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3108960" y="2578608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malloc / Python 对象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1463040" y="3035808"/>
            <a:ext cx="3840480" cy="402336"/>
          </a:xfrm>
          <a:prstGeom prst="roundRect">
            <a:avLst>
              <a:gd name="adj" fmla="val 18182"/>
            </a:avLst>
          </a:prstGeom>
          <a:solidFill>
            <a:srgbClr val="E6EFE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600200" y="3035808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BSS（未初始化）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3108960" y="3035808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1463040" y="3493008"/>
            <a:ext cx="3840480" cy="402336"/>
          </a:xfrm>
          <a:prstGeom prst="roundRect">
            <a:avLst>
              <a:gd name="adj" fmla="val 18182"/>
            </a:avLst>
          </a:prstGeom>
          <a:solidFill>
            <a:srgbClr val="DCE8E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600200" y="3493008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Data（已初始化）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108960" y="3493008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全局变量、常量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1463040" y="3950208"/>
            <a:ext cx="3840480" cy="402336"/>
          </a:xfrm>
          <a:prstGeom prst="roundRect">
            <a:avLst>
              <a:gd name="adj" fmla="val 18182"/>
            </a:avLst>
          </a:prstGeom>
          <a:solidFill>
            <a:srgbClr val="1E3D3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600200" y="3950208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Text 代码段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3108960" y="3950208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机器指令，只读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5486400" y="1664208"/>
            <a:ext cx="0" cy="402336"/>
          </a:xfrm>
          <a:prstGeom prst="line">
            <a:avLst/>
          </a:prstGeom>
          <a:noFill/>
          <a:ln w="19050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5577840" y="1737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向下增长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 flipV="1">
            <a:off x="5486400" y="2578608"/>
            <a:ext cx="0" cy="402336"/>
          </a:xfrm>
          <a:prstGeom prst="line">
            <a:avLst/>
          </a:prstGeom>
          <a:noFill/>
          <a:ln w="1905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32" name="Text 30"/>
          <p:cNvSpPr txBox="1"/>
          <p:nvPr/>
        </p:nvSpPr>
        <p:spPr>
          <a:xfrm>
            <a:off x="5577840" y="26517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向上增长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1463040" y="44348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低地址  0x0000...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537960" y="1207008"/>
            <a:ext cx="2148840" cy="3200400"/>
          </a:xfrm>
          <a:prstGeom prst="roundRect">
            <a:avLst>
              <a:gd name="adj" fmla="val 3404"/>
            </a:avLst>
          </a:prstGeom>
          <a:solidFill>
            <a:srgbClr val="FFF6E0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675120" y="1298448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「虚拟」的三个好处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6647688" y="1591056"/>
            <a:ext cx="1929384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隔离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：进程 A 写坏自己的内存，碰不到进程 B。</a:t>
            </a:r>
            <a:endParaRPr lang="en-US" sz="10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：每个程序都以为自己从地址 0 开始，编译器不用关心实际位置。</a:t>
            </a:r>
            <a:endParaRPr lang="en-US" sz="10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超额分配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：虚拟空间可以大于物理内存，靠换页（swap）支撑。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进程与内存 · 虚拟地址空间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页表与 MMU：谁把「虚拟」翻译成「物理」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05840"/>
            <a:ext cx="8229600" cy="1554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内存按 4 KB 的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管理。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页表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记录「虚拟页 → 物理页」的映射，由硬件 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MMU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完成翻译。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访问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未映射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的页触发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缺页中断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：操作系统去磁盘调入（正常缺页）或直接杀掉进程（非法访问，也就是段错误）。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69748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CFE0D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27889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对照第 8 周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308152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递归太深、局部变量太多 →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这块区域被撑爆 → 触碰到「未映射」区 → 段错误 / </a:t>
            </a:r>
            <a:r>
              <a:rPr lang="en-US" sz="12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RecursionError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。这就是「递归为什么会崩」的物理答案。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374904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FFF6E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94360" y="38404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考场直觉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" y="4133088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「栈溢出」和「内存不够」是两回事：前者是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这一小块区域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被撑爆（哪怕物理内存还很富余），后者是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整个进程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申请不到新页了。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进程与内存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能申请 10¹⁸ 字节的内存吗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30352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157216" cy="9601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sys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print(sys.maxsize)       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64 位解释器的整数上限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print(2 ** 63 - 1 == sys.maxsize)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897880" y="960120"/>
            <a:ext cx="2788920" cy="1051560"/>
          </a:xfrm>
          <a:prstGeom prst="roundRect">
            <a:avLst>
              <a:gd name="adj" fmla="val 6957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007608" y="101498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6007608" y="1216152"/>
            <a:ext cx="2569464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9223372036854775807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2103120"/>
            <a:ext cx="8229600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64 位虚拟地址空间理论上 2⁶⁴ ≈ 1.8×10¹⁹ 字节，看起来「够」；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但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实际 CPU 只用 48 位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虚拟地址 → 256 TB ≈ 2.8×10¹⁴ 字节；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物理内存 + swap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才是真正的上限；Linux 允许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超额提交（overcommit）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malloc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可能成功，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真正写入时才 OOM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9184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5852160"/>
              </a:tblGrid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结构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10⁶ 个元素约占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list of small int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~40 MB（8 字节指针 + 对象本身）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array('i', ...)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~4 MB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bytearray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~1 MB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set / dict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~70 MB 以上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4" name="Text 11"/>
          <p:cNvSpPr txBox="1"/>
          <p:nvPr/>
        </p:nvSpPr>
        <p:spPr>
          <a:xfrm>
            <a:off x="457200" y="43708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OJ 内存限制常见 64–256 MB：n=10⁷ 的一维 list 就已经危险，改用 bytearray / array（第 5 周月考 T4 筛法就是这么写的）。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进程与内存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的内存管理：引用计数 + 分代 GC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31920" cy="1965960"/>
          </a:xfrm>
          <a:prstGeom prst="roundRect">
            <a:avLst>
              <a:gd name="adj" fmla="val 372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3785616" cy="1874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sys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[1, 2, 3]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print(sys.getrefcount(a))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2（a 自己 + getrefcount 的参数）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 = a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print(sys.getrefcount(a))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 b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print(sys.getrefcount(a))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0" y="1005840"/>
            <a:ext cx="4114800" cy="1965960"/>
          </a:xfrm>
          <a:prstGeom prst="roundRect">
            <a:avLst>
              <a:gd name="adj" fmla="val 3721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709160" y="10972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引用计数归零就立即回收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709160" y="1389888"/>
            <a:ext cx="38404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每个对象头部存一个计数器：多一个引用 +1，少一个 -1，归零时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立刻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释放——这也是 CPython 里 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常常「立刻见效」的原因。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3063240"/>
            <a:ext cx="5303520" cy="1554480"/>
          </a:xfrm>
          <a:prstGeom prst="roundRect">
            <a:avLst>
              <a:gd name="adj" fmla="val 4706"/>
            </a:avLst>
          </a:prstGeom>
          <a:solidFill>
            <a:srgbClr val="F1F4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30352" y="3108960"/>
            <a:ext cx="5157216" cy="1463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gc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Node: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__init__(self):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self.ref = None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x, y = Node(), Node()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x.ref = y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y.ref = x                       </a:t>
            </a:r>
            <a:r>
              <a:rPr lang="en-US" sz="9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循环引用，引用计数永远不为 0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 x, y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print(gc.collect() &gt; 0)         </a:t>
            </a:r>
            <a:r>
              <a:rPr lang="en-US" sz="9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True —— GC 回收了这些不可达对象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897880" y="3063240"/>
            <a:ext cx="2788920" cy="1554480"/>
          </a:xfrm>
          <a:prstGeom prst="roundRect">
            <a:avLst>
              <a:gd name="adj" fmla="val 4706"/>
            </a:avLst>
          </a:prstGeom>
          <a:solidFill>
            <a:srgbClr val="CFE0D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035040" y="315468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循环引用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035040" y="3447288"/>
            <a:ext cx="2514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x、y 互相指着对方，</a:t>
            </a:r>
            <a:r>
              <a:rPr lang="en-US" sz="108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</a:t>
            </a:r>
            <a:r>
              <a:rPr lang="en-US" sz="108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之后计数器永远 ≥ 1，引用计数</a:t>
            </a:r>
            <a:r>
              <a:rPr lang="en-US" sz="108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救不了</a:t>
            </a:r>
            <a:r>
              <a:rPr lang="en-US" sz="108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——靠</a:t>
            </a:r>
            <a:r>
              <a:rPr lang="en-US" sz="108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分代垃圾回收</a:t>
            </a:r>
            <a:r>
              <a:rPr lang="en-US" sz="108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定期扫描、找出「不可达但计数非零」的对象。</a:t>
            </a:r>
            <a:endParaRPr lang="en-US" sz="108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3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缓存与局部性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写出对缓存友好的代码 = 顺序访问连续内存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局部性原理 · 按行 vs 按列 · 时间层次的实感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缓存与局部性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局部性原理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207008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2070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123444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时间局部性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173736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刚访问过的数据，很可能马上再被访问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2331720"/>
            <a:ext cx="1828800" cy="25603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23317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例：循环变量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63440" y="105156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F1F4F2"/>
          </a:solidFill>
          <a:ln/>
        </p:spPr>
      </p:sp>
      <p:sp>
        <p:nvSpPr>
          <p:cNvPr id="15" name="Shape 13"/>
          <p:cNvSpPr/>
          <p:nvPr/>
        </p:nvSpPr>
        <p:spPr>
          <a:xfrm>
            <a:off x="4846320" y="1207008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846320" y="12070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394960" y="123444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空间局部性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46320" y="173736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访问了某个地址，很可能马上访问它旁边的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846320" y="2331720"/>
            <a:ext cx="1828800" cy="25603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846320" y="23317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例：数组遍历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2880360"/>
            <a:ext cx="8229600" cy="1371600"/>
          </a:xfrm>
          <a:prstGeom prst="roundRect">
            <a:avLst>
              <a:gd name="adj" fmla="val 5333"/>
            </a:avLst>
          </a:prstGeom>
          <a:solidFill>
            <a:srgbClr val="CFE0D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94360" y="29718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缓存就是靠这两条工作的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" y="3264408"/>
            <a:ext cx="7955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写出对缓存友好的代码 = 顺序访问连续内存。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这是第 3 周「存储层次」的直接推论：内存比缓存慢约 100 倍，少一次内存访问就是省一大截时间。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缓存与局部性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实测：按行遍历 vs 按列遍历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303520" cy="2743200"/>
          </a:xfrm>
          <a:prstGeom prst="roundRect">
            <a:avLst>
              <a:gd name="adj" fmla="val 266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157216" cy="2651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 = 1200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[[1] * N for _ in range(N)]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 = 0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range(N):              </a:t>
            </a: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按行：内层 j 变化，访问连续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row = a[i]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j in range(N):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 += row[j]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s2 = 0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j in range(N):              </a:t>
            </a: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按列：内层 i 变化，每次跳一整行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i in range(N):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s2 += a[i][j]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assert s == s2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897880" y="960120"/>
            <a:ext cx="2788920" cy="1965960"/>
          </a:xfrm>
          <a:prstGeom prst="roundRect">
            <a:avLst>
              <a:gd name="adj" fmla="val 3721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007608" y="101498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6007608" y="1216152"/>
            <a:ext cx="2569464" cy="1655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按行 0.120s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按列 0.144s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(实测数值随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机器波动，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方向一致：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按行更快)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897880" y="3063240"/>
            <a:ext cx="2788920" cy="1600200"/>
          </a:xfrm>
          <a:prstGeom prst="roundRect">
            <a:avLst>
              <a:gd name="adj" fmla="val 4571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035040" y="315468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 Python 里差距没 C 那么夸张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035040" y="3447288"/>
            <a:ext cx="2514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的 list 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指针数组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，元素本身散落在堆上，缓存效应不如 C 明显。但「把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a[i]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提到内层循环外」同样有效——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少一次索引就是少一条字节码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缓存与局部性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时间层次的实感：把 1 ns 想象成 1 秒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05840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L1 缓存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2240280" y="1005840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ns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46120" y="1078992"/>
            <a:ext cx="76810" cy="256032"/>
          </a:xfrm>
          <a:prstGeom prst="rect">
            <a:avLst/>
          </a:prstGeom>
          <a:solidFill>
            <a:srgbClr val="3E7C6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414370" y="1005840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秒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536192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L2 缓存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240280" y="1536192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ns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46120" y="1609344"/>
            <a:ext cx="115214" cy="256032"/>
          </a:xfrm>
          <a:prstGeom prst="rect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52774" y="1536192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秒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2066544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内存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2240280" y="2066544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 ns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246120" y="2139696"/>
            <a:ext cx="307238" cy="256032"/>
          </a:xfrm>
          <a:prstGeom prst="rect">
            <a:avLst/>
          </a:prstGeom>
          <a:solidFill>
            <a:srgbClr val="3E7C6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644798" y="2066544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1.7 分钟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2596896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SSD 随机读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2240280" y="2596896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 μs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246120" y="2670048"/>
            <a:ext cx="1344168" cy="256032"/>
          </a:xfrm>
          <a:prstGeom prst="rect">
            <a:avLst/>
          </a:prstGeom>
          <a:solidFill>
            <a:srgbClr val="3E7C6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681728" y="2596896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 天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3127248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网络往返（同城）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240280" y="3127248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ms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246120" y="3200400"/>
            <a:ext cx="2304288" cy="25603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641848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 天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3657600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磁盘寻道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2240280" y="3657600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ms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246120" y="3730752"/>
            <a:ext cx="3840480" cy="25603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178040" y="3657600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个月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4297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这张表解释了为什么「少读一次磁盘」比「少算一万次加法」更重要。条形长度只示意顺序，不按比例。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4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文件 I/O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OJ 上输出上万行时，批量比逐条快一个数量级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基本用法 · 缓冲：为什么 print 很慢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文件 I/O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基本用法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303520" cy="3063240"/>
          </a:xfrm>
          <a:prstGeom prst="roundRect">
            <a:avLst>
              <a:gd name="adj" fmla="val 2388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157216" cy="2971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写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 open('data.txt', 'w', encoding='utf-8') as f: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f.write("hello\n")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f.writelines([f"{i}\n" for i in range(3)])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读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 open('data.txt', encoding='utf-8') as f: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line in f:                    </a:t>
            </a: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逐行读，内存友好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print(line.rstrip('\n'))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 open('data.txt', encoding='utf-8') as f: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content = f.read()                </a:t>
            </a: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一次读完，大文件慎用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os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os.remove('data.txt')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897880" y="960120"/>
            <a:ext cx="2788920" cy="1417320"/>
          </a:xfrm>
          <a:prstGeom prst="roundRect">
            <a:avLst>
              <a:gd name="adj" fmla="val 5161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035040" y="105156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with 语句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344168"/>
            <a:ext cx="2514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保证文件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一定会被关闭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，即使中间抛异常——比手写 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 = open(...); ...; f.close()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更安全，本课统一用 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897880" y="2514600"/>
            <a:ext cx="2788920" cy="1508760"/>
          </a:xfrm>
          <a:prstGeom prst="roundRect">
            <a:avLst>
              <a:gd name="adj" fmla="val 4848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035040" y="260604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逐行 vs 一次读完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035040" y="2898648"/>
            <a:ext cx="2514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line in f</a:t>
            </a:r>
            <a:r>
              <a:rPr lang="en-US" sz="108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一次只在内存里放一行，</a:t>
            </a:r>
            <a:r>
              <a:rPr lang="en-US" sz="108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大文件安全</a:t>
            </a:r>
            <a:r>
              <a:rPr lang="en-US" sz="108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r>
              <a:rPr lang="en-US" sz="108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f.read()</a:t>
            </a:r>
            <a:r>
              <a:rPr lang="en-US" sz="108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把整个文件读进内存，文件一大就危险。</a:t>
            </a:r>
            <a:endParaRPr lang="en-US" sz="108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文件 I/O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缓冲：为什么 print 很慢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FF6E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94360" y="10515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 print 都可能触发一次系统调用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344168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OJ 上输出上万行时，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批量输出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能快一个数量级。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1783080"/>
            <a:ext cx="530352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30352" y="1828800"/>
            <a:ext cx="5157216" cy="11430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sys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 = []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range(5):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out.append(str(i * i))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sys.stdout.write('\n'.join(out) + '\n')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一次系统调用输出全部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897880" y="1783080"/>
            <a:ext cx="2788920" cy="1234440"/>
          </a:xfrm>
          <a:prstGeom prst="roundRect">
            <a:avLst>
              <a:gd name="adj" fmla="val 5926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035040" y="187452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同理，输入也要批量读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035040" y="2167128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 = sys.stdin.read().split()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—— 一次系统调用读完全部，比多次 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input()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快得多。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200400"/>
            <a:ext cx="8229600" cy="1234440"/>
          </a:xfrm>
          <a:prstGeom prst="roundRect">
            <a:avLst>
              <a:gd name="adj" fmla="val 5926"/>
            </a:avLst>
          </a:prstGeom>
          <a:solidFill>
            <a:srgbClr val="CFE0D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94360" y="32918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考场速查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3584448"/>
            <a:ext cx="8010144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输出多行：先攒进 </a:t>
            </a:r>
            <a:r>
              <a:rPr lang="en-US" sz="12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，最后 </a:t>
            </a:r>
            <a:r>
              <a:rPr lang="en-US" sz="12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'\n'.join(...)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一次性写出。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输入量大：</a:t>
            </a:r>
            <a:r>
              <a:rPr lang="en-US" sz="12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sys.stdin.read().split()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一次读完再切分，别逐个 </a:t>
            </a:r>
            <a:r>
              <a:rPr lang="en-US" sz="12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input()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5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阶段综合练习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1–12 周的内容已经覆盖机考全部知识点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题型识别速查表 · 综合练习题单 · 一道例题的完整拆解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阶段综合练习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题型识别速查表：看到这些字眼，往这想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9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3017520"/>
                <a:gridCol w="1280160"/>
              </a:tblGrid>
              <a:tr h="2697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题面里出现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大概率考点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周次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「统计出现次数」「按……排序输出」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字典 + 多关键字排序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「n ≤ 10⁶」「每次询问」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预处理 + O(1) 查询（前缀和 / 筛）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W4 W6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「最少多少个」「最多能选几个」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贪心（先想排序键）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W6 W10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「合并 / 覆盖 / 相交」+ 区间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区间贪心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W10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「有多少种方案」「最大 / 最小价值」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DP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W10 W11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「每个物品选或不选」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0-1 背包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W11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「最少几步」「最短路径」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BFS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W12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「所有路径」「全排列 / 组合」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回溯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W9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「是否连通」「分成几组」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并查集 / DFS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W9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「最小的最大值」「最大的最小值」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二分答案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W12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「下一个更大的」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单调栈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W7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表达式、括号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栈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W7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阶段综合练习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综合练习题单（1/2）：A 组 · B 组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组（基础巩固，全部应 AC）</a:t>
            </a:r>
            <a:endParaRPr lang="en-US" sz="125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4023360" cy="914400"/>
        </p:xfrm>
        <a:graphic>
          <a:graphicData uri="http://schemas.openxmlformats.org/drawingml/2006/table">
            <a:tbl>
              <a:tblPr/>
              <a:tblGrid>
                <a:gridCol w="320040"/>
                <a:gridCol w="1417320"/>
                <a:gridCol w="1005840"/>
                <a:gridCol w="128016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#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题目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编号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考点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排队做实验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M21554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排序+贪心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买学区房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M19963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排序+中位数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装箱问题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01017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贪心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病人排队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E07618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稳定排序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校门外的树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02808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差分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4663440" y="93268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组（核心算法）</a:t>
            </a:r>
            <a:endParaRPr lang="en-US" sz="1250" dirty="0"/>
          </a:p>
        </p:txBody>
      </p:sp>
      <p:graphicFrame>
        <p:nvGraphicFramePr>
          <p:cNvPr id="4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234440"/>
          <a:ext cx="402336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1371600"/>
                <a:gridCol w="1005840"/>
                <a:gridCol w="128016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#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题目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编号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考点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采药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02773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0-1 背包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数字三角形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02760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路径 DP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拦截导弹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M02945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LIS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鸣人和佐助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04115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带状态 BFS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河中跳房子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M08210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二分答案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宗教信仰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02524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并查集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八皇后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02754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回溯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457200" y="44348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 / M / T 开头与纯数字编号：cs101.openjudge.cn。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阶段综合练习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综合练习题单（2/2）：C 组（提高，选做）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endParaRPr lang="en-US" sz="9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2743200"/>
                <a:gridCol w="1828800"/>
                <a:gridCol w="31089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#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题目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编号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考点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最大子矩阵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M02766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降维 + Kadane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走山路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M20106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Dijkstra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变换的迷宫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T04129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多维状态 BFS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16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食物链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01182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扩展域并查集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17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小游戏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T02802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BFS + 转弯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世界杯只因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T27104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区间覆盖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61188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CFE0D8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37033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怎么用这两页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3995928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先挑 A、B 组各做完，确认第 1–12 周的基本功都在——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这两页本身就是一份体检表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：哪个考点对不上号，回对应周次的讲义重看。</a:t>
            </a:r>
            <a:endParaRPr lang="en-US" sz="12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阶段综合练习 · 综合例题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一道综合例题的完整拆解（1/3）：题目与思路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FFF6E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94360" y="10515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题目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344168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个任务，第 i 个耗时 tᵢ、截止时间 dᵢ，可以任意顺序执行（不可中断），求最多能按时完成几个任务。（n ≤ 10⁵）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1920240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19202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960120" y="1892808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看数据范围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2743200" y="1892808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≤ 10⁵ ⟹ 只能 O(n log n)，排除 DP 的 O(n²)。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2578608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57200" y="25786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60120" y="2551176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认题型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2743200" y="2551176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「最多能选几个」⟹ 贪心。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57200" y="3236976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57200" y="32369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60120" y="3209544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想排序键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2743200" y="3209544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截止时间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排序（先做快到期的）。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3895344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57200" y="38953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960120" y="3867912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处理冲突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2743200" y="3867912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 d 升序加任务；总时长超了截止时间，就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丢掉已选任务里耗时最长的那个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（大根堆维护）。</a:t>
            </a:r>
            <a:endParaRPr lang="en-US" sz="11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阶段综合练习 · 综合例题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一道综合例题的完整拆解（2/3）：代码与证明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303520" cy="260604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157216" cy="2514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heapq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max_tasks(tasks):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"""tasks: [(耗时, 截止时间)]；返回最多按时完成的任务数。"""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tasks = sorted(tasks, key=lambda t: t[1])       </a:t>
            </a: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按截止时间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heap, total = [], 0                             </a:t>
            </a: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heap 存 -耗时（大根堆）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cost, deadline in tasks: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heapq.heappush(heap, -cost)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total += cost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total &gt; deadline:                        </a:t>
            </a: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超时了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total += heapq.heappop(heap)            </a:t>
            </a: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丢掉耗时最长的（弹出的是负数）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len(heap)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print(max_tasks([(3, 4), (2, 3), (1, 2)]))          </a:t>
            </a: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print(max_tasks([(5, 5), (1, 1), (1, 2), (1, 3)]))  </a:t>
            </a: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897880" y="960120"/>
            <a:ext cx="2788920" cy="777240"/>
          </a:xfrm>
          <a:prstGeom prst="roundRect">
            <a:avLst>
              <a:gd name="adj" fmla="val 9412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007608" y="101498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6007608" y="1216152"/>
            <a:ext cx="2569464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897880" y="1874520"/>
            <a:ext cx="2788920" cy="1691640"/>
          </a:xfrm>
          <a:prstGeom prst="roundRect">
            <a:avLst>
              <a:gd name="adj" fmla="val 4324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035040" y="196596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为什么这个贪心是对的（交换论证）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035040" y="2258568"/>
            <a:ext cx="2514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若某一步超时，丢掉耗时最长的任务，剩余总时长最小，对后面的任务最有利，且</a:t>
            </a:r>
            <a:r>
              <a:rPr lang="en-US" sz="108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丢一个正好把数量减一</a:t>
            </a:r>
            <a:r>
              <a:rPr lang="en-US" sz="108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——不可能有更好的选择。</a:t>
            </a:r>
            <a:endParaRPr lang="en-US" sz="108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阶段综合练习 · 综合例题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一道综合例题的完整拆解（3/3）：验证 —— 和暴力对拍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14400"/>
            <a:ext cx="8229600" cy="3063240"/>
          </a:xfrm>
          <a:prstGeom prst="roundRect">
            <a:avLst>
              <a:gd name="adj" fmla="val 2388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60120"/>
            <a:ext cx="8083296" cy="2971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itertools, random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max_tasks_brute(tasks):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 = len(tasks)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k in range(n, 0, -1):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combo in itertools.combinations(range(n), k):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for order in itertools.permutations(combo):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t, ok = 0, True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for i in order: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t += tasks[i][0]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if t &gt; tasks[i][1]: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ok = False; break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if ok: return k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0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random.seed(101)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_ in range(200):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 = random.randint(1, 6)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ts = [(random.randint(1, 5), random.randint(1, 12)) for _ in range(n)]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assert max_tasks(ts) == max_tasks_brute(ts), ts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print("贪心与暴力一致（200 组随机数据）")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4023360"/>
            <a:ext cx="8229600" cy="594360"/>
          </a:xfrm>
          <a:prstGeom prst="roundRect">
            <a:avLst>
              <a:gd name="adj" fmla="val 12308"/>
            </a:avLst>
          </a:prstGeom>
          <a:solidFill>
            <a:srgbClr val="CFE0D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41148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这一节的流程就是考场上应有的流程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4407408"/>
            <a:ext cx="79552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看范围 → 认题型 → 定排序键 / 状态 → 处理冲突 → 对拍验证。</a:t>
            </a:r>
            <a:endParaRPr lang="en-US" sz="11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✎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本周练习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本周作业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</a:t>
            </a:r>
            <a:endParaRPr lang="en-US" sz="9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4572000"/>
                <a:gridCol w="310896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#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任务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说明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完成 5.2 的 A 组全部 5 题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基础巩固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完成 5.2 的 B 组至少 5 题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核心算法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 dis.dis 反汇编一个函数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观察字节码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实测按行 / 按列遍历的时间差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局部性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为 A 组任一题写一份「暴力 + 对拍」脚本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验证方法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06A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6（选做）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 组任选 2 题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提高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?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本周练习 · 思考题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思考题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023360" cy="1508760"/>
          </a:xfrm>
          <a:prstGeom prst="roundRect">
            <a:avLst>
              <a:gd name="adj" fmla="val 4848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1097280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21792" y="10972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10972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GIL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1527048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 Python 有 GIL 还要提供 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threading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？举一个多线程真能加速的场景。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663440" y="960120"/>
            <a:ext cx="4023360" cy="1508760"/>
          </a:xfrm>
          <a:prstGeom prst="roundRect">
            <a:avLst>
              <a:gd name="adj" fmla="val 4848"/>
            </a:avLst>
          </a:prstGeom>
          <a:solidFill>
            <a:srgbClr val="FFF6E0"/>
          </a:solidFill>
          <a:ln/>
        </p:spPr>
      </p:sp>
      <p:sp>
        <p:nvSpPr>
          <p:cNvPr id="13" name="Shape 11"/>
          <p:cNvSpPr/>
          <p:nvPr/>
        </p:nvSpPr>
        <p:spPr>
          <a:xfrm>
            <a:off x="4828032" y="1097280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28032" y="10972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303520" y="10972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内存开销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846320" y="1527048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sys.getsizeof([0] * 1000)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只有 8 KB 左右，但这 1000 个整数本身占多少？为什么 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getsizeof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不把它们算进去？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57200" y="2606040"/>
            <a:ext cx="4023360" cy="1508760"/>
          </a:xfrm>
          <a:prstGeom prst="roundRect">
            <a:avLst>
              <a:gd name="adj" fmla="val 4848"/>
            </a:avLst>
          </a:prstGeom>
          <a:solidFill>
            <a:srgbClr val="FFF6E0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" y="2743200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" y="2743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97280" y="27432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虚拟内存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3172968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段错误在虚拟地址空间的哪个区域最容易发生？为什么？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663440" y="2606040"/>
            <a:ext cx="4023360" cy="1508760"/>
          </a:xfrm>
          <a:prstGeom prst="roundRect">
            <a:avLst>
              <a:gd name="adj" fmla="val 4848"/>
            </a:avLst>
          </a:prstGeom>
          <a:solidFill>
            <a:srgbClr val="F1F4F2"/>
          </a:solidFill>
          <a:ln/>
        </p:spPr>
      </p:sp>
      <p:sp>
        <p:nvSpPr>
          <p:cNvPr id="23" name="Shape 21"/>
          <p:cNvSpPr/>
          <p:nvPr/>
        </p:nvSpPr>
        <p:spPr>
          <a:xfrm>
            <a:off x="4828032" y="2743200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828032" y="2743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303520" y="27432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估内存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4846320" y="3172968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若一道题 n = 10⁷、内存限制 64 MB，用 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存布尔数组会 MLE 吗？用 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bytearray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呢？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4251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思考题 5：5.3 的贪心若改成「按耗时排序」，构造一组数据说明它是错的。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-2103120"/>
            <a:ext cx="3108960" cy="310896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54864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本周小结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5" name="Shape 3"/>
          <p:cNvSpPr/>
          <p:nvPr/>
        </p:nvSpPr>
        <p:spPr>
          <a:xfrm>
            <a:off x="713232" y="1234440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34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0972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编译与解释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880360" y="109728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解释了「同一算法 C++ 过而 Python TLE」：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的对策是换算法，不是抠常数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1856232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0" name="Shape 8"/>
          <p:cNvSpPr/>
          <p:nvPr/>
        </p:nvSpPr>
        <p:spPr>
          <a:xfrm>
            <a:off x="713232" y="1993392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19933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1856232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字节码与 GIL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2880360" y="1856232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每条字节码都是一次解释器循环；GIL 让多线程对 CPU 密集任务无效，本课用线程只为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加大递归栈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615184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" y="2752344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3232" y="27523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2615184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虚拟地址空间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2880360" y="2615184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栈（8 MB，深递归撑爆它）、堆（Python 对象）、代码段；页表 + MMU 完成翻译，缺页中断处理未映射访问。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374136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0" name="Shape 18"/>
          <p:cNvSpPr/>
          <p:nvPr/>
        </p:nvSpPr>
        <p:spPr>
          <a:xfrm>
            <a:off x="713232" y="3511296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13232" y="3511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3374136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局部性与内存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2880360" y="3374136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顺序访问连续内存更快；</a:t>
            </a:r>
            <a:r>
              <a:rPr lang="en-US" sz="1200" b="1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存 10⁶ 个 int 约 40 MB，</a:t>
            </a:r>
            <a:r>
              <a:rPr lang="en-US" sz="1200" b="1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bytearray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约 1 MB，OJ 限制常见 64–256 MB。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133088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5" name="Shape 23"/>
          <p:cNvSpPr/>
          <p:nvPr/>
        </p:nvSpPr>
        <p:spPr>
          <a:xfrm>
            <a:off x="713232" y="4270248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3232" y="4270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234440" y="4133088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综合题的流程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2880360" y="4133088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看范围 → 认题型 → 定策略 → 处理冲突 → 对拍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——这是接下来做题时该走的完整流程。</a:t>
            </a:r>
            <a:endParaRPr lang="en-US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下周预告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素养与 12 月月考复习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LLM 原理 · 幻觉与验证 · 提示词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月考六题讲评与错误归因 · 复习清单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计算概论（B）第 13 周 计算机原理（2/2）与阶段综合练习</dc:title>
  <dc:subject>PptxGenJS Presentation</dc:subject>
  <dc:creator>Hongfei Yan</dc:creator>
  <cp:lastModifiedBy>Hongfei Yan</cp:lastModifiedBy>
  <cp:revision>1</cp:revision>
  <dcterms:created xsi:type="dcterms:W3CDTF">2026-09-22T06:19:44Z</dcterms:created>
  <dcterms:modified xsi:type="dcterms:W3CDTF">2026-09-22T06:19:44Z</dcterms:modified>
</cp:coreProperties>
</file>