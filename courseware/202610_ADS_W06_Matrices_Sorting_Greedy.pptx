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304" r:id="rId55"/>
    <p:sldId id="305" r:id="rId56"/>
    <p:sldId id="306" r:id="rId57"/>
    <p:sldId id="307" r:id="rId58"/>
    <p:sldId id="308" r:id="rId59"/>
    <p:sldId id="309" r:id="rId60"/>
    <p:sldId id="261" r:id="rId7"/>
    <p:sldId id="262" r:id="rId8"/>
    <p:sldId id="263" r:id="rId9"/>
    <p:sldId id="264" r:id="rId10"/>
    <p:sldId id="265" r:id="rId11"/>
    <p:sldId id="266" r:id="rId12"/>
    <p:sldId id="267" r:id="rId13"/>
    <p:sldId id="301" r:id="rId52"/>
    <p:sldId id="302" r:id="rId53"/>
    <p:sldId id="303" r:id="rId54"/>
    <p:sldId id="268" r:id="rId14"/>
    <p:sldId id="310" r:id="rId61"/>
    <p:sldId id="311" r:id="rId62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312" r:id="rId63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12.xml"/><Relationship Id="rId8" Type="http://schemas.openxmlformats.org/officeDocument/2006/relationships/slide" Target="slides/slide13.xml"/><Relationship Id="rId9" Type="http://schemas.openxmlformats.org/officeDocument/2006/relationships/slide" Target="slides/slide14.xml"/><Relationship Id="rId10" Type="http://schemas.openxmlformats.org/officeDocument/2006/relationships/slide" Target="slides/slide15.xml"/><Relationship Id="rId11" Type="http://schemas.openxmlformats.org/officeDocument/2006/relationships/slide" Target="slides/slide16.xml"/><Relationship Id="rId12" Type="http://schemas.openxmlformats.org/officeDocument/2006/relationships/slide" Target="slides/slide17.xml"/><Relationship Id="rId13" Type="http://schemas.openxmlformats.org/officeDocument/2006/relationships/slide" Target="slides/slide18.xml"/><Relationship Id="rId14" Type="http://schemas.openxmlformats.org/officeDocument/2006/relationships/slide" Target="slides/slide22.xml"/><Relationship Id="rId15" Type="http://schemas.openxmlformats.org/officeDocument/2006/relationships/slide" Target="slides/slide25.xml"/><Relationship Id="rId16" Type="http://schemas.openxmlformats.org/officeDocument/2006/relationships/slide" Target="slides/slide26.xml"/><Relationship Id="rId17" Type="http://schemas.openxmlformats.org/officeDocument/2006/relationships/slide" Target="slides/slide27.xml"/><Relationship Id="rId18" Type="http://schemas.openxmlformats.org/officeDocument/2006/relationships/slide" Target="slides/slide28.xml"/><Relationship Id="rId19" Type="http://schemas.openxmlformats.org/officeDocument/2006/relationships/slide" Target="slides/slide29.xml"/><Relationship Id="rId20" Type="http://schemas.openxmlformats.org/officeDocument/2006/relationships/slide" Target="slides/slide30.xml"/><Relationship Id="rId21" Type="http://schemas.openxmlformats.org/officeDocument/2006/relationships/slide" Target="slides/slide31.xml"/><Relationship Id="rId22" Type="http://schemas.openxmlformats.org/officeDocument/2006/relationships/slide" Target="slides/slide32.xml"/><Relationship Id="rId23" Type="http://schemas.openxmlformats.org/officeDocument/2006/relationships/slide" Target="slides/slide33.xml"/><Relationship Id="rId24" Type="http://schemas.openxmlformats.org/officeDocument/2006/relationships/slide" Target="slides/slide34.xml"/><Relationship Id="rId25" Type="http://schemas.openxmlformats.org/officeDocument/2006/relationships/slide" Target="slides/slide35.xml"/><Relationship Id="rId26" Type="http://schemas.openxmlformats.org/officeDocument/2006/relationships/slide" Target="slides/slide36.xml"/><Relationship Id="rId27" Type="http://schemas.openxmlformats.org/officeDocument/2006/relationships/slide" Target="slides/slide37.xml"/><Relationship Id="rId28" Type="http://schemas.openxmlformats.org/officeDocument/2006/relationships/slide" Target="slides/slide38.xml"/><Relationship Id="rId29" Type="http://schemas.openxmlformats.org/officeDocument/2006/relationships/slide" Target="slides/slide39.xml"/><Relationship Id="rId30" Type="http://schemas.openxmlformats.org/officeDocument/2006/relationships/slide" Target="slides/slide40.xml"/><Relationship Id="rId31" Type="http://schemas.openxmlformats.org/officeDocument/2006/relationships/slide" Target="slides/slide41.xml"/><Relationship Id="rId32" Type="http://schemas.openxmlformats.org/officeDocument/2006/relationships/slide" Target="slides/slide42.xml"/><Relationship Id="rId33" Type="http://schemas.openxmlformats.org/officeDocument/2006/relationships/slide" Target="slides/slide43.xml"/><Relationship Id="rId34" Type="http://schemas.openxmlformats.org/officeDocument/2006/relationships/slide" Target="slides/slide44.xml"/><Relationship Id="rId35" Type="http://schemas.openxmlformats.org/officeDocument/2006/relationships/slide" Target="slides/slide45.xml"/><Relationship Id="rId36" Type="http://schemas.openxmlformats.org/officeDocument/2006/relationships/slide" Target="slides/slide46.xml"/><Relationship Id="rId37" Type="http://schemas.openxmlformats.org/officeDocument/2006/relationships/slide" Target="slides/slide47.xml"/><Relationship Id="rId38" Type="http://schemas.openxmlformats.org/officeDocument/2006/relationships/slide" Target="slides/slide48.xml"/><Relationship Id="rId39" Type="http://schemas.openxmlformats.org/officeDocument/2006/relationships/slide" Target="slides/slide49.xml"/><Relationship Id="rId40" Type="http://schemas.openxmlformats.org/officeDocument/2006/relationships/slide" Target="slides/slide50.xml"/><Relationship Id="rId41" Type="http://schemas.openxmlformats.org/officeDocument/2006/relationships/slide" Target="slides/slide51.xml"/><Relationship Id="rId42" Type="http://schemas.openxmlformats.org/officeDocument/2006/relationships/slide" Target="slides/slide52.xml"/><Relationship Id="rId43" Type="http://schemas.openxmlformats.org/officeDocument/2006/relationships/slide" Target="slides/slide53.xml"/><Relationship Id="rId44" Type="http://schemas.openxmlformats.org/officeDocument/2006/relationships/slide" Target="slides/slide54.xml"/><Relationship Id="rId45" Type="http://schemas.openxmlformats.org/officeDocument/2006/relationships/slide" Target="slides/slide55.xml"/><Relationship Id="rId46" Type="http://schemas.openxmlformats.org/officeDocument/2006/relationships/slide" Target="slides/slide56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openxmlformats.org/officeDocument/2006/relationships/slide" Target="slides/slide19.xml"/><Relationship Id="rId53" Type="http://schemas.openxmlformats.org/officeDocument/2006/relationships/slide" Target="slides/slide20.xml"/><Relationship Id="rId54" Type="http://schemas.openxmlformats.org/officeDocument/2006/relationships/slide" Target="slides/slide21.xml"/><Relationship Id="rId55" Type="http://schemas.openxmlformats.org/officeDocument/2006/relationships/slide" Target="slides/slide6.xml"/><Relationship Id="rId56" Type="http://schemas.openxmlformats.org/officeDocument/2006/relationships/slide" Target="slides/slide7.xml"/><Relationship Id="rId57" Type="http://schemas.openxmlformats.org/officeDocument/2006/relationships/slide" Target="slides/slide8.xml"/><Relationship Id="rId58" Type="http://schemas.openxmlformats.org/officeDocument/2006/relationships/slide" Target="slides/slide9.xml"/><Relationship Id="rId59" Type="http://schemas.openxmlformats.org/officeDocument/2006/relationships/slide" Target="slides/slide10.xml"/><Relationship Id="rId60" Type="http://schemas.openxmlformats.org/officeDocument/2006/relationships/slide" Target="slides/slide11.xml"/><Relationship Id="rId61" Type="http://schemas.openxmlformats.org/officeDocument/2006/relationships/slide" Target="slides/slide23.xml"/><Relationship Id="rId62" Type="http://schemas.openxmlformats.org/officeDocument/2006/relationships/slide" Target="slides/slide24.xml"/><Relationship Id="rId63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这页代码的特别之处：三层循环的顺序是 i→t→j，不是常见的 i→j→t。先让大家看代码，问一句“内层循环在干什么”：拿 A[i][t] 这一个数 v，去乘 B 的第 t 整行，累加到 C 的第 i 整行。</a:t>
            </a:r>
          </a:p>
          <a:p>
            <a:r>
              <a:rPr lang="zh-CN" dirty="0"/>
              <a:t>注释里的两个小技巧（提出 Ai/Ci、跳过零）下面第 21 页展开。右侧两张卡片：复杂度 O(m·k·n)；E18161 要先判断维度，不匹配输出 Error!。</a:t>
            </a:r>
          </a:p>
          <a:p>
            <a:r>
              <a:rPr lang="zh-CN" dirty="0"/>
              <a:t>接下来三页：19 页讲为什么能换顺序，20 页手算追踪，21 页讲优化技巧和注意事项。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这页把稀疏矩阵乘法拆成三步，先不管怎么省空间，先保证好理解：</a:t>
            </a:r>
          </a:p>
          <a:p>
            <a:r>
              <a:rPr lang="zh-CN" dirty="0"/>
              <a:t>① 把三元组还原成普通矩阵：(行,列,值) 放进 M[行][列]，其余全是 0。</a:t>
            </a:r>
          </a:p>
          <a:p>
            <a:r>
              <a:rPr lang="zh-CN" dirty="0"/>
              <a:t>② 用第 12 页学过的 matmul 做普通矩阵乘法，一行都不用改。例：C 的第 1 行 = 2 × B 的第 2 行 = [8,0,10]。</a:t>
            </a:r>
          </a:p>
          <a:p>
            <a:r>
              <a:rPr lang="zh-CN" dirty="0"/>
              <a:t>③ 把结果里的非零元扫出来转回三元组：按行、再按列顺序扫，输出天然有序，值为 0 的不输出。</a:t>
            </a:r>
          </a:p>
          <a:p>
            <a:r>
              <a:rPr lang="zh-CN" dirty="0"/>
              <a:t>结果：(0,1,3) (1,0,8) (1,2,10)。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先对比两种写法。经典写法是“按格子算”：固定 C[i][j]，把 k 项乘积一次加完，就是 A 的第 i 行与 B 的第 j 列做点积。</a:t>
            </a:r>
          </a:p>
          <a:p>
            <a:r>
              <a:rPr lang="zh-CN" dirty="0"/>
              <a:t>本页写法是“按行累加”：取 A[i][t] 这一个数 v，乘 B 的第 t 整行，累加到 C 的第 i 整行，一共 k 轮。</a:t>
            </a:r>
          </a:p>
          <a:p>
            <a:r>
              <a:rPr lang="zh-CN" dirty="0"/>
              <a:t>为什么结果一样：C[i][j] 本来就是 k 项之和，加法有交换律，一次加完和分 k 轮每次加一项，总和相同。</a:t>
            </a:r>
          </a:p>
          <a:p>
            <a:r>
              <a:rPr lang="zh-CN" dirty="0"/>
              <a:t>记忆句：C 的第 i 行 = Σₜ A[i][t] × （B 的第 t 行）。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92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带着学生手算一遍。A=[[1,2],[3,4]]，B=[[5,6],[7,8]]。</a:t>
            </a:r>
          </a:p>
          <a:p>
            <a:r>
              <a:rPr lang="zh-CN" dirty="0"/>
              <a:t>i=0：Ci 从 [0,0] 开始。t=0 时 v=1，Bt=[5,6]，Ci 变成 [5,6]；t=1 时 v=2，Bt=[7,8]，加上 [14,16]，得 [19,22]，这就是 C 的第 0 行。</a:t>
            </a:r>
          </a:p>
          <a:p>
            <a:r>
              <a:rPr lang="zh-CN" dirty="0"/>
              <a:t>i=1：换新的 Ci，又从 [0,0] 开始。t=0 时 v=3，加 [15,18]；t=1 时 v=4，加 [28,32]，得 [43,50]。</a:t>
            </a:r>
          </a:p>
          <a:p>
            <a:r>
              <a:rPr lang="zh-CN" dirty="0"/>
              <a:t>强调：Ci 是每一轮累加出来的，不是每次重新算；每个 i 结束时，Ci 就是 C 的完整一行。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9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三个优化技巧，都只是常数优化。</a:t>
            </a:r>
          </a:p>
          <a:p>
            <a:r>
              <a:rPr lang="zh-CN" dirty="0"/>
              <a:t>1. 局部变量：Ai=A[i]、Ci=C[i]、Bt,v=B[t],Ai[t]，内层只剩一维索引。Ci 和 C[i] 是同一个列表，改 Ci 就是改 C。</a:t>
            </a:r>
          </a:p>
          <a:p>
            <a:r>
              <a:rPr lang="zh-CN" dirty="0"/>
              <a:t>2. 跳过 0：A[i][t]=0 时这一轮加的全是 0，直接跳过内层 n 次循环；矩阵 0 多时更明显。</a:t>
            </a:r>
          </a:p>
          <a:p>
            <a:r>
              <a:rPr lang="zh-CN" dirty="0"/>
              <a:t>3. 按行连续访问：内层沿着 B 的一行走，比在列上跳着读更顺。</a:t>
            </a:r>
          </a:p>
          <a:p>
            <a:r>
              <a:rPr lang="zh-CN" dirty="0"/>
              <a:t>最后强调两点：复杂度仍是 O(m·k·n)，n=1000 时约 10⁹，Python 必然 TLE；这段代码默认 len(A[0]) == len(B)，做 E18161 要先判断维度，不匹配输出 Error!。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94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本页给没学过矩阵的同学补基础。先说向量：数字排成一行叫行向量，排成一列叫列向量。再说矩阵：数字排成长方形，m 行 n 列的矩阵形状记作 m×n。</a:t>
            </a:r>
          </a:p>
          <a:p>
            <a:r>
              <a:rPr lang="zh-CN" dirty="0"/>
              <a:t>强调口诀：说形状、说位置，都是先说行，再说列。2×3 是“2 行 3 列”。</a:t>
            </a:r>
          </a:p>
          <a:p>
            <a:r>
              <a:rPr lang="zh-CN" dirty="0"/>
              <a:t>对应到 Python：二维列表 A=[[1,2,3],[4,5,6]]，len(A) 是行数，len(A[0]) 是列数。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9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元素：第 i 行第 j 列的数。数学书里下标从 1 开始，Python 从 0 开始，所以第一行第一列是 A[0][0]。A[i] 是整整一行，是一个一维列表。</a:t>
            </a:r>
          </a:p>
          <a:p>
            <a:r>
              <a:rPr lang="zh-CN" dirty="0"/>
              <a:t>转置：行变列、列变行，A[i][j] 变成 Aᵀ[j][i]，形状 m×n 变成 n×m。Python 里 list(zip(*A)) 一行搞定，1.3 节会继续用。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92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加法：两个矩阵形状必须完全相同，对应位置相加。例子里 3×2 加 3×2，得 [[3,1],[4,2],[3,1]]。减法同理。</a:t>
            </a:r>
          </a:p>
          <a:p>
            <a:r>
              <a:rPr lang="zh-CN" dirty="0"/>
              <a:t>乘法：A 的列数必须等于 B 的行数，m×n 乘 n×p 得 m×p。例子 2×3 乘 3×2 得 2×2。以 58 为例：1×7+2×9+3×11，就是 A 第 0 行与 B 第 0 列对应相乘再求和。</a:t>
            </a:r>
          </a:p>
          <a:p>
            <a:r>
              <a:rPr lang="zh-CN" dirty="0"/>
              <a:t>形状对不上，题目里就输出 Error!。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92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例题 CF 263A。5×5 矩阵里只有一个 1，每次可以交换相邻两行或相邻两列，求把 1 移到正中心的最少步数。</a:t>
            </a:r>
          </a:p>
          <a:p>
            <a:r>
              <a:rPr lang="zh-CN" dirty="0"/>
              <a:t>思路：行和列互不影响。设 1 在第 r 行第 c 列，行方向要 |r−3| 步，列方向要 |c−3| 步，相加即可。样例 1：1 在第 2 行第 5 列，答案 1+2=3。</a:t>
            </a:r>
          </a:p>
          <a:p>
            <a:r>
              <a:rPr lang="zh-CN" dirty="0"/>
              <a:t>代码要点：一行一行读，用 1 in row 判断，用 row.index(1)+1 得到列号，注意行号列号从 1 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92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例题 E18161：计算 A·B+C。关键是先判断形状，再计算。</a:t>
            </a:r>
          </a:p>
          <a:p>
            <a:r>
              <a:rPr lang="zh-CN" dirty="0"/>
              <a:t>两个条件：A 的列数等于 B 的行数（乘法能做），A·B 的形状等于 C 的形状（加法能做）。任何一个不满足就输出 Error!。</a:t>
            </a:r>
          </a:p>
          <a:p>
            <a:r>
              <a:rPr lang="zh-CN" dirty="0"/>
              <a:t>样例 1：A 是 3×1，B 是 1×2，乘出 3×2，和 C 同形，结果 [[3,1],[4,2],[3,1]]。样例 2：A 的列数 1 不等于 B 的行数 2，直接 Error!。</a:t>
            </a:r>
          </a:p>
          <a:p>
            <a:r>
              <a:rPr lang="zh-CN" dirty="0"/>
              <a:t>提醒：这类题失分几乎都在漏判维度。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92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代码分三步：用 read() 读三个矩阵；先判形状；再用三重循环算 A·B+C，这里把 C[i][j] 当作累加的起点，省一次加法循环。</a:t>
            </a:r>
          </a:p>
          <a:p>
            <a:r>
              <a:rPr lang="zh-CN" dirty="0"/>
              <a:t>复杂度：乘法 O(m·n·p)，加法 O(m·p)。</a:t>
            </a:r>
          </a:p>
          <a:p>
            <a:r>
              <a:rPr lang="zh-CN" dirty="0"/>
              <a:t>补充：Python 3.5 起有 @ 运算符，在自定义类里实现 __matmul__ 和 __add__，就能写 A @ B + C，维度不合法时 raise ValueError，用 try/except 输出 Error!。</a:t>
            </a:r>
          </a:p>
          <a:p>
            <a:r>
              <a:rPr lang="zh-CN" dirty="0"/>
              <a:t>乘法的循环顺序怎么优化，见后面的矩阵乘法几页。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92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代码就是把上页三步写成三个函数。to_dense 还原，to_sparse 用推导式按行优先扫描非零元，sparse_matmul 把它们连起来，中间调用第 12 页的 matmul。</a:t>
            </a:r>
          </a:p>
          <a:p>
            <a:r>
              <a:rPr lang="zh-CN" dirty="0"/>
              <a:t>注意：to_dense 要开 n×n 的空间，n 不大时最稳；输入输出格式以题面为准，读入后组成 a_items、b_items，再按行列升序输出。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10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这是进阶写法，不转换成普通矩阵，直接在三元组上乘。思路还是“A 的一个数乘 B 的一整行”，只是只乘非零元。</a:t>
            </a:r>
          </a:p>
          <a:p>
            <a:r>
              <a:rPr lang="zh-CN" dirty="0"/>
              <a:t>brow[t] 存 B 第 t 行的非零元；A 的每个非零元 (i,t,v) 配上 brow[t] 里的 (j,w)，把 v*w 累加到 acc[(i,j)]，字典代替 C。</a:t>
            </a:r>
          </a:p>
          <a:p>
            <a:r>
              <a:rPr lang="zh-CN" dirty="0"/>
              <a:t>怎么选：转换法好懂但占 n² 空间；直接法只和非零元个数有关，n 很大时用。先保证做对，再考虑省空间。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10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计算概论（B） · 第 6 周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矩阵、排序与贪心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认识时间复杂度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二维列表表示 · 保护圈与方向数组 · 转置 / 旋转 · 矩阵乘法 · 二维前缀和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sorted 与 key · 稳定性 · 五种基础排序 · 归并求逆序对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贪心的三要素 · 排序型贪心 · 交换论证 · 同一道题的三种复杂度写法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2026 Fall · github.com/GMyhf/2026fall-cs101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二维数据怎么摆脱越界判断？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保护圈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在四周补一圈哨兵值，内部循环就不用再判断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&lt;= i &lt; m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会用就够吗？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多关键字、稳定性、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自定义比较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——够应付大多数题，但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排序键怎么来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才是难点。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贪心为什么有时错？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找零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[1,3,4]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凑 6，贪心给 3 枚，最优只要 2 枚。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交换论证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才能把排序键真正推出来。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从「写对」走向「写得快」：</a:t>
            </a:r>
            <a:r>
              <a:rPr lang="en-US" sz="14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同一个问题</a:t>
            </a: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，不同的排列组合方式，</a:t>
            </a:r>
            <a:r>
              <a:rPr lang="en-US" sz="14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复杂度可以差几个数量级</a:t>
            </a: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矩阵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1.0–1.1 矩阵基础、表示与遍历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保护圈与方向数组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转置与旋转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矩阵乘法（含稀疏矩阵）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二维前缀和与容斥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排序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sorted / key / 稳定性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五种基础排序及复杂度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归并排序求逆序对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3–4  贪心与复杂度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3.1–3.2 三要素、贪心会犯的错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排序型贪心：四道例题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交换论证：把排序键推出来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 常见形状速查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同一道题的三种复杂度写法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四行代码，四个本周要讲清楚的现象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06577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[[0] * 3] * 2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a[0][0] = 9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print(a)   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矩阵：改了一行，两行都变了？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print(sorted([3, 1, 2]))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排序：一句 sorted() 就够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[("a", 2), ("b", 1)]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rows.sort(key=lambda r: r[1])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print(rows)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稳定排序：ties 保持原序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print(4 + 1 + 1, "vs", 3 + 3)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贪心找零 [1,3,4] 凑 6：贪心 vs 最优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97880" y="10058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0760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1261872"/>
            <a:ext cx="256946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[[9, 0, 0], [9, 0, 0]]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[('b', 1), ('a', 2)]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vs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97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[[0]*3]*2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26974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三行其实是同一个列表的三个引用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18120" y="271576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18120" y="27157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1.1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815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sorted(...)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30815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默认升序，返回新列表，不改原表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18120" y="3099816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18120" y="3099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2.1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4655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rows.sort 两次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346557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的排序是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818120" y="348386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18120" y="34838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2.1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8496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4+1+1 vs 3+3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514600" y="38496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贪心给出 3 枚，最优只要 2 枚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818120" y="386791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18120" y="38679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3.2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二维列表怎么摆、怎么摆脱边界判断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矩阵基础 · 表示与遍历 · 保护圈 · 转置旋转 · 矩阵乘法 · 二维前缀和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先修：矩阵基础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矩阵是什么：数字排成行与列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101" name="Shape 101"/>
          <p:cNvSpPr/>
          <p:nvPr/>
        </p:nvSpPr>
        <p:spPr>
          <a:xfrm>
            <a:off x="457200" y="960120"/>
            <a:ext cx="2700000" cy="23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02" name="Text 102"/>
          <p:cNvSpPr txBox="1"/>
          <p:nvPr/>
        </p:nvSpPr>
        <p:spPr>
          <a:xfrm>
            <a:off x="587200" y="1020120"/>
            <a:ext cx="244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向量：排成一行或一列</a:t>
            </a:r>
          </a:p>
        </p:txBody>
      </p:sp>
      <p:sp>
        <p:nvSpPr>
          <p:cNvPr id="103" name="Shape 103"/>
          <p:cNvSpPr/>
          <p:nvPr/>
        </p:nvSpPr>
        <p:spPr>
          <a:xfrm>
            <a:off x="657200" y="150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4" name="Text 104"/>
          <p:cNvSpPr txBox="1"/>
          <p:nvPr/>
        </p:nvSpPr>
        <p:spPr>
          <a:xfrm>
            <a:off x="657200" y="150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105" name="Shape 105"/>
          <p:cNvSpPr/>
          <p:nvPr/>
        </p:nvSpPr>
        <p:spPr>
          <a:xfrm>
            <a:off x="987200" y="150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Text 106"/>
          <p:cNvSpPr txBox="1"/>
          <p:nvPr/>
        </p:nvSpPr>
        <p:spPr>
          <a:xfrm>
            <a:off x="987200" y="150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2</a:t>
            </a:r>
          </a:p>
        </p:txBody>
      </p:sp>
      <p:sp>
        <p:nvSpPr>
          <p:cNvPr id="107" name="Shape 107"/>
          <p:cNvSpPr/>
          <p:nvPr/>
        </p:nvSpPr>
        <p:spPr>
          <a:xfrm>
            <a:off x="1317200" y="150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8" name="Text 108"/>
          <p:cNvSpPr txBox="1"/>
          <p:nvPr/>
        </p:nvSpPr>
        <p:spPr>
          <a:xfrm>
            <a:off x="1317200" y="150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657200" y="1870000"/>
            <a:ext cx="1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行向量 1×3</a:t>
            </a:r>
          </a:p>
        </p:txBody>
      </p:sp>
      <p:sp>
        <p:nvSpPr>
          <p:cNvPr id="110" name="Shape 110"/>
          <p:cNvSpPr/>
          <p:nvPr/>
        </p:nvSpPr>
        <p:spPr>
          <a:xfrm>
            <a:off x="2157200" y="140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1" name="Text 111"/>
          <p:cNvSpPr txBox="1"/>
          <p:nvPr/>
        </p:nvSpPr>
        <p:spPr>
          <a:xfrm>
            <a:off x="2157200" y="140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112" name="Shape 112"/>
          <p:cNvSpPr/>
          <p:nvPr/>
        </p:nvSpPr>
        <p:spPr>
          <a:xfrm>
            <a:off x="2157200" y="173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3" name="Text 113"/>
          <p:cNvSpPr txBox="1"/>
          <p:nvPr/>
        </p:nvSpPr>
        <p:spPr>
          <a:xfrm>
            <a:off x="2157200" y="173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2</a:t>
            </a:r>
          </a:p>
        </p:txBody>
      </p:sp>
      <p:sp>
        <p:nvSpPr>
          <p:cNvPr id="114" name="Shape 114"/>
          <p:cNvSpPr/>
          <p:nvPr/>
        </p:nvSpPr>
        <p:spPr>
          <a:xfrm>
            <a:off x="2157200" y="206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5" name="Text 115"/>
          <p:cNvSpPr txBox="1"/>
          <p:nvPr/>
        </p:nvSpPr>
        <p:spPr>
          <a:xfrm>
            <a:off x="2157200" y="206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1907200" y="2420000"/>
            <a:ext cx="9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列向量 3×1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87200" y="2750000"/>
            <a:ext cx="24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方括号里的数字，排一行叫行向量，排一列叫列向量。</a:t>
            </a:r>
          </a:p>
        </p:txBody>
      </p:sp>
      <p:sp>
        <p:nvSpPr>
          <p:cNvPr id="118" name="Shape 118"/>
          <p:cNvSpPr/>
          <p:nvPr/>
        </p:nvSpPr>
        <p:spPr>
          <a:xfrm>
            <a:off x="3340080" y="960120"/>
            <a:ext cx="5346720" cy="23500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>
            <a:noFill/>
          </a:ln>
        </p:spPr>
      </p:sp>
      <p:sp>
        <p:nvSpPr>
          <p:cNvPr id="119" name="Text 119"/>
          <p:cNvSpPr txBox="1"/>
          <p:nvPr/>
        </p:nvSpPr>
        <p:spPr>
          <a:xfrm>
            <a:off x="3470080" y="1020120"/>
            <a:ext cx="50867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矩阵：数字排成长方形</a:t>
            </a:r>
          </a:p>
        </p:txBody>
      </p:sp>
      <p:sp>
        <p:nvSpPr>
          <p:cNvPr id="120" name="Shape 120"/>
          <p:cNvSpPr/>
          <p:nvPr/>
        </p:nvSpPr>
        <p:spPr>
          <a:xfrm>
            <a:off x="3540080" y="145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1" name="Text 121"/>
          <p:cNvSpPr txBox="1"/>
          <p:nvPr/>
        </p:nvSpPr>
        <p:spPr>
          <a:xfrm>
            <a:off x="3540080" y="14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122" name="Shape 122"/>
          <p:cNvSpPr/>
          <p:nvPr/>
        </p:nvSpPr>
        <p:spPr>
          <a:xfrm>
            <a:off x="3870080" y="145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3" name="Text 123"/>
          <p:cNvSpPr txBox="1"/>
          <p:nvPr/>
        </p:nvSpPr>
        <p:spPr>
          <a:xfrm>
            <a:off x="3870080" y="14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2</a:t>
            </a:r>
          </a:p>
        </p:txBody>
      </p:sp>
      <p:sp>
        <p:nvSpPr>
          <p:cNvPr id="124" name="Shape 124"/>
          <p:cNvSpPr/>
          <p:nvPr/>
        </p:nvSpPr>
        <p:spPr>
          <a:xfrm>
            <a:off x="4200080" y="145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5" name="Text 125"/>
          <p:cNvSpPr txBox="1"/>
          <p:nvPr/>
        </p:nvSpPr>
        <p:spPr>
          <a:xfrm>
            <a:off x="4200080" y="14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126" name="Shape 126"/>
          <p:cNvSpPr/>
          <p:nvPr/>
        </p:nvSpPr>
        <p:spPr>
          <a:xfrm>
            <a:off x="3540080" y="178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7" name="Text 127"/>
          <p:cNvSpPr txBox="1"/>
          <p:nvPr/>
        </p:nvSpPr>
        <p:spPr>
          <a:xfrm>
            <a:off x="3540080" y="178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4</a:t>
            </a:r>
          </a:p>
        </p:txBody>
      </p:sp>
      <p:sp>
        <p:nvSpPr>
          <p:cNvPr id="128" name="Shape 128"/>
          <p:cNvSpPr/>
          <p:nvPr/>
        </p:nvSpPr>
        <p:spPr>
          <a:xfrm>
            <a:off x="3870080" y="178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9" name="Text 129"/>
          <p:cNvSpPr txBox="1"/>
          <p:nvPr/>
        </p:nvSpPr>
        <p:spPr>
          <a:xfrm>
            <a:off x="3870080" y="178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5</a:t>
            </a:r>
          </a:p>
        </p:txBody>
      </p:sp>
      <p:sp>
        <p:nvSpPr>
          <p:cNvPr id="130" name="Shape 130"/>
          <p:cNvSpPr/>
          <p:nvPr/>
        </p:nvSpPr>
        <p:spPr>
          <a:xfrm>
            <a:off x="4200080" y="178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1" name="Text 131"/>
          <p:cNvSpPr txBox="1"/>
          <p:nvPr/>
        </p:nvSpPr>
        <p:spPr>
          <a:xfrm>
            <a:off x="4200080" y="178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6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3540080" y="2130000"/>
            <a:ext cx="1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2 行 3 列</a:t>
            </a:r>
          </a:p>
        </p:txBody>
      </p:sp>
      <p:sp>
        <p:nvSpPr>
          <p:cNvPr id="133" name="Shape 133"/>
          <p:cNvSpPr/>
          <p:nvPr/>
        </p:nvSpPr>
        <p:spPr>
          <a:xfrm>
            <a:off x="4840080" y="145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4" name="Text 134"/>
          <p:cNvSpPr txBox="1"/>
          <p:nvPr/>
        </p:nvSpPr>
        <p:spPr>
          <a:xfrm>
            <a:off x="4840080" y="14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135" name="Shape 135"/>
          <p:cNvSpPr/>
          <p:nvPr/>
        </p:nvSpPr>
        <p:spPr>
          <a:xfrm>
            <a:off x="5170080" y="145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6" name="Text 136"/>
          <p:cNvSpPr txBox="1"/>
          <p:nvPr/>
        </p:nvSpPr>
        <p:spPr>
          <a:xfrm>
            <a:off x="5170080" y="14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2</a:t>
            </a:r>
          </a:p>
        </p:txBody>
      </p:sp>
      <p:sp>
        <p:nvSpPr>
          <p:cNvPr id="137" name="Shape 137"/>
          <p:cNvSpPr/>
          <p:nvPr/>
        </p:nvSpPr>
        <p:spPr>
          <a:xfrm>
            <a:off x="4840080" y="178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8" name="Text 138"/>
          <p:cNvSpPr txBox="1"/>
          <p:nvPr/>
        </p:nvSpPr>
        <p:spPr>
          <a:xfrm>
            <a:off x="4840080" y="178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139" name="Shape 139"/>
          <p:cNvSpPr/>
          <p:nvPr/>
        </p:nvSpPr>
        <p:spPr>
          <a:xfrm>
            <a:off x="5170080" y="178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0" name="Text 140"/>
          <p:cNvSpPr txBox="1"/>
          <p:nvPr/>
        </p:nvSpPr>
        <p:spPr>
          <a:xfrm>
            <a:off x="5170080" y="178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4</a:t>
            </a:r>
          </a:p>
        </p:txBody>
      </p:sp>
      <p:sp>
        <p:nvSpPr>
          <p:cNvPr id="141" name="Shape 141"/>
          <p:cNvSpPr/>
          <p:nvPr/>
        </p:nvSpPr>
        <p:spPr>
          <a:xfrm>
            <a:off x="4840080" y="211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2" name="Text 142"/>
          <p:cNvSpPr txBox="1"/>
          <p:nvPr/>
        </p:nvSpPr>
        <p:spPr>
          <a:xfrm>
            <a:off x="4840080" y="211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5</a:t>
            </a:r>
          </a:p>
        </p:txBody>
      </p:sp>
      <p:sp>
        <p:nvSpPr>
          <p:cNvPr id="143" name="Shape 143"/>
          <p:cNvSpPr/>
          <p:nvPr/>
        </p:nvSpPr>
        <p:spPr>
          <a:xfrm>
            <a:off x="5170080" y="211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4" name="Text 144"/>
          <p:cNvSpPr txBox="1"/>
          <p:nvPr/>
        </p:nvSpPr>
        <p:spPr>
          <a:xfrm>
            <a:off x="5170080" y="211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6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4840080" y="2470000"/>
            <a:ext cx="7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3 行 2 列</a:t>
            </a:r>
          </a:p>
        </p:txBody>
      </p:sp>
      <p:sp>
        <p:nvSpPr>
          <p:cNvPr id="146" name="Shape 146"/>
          <p:cNvSpPr/>
          <p:nvPr/>
        </p:nvSpPr>
        <p:spPr>
          <a:xfrm>
            <a:off x="5840080" y="145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7" name="Text 147"/>
          <p:cNvSpPr txBox="1"/>
          <p:nvPr/>
        </p:nvSpPr>
        <p:spPr>
          <a:xfrm>
            <a:off x="5840080" y="14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148" name="Shape 148"/>
          <p:cNvSpPr/>
          <p:nvPr/>
        </p:nvSpPr>
        <p:spPr>
          <a:xfrm>
            <a:off x="6170080" y="145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9" name="Text 149"/>
          <p:cNvSpPr txBox="1"/>
          <p:nvPr/>
        </p:nvSpPr>
        <p:spPr>
          <a:xfrm>
            <a:off x="6170080" y="14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2</a:t>
            </a:r>
          </a:p>
        </p:txBody>
      </p:sp>
      <p:sp>
        <p:nvSpPr>
          <p:cNvPr id="150" name="Shape 150"/>
          <p:cNvSpPr/>
          <p:nvPr/>
        </p:nvSpPr>
        <p:spPr>
          <a:xfrm>
            <a:off x="5840080" y="178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1" name="Text 151"/>
          <p:cNvSpPr txBox="1"/>
          <p:nvPr/>
        </p:nvSpPr>
        <p:spPr>
          <a:xfrm>
            <a:off x="5840080" y="178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152" name="Shape 152"/>
          <p:cNvSpPr/>
          <p:nvPr/>
        </p:nvSpPr>
        <p:spPr>
          <a:xfrm>
            <a:off x="6170080" y="178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3" name="Text 153"/>
          <p:cNvSpPr txBox="1"/>
          <p:nvPr/>
        </p:nvSpPr>
        <p:spPr>
          <a:xfrm>
            <a:off x="6170080" y="178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3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4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5840080" y="2130000"/>
            <a:ext cx="7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2 行 2 列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3470080" y="2780000"/>
            <a:ext cx="508672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通常用大写字母 A、B、X 代表矩阵；一个 m 行 n 列的矩阵，形状记作 m×n。</a:t>
            </a:r>
          </a:p>
        </p:txBody>
      </p:sp>
      <p:sp>
        <p:nvSpPr>
          <p:cNvPr id="156" name="Shape 156"/>
          <p:cNvSpPr/>
          <p:nvPr/>
        </p:nvSpPr>
        <p:spPr>
          <a:xfrm>
            <a:off x="457200" y="3450000"/>
            <a:ext cx="8229600" cy="12800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</p:sp>
      <p:sp>
        <p:nvSpPr>
          <p:cNvPr id="157" name="Text 157"/>
          <p:cNvSpPr txBox="1"/>
          <p:nvPr/>
        </p:nvSpPr>
        <p:spPr>
          <a:xfrm>
            <a:off x="607200" y="3510000"/>
            <a:ext cx="7929600" cy="1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zh-CN" sz="1200" b="1" dirty="0">
                <a:solidFill>
                  <a:srgbClr val="A06A00"/>
                </a:solidFill>
                <a:latin typeface="Microsoft YaHei"/>
                <a:ea typeface="Microsoft YaHei"/>
                <a:cs typeface="Microsoft YaHei"/>
              </a:rPr>
              <a:t xml:space="preserve">对应到 Python：二维列表</a:t>
            </a:r>
          </a:p>
          <a:p>
            <a:pPr algn="l" indent="0" marL="0">
              <a:spcAft>
                <a:spcPts val="50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A = [[1, 2, 3], [4, 5, 6]]</a:t>
            </a:r>
            <a:r>
              <a:rPr lang="zh-CN" sz="11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    →   行数 len(A) = 2，列数 len(A[0]) = 3，形状 2×3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口诀：说形状、说位置，都是先说行，再说列。（2×3 是“2 行 3 列”）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先修：矩阵基础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元素的下标与转置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158" name="Shape 158"/>
          <p:cNvSpPr/>
          <p:nvPr/>
        </p:nvSpPr>
        <p:spPr>
          <a:xfrm>
            <a:off x="457200" y="960120"/>
            <a:ext cx="4000000" cy="250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59" name="Text 159"/>
          <p:cNvSpPr txBox="1"/>
          <p:nvPr/>
        </p:nvSpPr>
        <p:spPr>
          <a:xfrm>
            <a:off x="587200" y="1020120"/>
            <a:ext cx="374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元素与下标：A[i][j] = 第 i 行、第 j 列</a:t>
            </a:r>
          </a:p>
        </p:txBody>
      </p:sp>
      <p:sp>
        <p:nvSpPr>
          <p:cNvPr id="160" name="Shape 160"/>
          <p:cNvSpPr/>
          <p:nvPr/>
        </p:nvSpPr>
        <p:spPr>
          <a:xfrm>
            <a:off x="707200" y="1450000"/>
            <a:ext cx="11200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1" name="Text 161"/>
          <p:cNvSpPr txBox="1"/>
          <p:nvPr/>
        </p:nvSpPr>
        <p:spPr>
          <a:xfrm>
            <a:off x="707200" y="1450000"/>
            <a:ext cx="11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A[0][0]</a:t>
            </a:r>
          </a:p>
        </p:txBody>
      </p:sp>
      <p:sp>
        <p:nvSpPr>
          <p:cNvPr id="162" name="Shape 162"/>
          <p:cNvSpPr/>
          <p:nvPr/>
        </p:nvSpPr>
        <p:spPr>
          <a:xfrm>
            <a:off x="1857200" y="1450000"/>
            <a:ext cx="11200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3" name="Text 163"/>
          <p:cNvSpPr txBox="1"/>
          <p:nvPr/>
        </p:nvSpPr>
        <p:spPr>
          <a:xfrm>
            <a:off x="1857200" y="1450000"/>
            <a:ext cx="11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A[0][1]</a:t>
            </a:r>
          </a:p>
        </p:txBody>
      </p:sp>
      <p:sp>
        <p:nvSpPr>
          <p:cNvPr id="164" name="Shape 164"/>
          <p:cNvSpPr/>
          <p:nvPr/>
        </p:nvSpPr>
        <p:spPr>
          <a:xfrm>
            <a:off x="3007200" y="1450000"/>
            <a:ext cx="11200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5" name="Text 165"/>
          <p:cNvSpPr txBox="1"/>
          <p:nvPr/>
        </p:nvSpPr>
        <p:spPr>
          <a:xfrm>
            <a:off x="3007200" y="1450000"/>
            <a:ext cx="11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A[0][2]</a:t>
            </a:r>
          </a:p>
        </p:txBody>
      </p:sp>
      <p:sp>
        <p:nvSpPr>
          <p:cNvPr id="166" name="Shape 166"/>
          <p:cNvSpPr/>
          <p:nvPr/>
        </p:nvSpPr>
        <p:spPr>
          <a:xfrm>
            <a:off x="707200" y="1810000"/>
            <a:ext cx="11200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7" name="Text 167"/>
          <p:cNvSpPr txBox="1"/>
          <p:nvPr/>
        </p:nvSpPr>
        <p:spPr>
          <a:xfrm>
            <a:off x="707200" y="1810000"/>
            <a:ext cx="11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A[1][0]</a:t>
            </a:r>
          </a:p>
        </p:txBody>
      </p:sp>
      <p:sp>
        <p:nvSpPr>
          <p:cNvPr id="168" name="Shape 168"/>
          <p:cNvSpPr/>
          <p:nvPr/>
        </p:nvSpPr>
        <p:spPr>
          <a:xfrm>
            <a:off x="1857200" y="1810000"/>
            <a:ext cx="11200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9" name="Text 169"/>
          <p:cNvSpPr txBox="1"/>
          <p:nvPr/>
        </p:nvSpPr>
        <p:spPr>
          <a:xfrm>
            <a:off x="1857200" y="1810000"/>
            <a:ext cx="11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A[1][1]</a:t>
            </a:r>
          </a:p>
        </p:txBody>
      </p:sp>
      <p:sp>
        <p:nvSpPr>
          <p:cNvPr id="170" name="Shape 170"/>
          <p:cNvSpPr/>
          <p:nvPr/>
        </p:nvSpPr>
        <p:spPr>
          <a:xfrm>
            <a:off x="3007200" y="1810000"/>
            <a:ext cx="11200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1" name="Text 171"/>
          <p:cNvSpPr txBox="1"/>
          <p:nvPr/>
        </p:nvSpPr>
        <p:spPr>
          <a:xfrm>
            <a:off x="3007200" y="1810000"/>
            <a:ext cx="11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A[1][2]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587200" y="2400000"/>
            <a:ext cx="375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数学书里下标从 1 开始，写作 x₁,₁；Python 列表从 0 开始，所以第一行第一列是 A[0][0]。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矩阵的“第 i 行”就是 A[i]，是一个一维列表。</a:t>
            </a:r>
          </a:p>
        </p:txBody>
      </p:sp>
      <p:sp>
        <p:nvSpPr>
          <p:cNvPr id="173" name="Shape 173"/>
          <p:cNvSpPr/>
          <p:nvPr/>
        </p:nvSpPr>
        <p:spPr>
          <a:xfrm>
            <a:off x="4640080" y="960120"/>
            <a:ext cx="4046720" cy="25000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>
            <a:noFill/>
          </a:ln>
        </p:spPr>
      </p:sp>
      <p:sp>
        <p:nvSpPr>
          <p:cNvPr id="174" name="Text 174"/>
          <p:cNvSpPr txBox="1"/>
          <p:nvPr/>
        </p:nvSpPr>
        <p:spPr>
          <a:xfrm>
            <a:off x="4770080" y="1020120"/>
            <a:ext cx="37867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转置：行变列，列变行</a:t>
            </a:r>
          </a:p>
        </p:txBody>
      </p:sp>
      <p:sp>
        <p:nvSpPr>
          <p:cNvPr id="175" name="Shape 175"/>
          <p:cNvSpPr/>
          <p:nvPr/>
        </p:nvSpPr>
        <p:spPr>
          <a:xfrm>
            <a:off x="4790080" y="15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6" name="Text 176"/>
          <p:cNvSpPr txBox="1"/>
          <p:nvPr/>
        </p:nvSpPr>
        <p:spPr>
          <a:xfrm>
            <a:off x="4790080" y="15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177" name="Shape 177"/>
          <p:cNvSpPr/>
          <p:nvPr/>
        </p:nvSpPr>
        <p:spPr>
          <a:xfrm>
            <a:off x="5090080" y="15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8" name="Text 178"/>
          <p:cNvSpPr txBox="1"/>
          <p:nvPr/>
        </p:nvSpPr>
        <p:spPr>
          <a:xfrm>
            <a:off x="5090080" y="15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2</a:t>
            </a:r>
          </a:p>
        </p:txBody>
      </p:sp>
      <p:sp>
        <p:nvSpPr>
          <p:cNvPr id="179" name="Shape 179"/>
          <p:cNvSpPr/>
          <p:nvPr/>
        </p:nvSpPr>
        <p:spPr>
          <a:xfrm>
            <a:off x="5390080" y="15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0" name="Text 180"/>
          <p:cNvSpPr txBox="1"/>
          <p:nvPr/>
        </p:nvSpPr>
        <p:spPr>
          <a:xfrm>
            <a:off x="5390080" y="15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181" name="Shape 181"/>
          <p:cNvSpPr/>
          <p:nvPr/>
        </p:nvSpPr>
        <p:spPr>
          <a:xfrm>
            <a:off x="4790080" y="18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2" name="Text 182"/>
          <p:cNvSpPr txBox="1"/>
          <p:nvPr/>
        </p:nvSpPr>
        <p:spPr>
          <a:xfrm>
            <a:off x="4790080" y="18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4</a:t>
            </a:r>
          </a:p>
        </p:txBody>
      </p:sp>
      <p:sp>
        <p:nvSpPr>
          <p:cNvPr id="183" name="Shape 183"/>
          <p:cNvSpPr/>
          <p:nvPr/>
        </p:nvSpPr>
        <p:spPr>
          <a:xfrm>
            <a:off x="5090080" y="18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4" name="Text 184"/>
          <p:cNvSpPr txBox="1"/>
          <p:nvPr/>
        </p:nvSpPr>
        <p:spPr>
          <a:xfrm>
            <a:off x="5090080" y="18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5</a:t>
            </a:r>
          </a:p>
        </p:txBody>
      </p:sp>
      <p:sp>
        <p:nvSpPr>
          <p:cNvPr id="185" name="Shape 185"/>
          <p:cNvSpPr/>
          <p:nvPr/>
        </p:nvSpPr>
        <p:spPr>
          <a:xfrm>
            <a:off x="5390080" y="18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6" name="Text 186"/>
          <p:cNvSpPr txBox="1"/>
          <p:nvPr/>
        </p:nvSpPr>
        <p:spPr>
          <a:xfrm>
            <a:off x="5390080" y="18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6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4790080" y="2130000"/>
            <a:ext cx="9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A（2×3）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5740080" y="16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6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</a:p>
        </p:txBody>
      </p:sp>
      <p:sp>
        <p:nvSpPr>
          <p:cNvPr id="189" name="Shape 189"/>
          <p:cNvSpPr/>
          <p:nvPr/>
        </p:nvSpPr>
        <p:spPr>
          <a:xfrm>
            <a:off x="6090080" y="14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0" name="Text 190"/>
          <p:cNvSpPr txBox="1"/>
          <p:nvPr/>
        </p:nvSpPr>
        <p:spPr>
          <a:xfrm>
            <a:off x="6090080" y="14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191" name="Shape 191"/>
          <p:cNvSpPr/>
          <p:nvPr/>
        </p:nvSpPr>
        <p:spPr>
          <a:xfrm>
            <a:off x="6390080" y="14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2" name="Text 192"/>
          <p:cNvSpPr txBox="1"/>
          <p:nvPr/>
        </p:nvSpPr>
        <p:spPr>
          <a:xfrm>
            <a:off x="6390080" y="14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4</a:t>
            </a:r>
          </a:p>
        </p:txBody>
      </p:sp>
      <p:sp>
        <p:nvSpPr>
          <p:cNvPr id="193" name="Shape 193"/>
          <p:cNvSpPr/>
          <p:nvPr/>
        </p:nvSpPr>
        <p:spPr>
          <a:xfrm>
            <a:off x="6090080" y="17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4" name="Text 194"/>
          <p:cNvSpPr txBox="1"/>
          <p:nvPr/>
        </p:nvSpPr>
        <p:spPr>
          <a:xfrm>
            <a:off x="6090080" y="17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2</a:t>
            </a:r>
          </a:p>
        </p:txBody>
      </p:sp>
      <p:sp>
        <p:nvSpPr>
          <p:cNvPr id="195" name="Shape 195"/>
          <p:cNvSpPr/>
          <p:nvPr/>
        </p:nvSpPr>
        <p:spPr>
          <a:xfrm>
            <a:off x="6390080" y="17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6" name="Text 196"/>
          <p:cNvSpPr txBox="1"/>
          <p:nvPr/>
        </p:nvSpPr>
        <p:spPr>
          <a:xfrm>
            <a:off x="6390080" y="17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5</a:t>
            </a:r>
          </a:p>
        </p:txBody>
      </p:sp>
      <p:sp>
        <p:nvSpPr>
          <p:cNvPr id="197" name="Shape 197"/>
          <p:cNvSpPr/>
          <p:nvPr/>
        </p:nvSpPr>
        <p:spPr>
          <a:xfrm>
            <a:off x="6090080" y="20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8" name="Text 198"/>
          <p:cNvSpPr txBox="1"/>
          <p:nvPr/>
        </p:nvSpPr>
        <p:spPr>
          <a:xfrm>
            <a:off x="6090080" y="20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199" name="Shape 199"/>
          <p:cNvSpPr/>
          <p:nvPr/>
        </p:nvSpPr>
        <p:spPr>
          <a:xfrm>
            <a:off x="6390080" y="20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0" name="Text 200"/>
          <p:cNvSpPr txBox="1"/>
          <p:nvPr/>
        </p:nvSpPr>
        <p:spPr>
          <a:xfrm>
            <a:off x="6390080" y="20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6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5990080" y="2330000"/>
            <a:ext cx="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Aᵀ（3×2）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4770080" y="2650000"/>
            <a:ext cx="378672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A[i][j] 变成 Aᵀ[j][i]；形状 m×n 变成 n×m。</a:t>
            </a:r>
          </a:p>
        </p:txBody>
      </p:sp>
      <p:sp>
        <p:nvSpPr>
          <p:cNvPr id="203" name="Shape 203"/>
          <p:cNvSpPr/>
          <p:nvPr/>
        </p:nvSpPr>
        <p:spPr>
          <a:xfrm>
            <a:off x="457200" y="3600000"/>
            <a:ext cx="8229600" cy="11300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</p:sp>
      <p:sp>
        <p:nvSpPr>
          <p:cNvPr id="204" name="Text 204"/>
          <p:cNvSpPr txBox="1"/>
          <p:nvPr/>
        </p:nvSpPr>
        <p:spPr>
          <a:xfrm>
            <a:off x="607200" y="3660000"/>
            <a:ext cx="7929600" cy="10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zh-CN" sz="1200" b="1" dirty="0">
                <a:solidFill>
                  <a:srgbClr val="A06A00"/>
                </a:solidFill>
                <a:latin typeface="Microsoft YaHei"/>
                <a:ea typeface="Microsoft YaHei"/>
                <a:cs typeface="Microsoft YaHei"/>
              </a:rPr>
              <a:t xml:space="preserve">Python 里转置一行就够</a:t>
            </a:r>
          </a:p>
          <a:p>
            <a:pPr algn="l" indent="0" marL="0">
              <a:spcAft>
                <a:spcPts val="50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At = list(zip(*A))</a:t>
            </a:r>
            <a:r>
              <a:rPr lang="zh-CN" sz="1050" dirty="0">
                <a:solidFill>
                  <a:srgbClr val="7C8F87"/>
                </a:solidFill>
                <a:latin typeface="Consolas"/>
                <a:ea typeface="Microsoft YaHei"/>
                <a:cs typeface="Consolas"/>
              </a:rPr>
              <a:t xml:space="preserve">    # [(1,4),(2,5),(3,6)]；要列表就 [list(r) for r in zip(*A)]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后面 1.3 会用 zip(*a) 做转置、旋转，这里先记住“行变列”。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先修：矩阵基础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矩阵的加法与乘法规则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205" name="Shape 205"/>
          <p:cNvSpPr/>
          <p:nvPr/>
        </p:nvSpPr>
        <p:spPr>
          <a:xfrm>
            <a:off x="457200" y="960120"/>
            <a:ext cx="4020000" cy="24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206" name="Text 206"/>
          <p:cNvSpPr txBox="1"/>
          <p:nvPr/>
        </p:nvSpPr>
        <p:spPr>
          <a:xfrm>
            <a:off x="587200" y="1020120"/>
            <a:ext cx="37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加法：形状相同，对应位置相加</a:t>
            </a:r>
          </a:p>
        </p:txBody>
      </p:sp>
      <p:sp>
        <p:nvSpPr>
          <p:cNvPr id="207" name="Shape 207"/>
          <p:cNvSpPr/>
          <p:nvPr/>
        </p:nvSpPr>
        <p:spPr>
          <a:xfrm>
            <a:off x="607200" y="15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8" name="Text 208"/>
          <p:cNvSpPr txBox="1"/>
          <p:nvPr/>
        </p:nvSpPr>
        <p:spPr>
          <a:xfrm>
            <a:off x="607200" y="15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09" name="Shape 209"/>
          <p:cNvSpPr/>
          <p:nvPr/>
        </p:nvSpPr>
        <p:spPr>
          <a:xfrm>
            <a:off x="907200" y="15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0" name="Text 210"/>
          <p:cNvSpPr txBox="1"/>
          <p:nvPr/>
        </p:nvSpPr>
        <p:spPr>
          <a:xfrm>
            <a:off x="907200" y="15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11" name="Shape 211"/>
          <p:cNvSpPr/>
          <p:nvPr/>
        </p:nvSpPr>
        <p:spPr>
          <a:xfrm>
            <a:off x="607200" y="18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2" name="Text 212"/>
          <p:cNvSpPr txBox="1"/>
          <p:nvPr/>
        </p:nvSpPr>
        <p:spPr>
          <a:xfrm>
            <a:off x="607200" y="18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213" name="Shape 213"/>
          <p:cNvSpPr/>
          <p:nvPr/>
        </p:nvSpPr>
        <p:spPr>
          <a:xfrm>
            <a:off x="907200" y="18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4" name="Text 214"/>
          <p:cNvSpPr txBox="1"/>
          <p:nvPr/>
        </p:nvSpPr>
        <p:spPr>
          <a:xfrm>
            <a:off x="907200" y="18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215" name="Shape 215"/>
          <p:cNvSpPr/>
          <p:nvPr/>
        </p:nvSpPr>
        <p:spPr>
          <a:xfrm>
            <a:off x="607200" y="21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6" name="Text 216"/>
          <p:cNvSpPr txBox="1"/>
          <p:nvPr/>
        </p:nvSpPr>
        <p:spPr>
          <a:xfrm>
            <a:off x="607200" y="21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17" name="Shape 217"/>
          <p:cNvSpPr/>
          <p:nvPr/>
        </p:nvSpPr>
        <p:spPr>
          <a:xfrm>
            <a:off x="907200" y="21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8" name="Text 218"/>
          <p:cNvSpPr txBox="1"/>
          <p:nvPr/>
        </p:nvSpPr>
        <p:spPr>
          <a:xfrm>
            <a:off x="907200" y="21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1257200" y="1760000"/>
            <a:ext cx="2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5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+</a:t>
            </a:r>
          </a:p>
        </p:txBody>
      </p:sp>
      <p:sp>
        <p:nvSpPr>
          <p:cNvPr id="220" name="Shape 220"/>
          <p:cNvSpPr/>
          <p:nvPr/>
        </p:nvSpPr>
        <p:spPr>
          <a:xfrm>
            <a:off x="1557200" y="15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1" name="Text 221"/>
          <p:cNvSpPr txBox="1"/>
          <p:nvPr/>
        </p:nvSpPr>
        <p:spPr>
          <a:xfrm>
            <a:off x="1557200" y="15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222" name="Shape 222"/>
          <p:cNvSpPr/>
          <p:nvPr/>
        </p:nvSpPr>
        <p:spPr>
          <a:xfrm>
            <a:off x="1857200" y="15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3" name="Text 223"/>
          <p:cNvSpPr txBox="1"/>
          <p:nvPr/>
        </p:nvSpPr>
        <p:spPr>
          <a:xfrm>
            <a:off x="1857200" y="15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224" name="Shape 224"/>
          <p:cNvSpPr/>
          <p:nvPr/>
        </p:nvSpPr>
        <p:spPr>
          <a:xfrm>
            <a:off x="1557200" y="18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5" name="Text 225"/>
          <p:cNvSpPr txBox="1"/>
          <p:nvPr/>
        </p:nvSpPr>
        <p:spPr>
          <a:xfrm>
            <a:off x="1557200" y="18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226" name="Shape 226"/>
          <p:cNvSpPr/>
          <p:nvPr/>
        </p:nvSpPr>
        <p:spPr>
          <a:xfrm>
            <a:off x="1857200" y="18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7" name="Text 227"/>
          <p:cNvSpPr txBox="1"/>
          <p:nvPr/>
        </p:nvSpPr>
        <p:spPr>
          <a:xfrm>
            <a:off x="1857200" y="18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228" name="Shape 228"/>
          <p:cNvSpPr/>
          <p:nvPr/>
        </p:nvSpPr>
        <p:spPr>
          <a:xfrm>
            <a:off x="1557200" y="21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9" name="Text 229"/>
          <p:cNvSpPr txBox="1"/>
          <p:nvPr/>
        </p:nvSpPr>
        <p:spPr>
          <a:xfrm>
            <a:off x="1557200" y="21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230" name="Shape 230"/>
          <p:cNvSpPr/>
          <p:nvPr/>
        </p:nvSpPr>
        <p:spPr>
          <a:xfrm>
            <a:off x="1857200" y="2100000"/>
            <a:ext cx="27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1" name="Text 231"/>
          <p:cNvSpPr txBox="1"/>
          <p:nvPr/>
        </p:nvSpPr>
        <p:spPr>
          <a:xfrm>
            <a:off x="1857200" y="21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232" name="Text 232"/>
          <p:cNvSpPr txBox="1"/>
          <p:nvPr/>
        </p:nvSpPr>
        <p:spPr>
          <a:xfrm>
            <a:off x="2207200" y="1760000"/>
            <a:ext cx="2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5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=</a:t>
            </a:r>
          </a:p>
        </p:txBody>
      </p:sp>
      <p:sp>
        <p:nvSpPr>
          <p:cNvPr id="233" name="Shape 233"/>
          <p:cNvSpPr/>
          <p:nvPr/>
        </p:nvSpPr>
        <p:spPr>
          <a:xfrm>
            <a:off x="2507200" y="1500000"/>
            <a:ext cx="270000" cy="270000"/>
          </a:xfrm>
          <a:prstGeom prst="rect">
            <a:avLst/>
          </a:prstGeom>
          <a:solidFill>
            <a:srgbClr val="CFE0D8"/>
          </a:solidFill>
          <a:ln>
            <a:noFill/>
          </a:ln>
        </p:spPr>
      </p:sp>
      <p:sp>
        <p:nvSpPr>
          <p:cNvPr id="234" name="Text 234"/>
          <p:cNvSpPr txBox="1"/>
          <p:nvPr/>
        </p:nvSpPr>
        <p:spPr>
          <a:xfrm>
            <a:off x="2507200" y="15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235" name="Shape 235"/>
          <p:cNvSpPr/>
          <p:nvPr/>
        </p:nvSpPr>
        <p:spPr>
          <a:xfrm>
            <a:off x="2807200" y="1500000"/>
            <a:ext cx="270000" cy="270000"/>
          </a:xfrm>
          <a:prstGeom prst="rect">
            <a:avLst/>
          </a:prstGeom>
          <a:solidFill>
            <a:srgbClr val="CFE0D8"/>
          </a:solidFill>
          <a:ln>
            <a:noFill/>
          </a:ln>
        </p:spPr>
      </p:sp>
      <p:sp>
        <p:nvSpPr>
          <p:cNvPr id="236" name="Text 236"/>
          <p:cNvSpPr txBox="1"/>
          <p:nvPr/>
        </p:nvSpPr>
        <p:spPr>
          <a:xfrm>
            <a:off x="2807200" y="15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237" name="Shape 237"/>
          <p:cNvSpPr/>
          <p:nvPr/>
        </p:nvSpPr>
        <p:spPr>
          <a:xfrm>
            <a:off x="2507200" y="1800000"/>
            <a:ext cx="270000" cy="270000"/>
          </a:xfrm>
          <a:prstGeom prst="rect">
            <a:avLst/>
          </a:prstGeom>
          <a:solidFill>
            <a:srgbClr val="CFE0D8"/>
          </a:solidFill>
          <a:ln>
            <a:noFill/>
          </a:ln>
        </p:spPr>
      </p:sp>
      <p:sp>
        <p:nvSpPr>
          <p:cNvPr id="238" name="Text 238"/>
          <p:cNvSpPr txBox="1"/>
          <p:nvPr/>
        </p:nvSpPr>
        <p:spPr>
          <a:xfrm>
            <a:off x="2507200" y="18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4</a:t>
            </a:r>
          </a:p>
        </p:txBody>
      </p:sp>
      <p:sp>
        <p:nvSpPr>
          <p:cNvPr id="239" name="Shape 239"/>
          <p:cNvSpPr/>
          <p:nvPr/>
        </p:nvSpPr>
        <p:spPr>
          <a:xfrm>
            <a:off x="2807200" y="1800000"/>
            <a:ext cx="270000" cy="270000"/>
          </a:xfrm>
          <a:prstGeom prst="rect">
            <a:avLst/>
          </a:prstGeom>
          <a:solidFill>
            <a:srgbClr val="CFE0D8"/>
          </a:solidFill>
          <a:ln>
            <a:noFill/>
          </a:ln>
        </p:spPr>
      </p:sp>
      <p:sp>
        <p:nvSpPr>
          <p:cNvPr id="240" name="Text 240"/>
          <p:cNvSpPr txBox="1"/>
          <p:nvPr/>
        </p:nvSpPr>
        <p:spPr>
          <a:xfrm>
            <a:off x="2807200" y="18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2</a:t>
            </a:r>
          </a:p>
        </p:txBody>
      </p:sp>
      <p:sp>
        <p:nvSpPr>
          <p:cNvPr id="241" name="Shape 241"/>
          <p:cNvSpPr/>
          <p:nvPr/>
        </p:nvSpPr>
        <p:spPr>
          <a:xfrm>
            <a:off x="2507200" y="2100000"/>
            <a:ext cx="270000" cy="270000"/>
          </a:xfrm>
          <a:prstGeom prst="rect">
            <a:avLst/>
          </a:prstGeom>
          <a:solidFill>
            <a:srgbClr val="CFE0D8"/>
          </a:solidFill>
          <a:ln>
            <a:noFill/>
          </a:ln>
        </p:spPr>
      </p:sp>
      <p:sp>
        <p:nvSpPr>
          <p:cNvPr id="242" name="Text 242"/>
          <p:cNvSpPr txBox="1"/>
          <p:nvPr/>
        </p:nvSpPr>
        <p:spPr>
          <a:xfrm>
            <a:off x="2507200" y="21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243" name="Shape 243"/>
          <p:cNvSpPr/>
          <p:nvPr/>
        </p:nvSpPr>
        <p:spPr>
          <a:xfrm>
            <a:off x="2807200" y="2100000"/>
            <a:ext cx="270000" cy="270000"/>
          </a:xfrm>
          <a:prstGeom prst="rect">
            <a:avLst/>
          </a:prstGeom>
          <a:solidFill>
            <a:srgbClr val="CFE0D8"/>
          </a:solidFill>
          <a:ln>
            <a:noFill/>
          </a:ln>
        </p:spPr>
      </p:sp>
      <p:sp>
        <p:nvSpPr>
          <p:cNvPr id="244" name="Text 244"/>
          <p:cNvSpPr txBox="1"/>
          <p:nvPr/>
        </p:nvSpPr>
        <p:spPr>
          <a:xfrm>
            <a:off x="2807200" y="2100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245" name="Text 245"/>
          <p:cNvSpPr txBox="1"/>
          <p:nvPr/>
        </p:nvSpPr>
        <p:spPr>
          <a:xfrm>
            <a:off x="587200" y="2550000"/>
            <a:ext cx="376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E[i][j] = D[i][j] + C[i][j]。两个矩阵行数、列数都要一样，否则不能加（减法同理）。</a:t>
            </a:r>
          </a:p>
        </p:txBody>
      </p:sp>
      <p:sp>
        <p:nvSpPr>
          <p:cNvPr id="246" name="Shape 246"/>
          <p:cNvSpPr/>
          <p:nvPr/>
        </p:nvSpPr>
        <p:spPr>
          <a:xfrm>
            <a:off x="4660080" y="960120"/>
            <a:ext cx="4026720" cy="24500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>
            <a:noFill/>
          </a:ln>
        </p:spPr>
      </p:sp>
      <p:sp>
        <p:nvSpPr>
          <p:cNvPr id="247" name="Text 247"/>
          <p:cNvSpPr txBox="1"/>
          <p:nvPr/>
        </p:nvSpPr>
        <p:spPr>
          <a:xfrm>
            <a:off x="4790080" y="1020120"/>
            <a:ext cx="37667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乘法：A 的列数 = B 的行数</a:t>
            </a:r>
          </a:p>
        </p:txBody>
      </p:sp>
      <p:sp>
        <p:nvSpPr>
          <p:cNvPr id="248" name="Shape 248"/>
          <p:cNvSpPr/>
          <p:nvPr/>
        </p:nvSpPr>
        <p:spPr>
          <a:xfrm>
            <a:off x="4780080" y="1500000"/>
            <a:ext cx="25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9" name="Text 249"/>
          <p:cNvSpPr txBox="1"/>
          <p:nvPr/>
        </p:nvSpPr>
        <p:spPr>
          <a:xfrm>
            <a:off x="4780080" y="1500000"/>
            <a:ext cx="2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250" name="Shape 250"/>
          <p:cNvSpPr/>
          <p:nvPr/>
        </p:nvSpPr>
        <p:spPr>
          <a:xfrm>
            <a:off x="5060080" y="1500000"/>
            <a:ext cx="25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1" name="Text 251"/>
          <p:cNvSpPr txBox="1"/>
          <p:nvPr/>
        </p:nvSpPr>
        <p:spPr>
          <a:xfrm>
            <a:off x="5060080" y="1500000"/>
            <a:ext cx="2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2</a:t>
            </a:r>
          </a:p>
        </p:txBody>
      </p:sp>
      <p:sp>
        <p:nvSpPr>
          <p:cNvPr id="252" name="Shape 252"/>
          <p:cNvSpPr/>
          <p:nvPr/>
        </p:nvSpPr>
        <p:spPr>
          <a:xfrm>
            <a:off x="5340080" y="1500000"/>
            <a:ext cx="25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3" name="Text 253"/>
          <p:cNvSpPr txBox="1"/>
          <p:nvPr/>
        </p:nvSpPr>
        <p:spPr>
          <a:xfrm>
            <a:off x="5340080" y="1500000"/>
            <a:ext cx="2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254" name="Shape 254"/>
          <p:cNvSpPr/>
          <p:nvPr/>
        </p:nvSpPr>
        <p:spPr>
          <a:xfrm>
            <a:off x="4780080" y="1780000"/>
            <a:ext cx="25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5" name="Text 255"/>
          <p:cNvSpPr txBox="1"/>
          <p:nvPr/>
        </p:nvSpPr>
        <p:spPr>
          <a:xfrm>
            <a:off x="4780080" y="1780000"/>
            <a:ext cx="2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4</a:t>
            </a:r>
          </a:p>
        </p:txBody>
      </p:sp>
      <p:sp>
        <p:nvSpPr>
          <p:cNvPr id="256" name="Shape 256"/>
          <p:cNvSpPr/>
          <p:nvPr/>
        </p:nvSpPr>
        <p:spPr>
          <a:xfrm>
            <a:off x="5060080" y="1780000"/>
            <a:ext cx="25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7" name="Text 257"/>
          <p:cNvSpPr txBox="1"/>
          <p:nvPr/>
        </p:nvSpPr>
        <p:spPr>
          <a:xfrm>
            <a:off x="5060080" y="1780000"/>
            <a:ext cx="2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5</a:t>
            </a:r>
          </a:p>
        </p:txBody>
      </p:sp>
      <p:sp>
        <p:nvSpPr>
          <p:cNvPr id="258" name="Shape 258"/>
          <p:cNvSpPr/>
          <p:nvPr/>
        </p:nvSpPr>
        <p:spPr>
          <a:xfrm>
            <a:off x="5340080" y="1780000"/>
            <a:ext cx="25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9" name="Text 259"/>
          <p:cNvSpPr txBox="1"/>
          <p:nvPr/>
        </p:nvSpPr>
        <p:spPr>
          <a:xfrm>
            <a:off x="5340080" y="1780000"/>
            <a:ext cx="2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6</a:t>
            </a:r>
          </a:p>
        </p:txBody>
      </p:sp>
      <p:sp>
        <p:nvSpPr>
          <p:cNvPr id="260" name="Text 260"/>
          <p:cNvSpPr txBox="1"/>
          <p:nvPr/>
        </p:nvSpPr>
        <p:spPr>
          <a:xfrm>
            <a:off x="5640080" y="1560000"/>
            <a:ext cx="22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×</a:t>
            </a:r>
          </a:p>
        </p:txBody>
      </p:sp>
      <p:sp>
        <p:nvSpPr>
          <p:cNvPr id="261" name="Shape 261"/>
          <p:cNvSpPr/>
          <p:nvPr/>
        </p:nvSpPr>
        <p:spPr>
          <a:xfrm>
            <a:off x="5860080" y="1400000"/>
            <a:ext cx="25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2" name="Text 262"/>
          <p:cNvSpPr txBox="1"/>
          <p:nvPr/>
        </p:nvSpPr>
        <p:spPr>
          <a:xfrm>
            <a:off x="5860080" y="1400000"/>
            <a:ext cx="2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7</a:t>
            </a:r>
          </a:p>
        </p:txBody>
      </p:sp>
      <p:sp>
        <p:nvSpPr>
          <p:cNvPr id="263" name="Shape 263"/>
          <p:cNvSpPr/>
          <p:nvPr/>
        </p:nvSpPr>
        <p:spPr>
          <a:xfrm>
            <a:off x="6140080" y="1400000"/>
            <a:ext cx="25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4" name="Text 264"/>
          <p:cNvSpPr txBox="1"/>
          <p:nvPr/>
        </p:nvSpPr>
        <p:spPr>
          <a:xfrm>
            <a:off x="6140080" y="1400000"/>
            <a:ext cx="2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8</a:t>
            </a:r>
          </a:p>
        </p:txBody>
      </p:sp>
      <p:sp>
        <p:nvSpPr>
          <p:cNvPr id="265" name="Shape 265"/>
          <p:cNvSpPr/>
          <p:nvPr/>
        </p:nvSpPr>
        <p:spPr>
          <a:xfrm>
            <a:off x="5860080" y="1680000"/>
            <a:ext cx="25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6" name="Text 266"/>
          <p:cNvSpPr txBox="1"/>
          <p:nvPr/>
        </p:nvSpPr>
        <p:spPr>
          <a:xfrm>
            <a:off x="5860080" y="1680000"/>
            <a:ext cx="2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9</a:t>
            </a:r>
          </a:p>
        </p:txBody>
      </p:sp>
      <p:sp>
        <p:nvSpPr>
          <p:cNvPr id="267" name="Shape 267"/>
          <p:cNvSpPr/>
          <p:nvPr/>
        </p:nvSpPr>
        <p:spPr>
          <a:xfrm>
            <a:off x="6140080" y="1680000"/>
            <a:ext cx="25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8" name="Text 268"/>
          <p:cNvSpPr txBox="1"/>
          <p:nvPr/>
        </p:nvSpPr>
        <p:spPr>
          <a:xfrm>
            <a:off x="6140080" y="1680000"/>
            <a:ext cx="2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10</a:t>
            </a:r>
          </a:p>
        </p:txBody>
      </p:sp>
      <p:sp>
        <p:nvSpPr>
          <p:cNvPr id="269" name="Shape 269"/>
          <p:cNvSpPr/>
          <p:nvPr/>
        </p:nvSpPr>
        <p:spPr>
          <a:xfrm>
            <a:off x="5860080" y="1960000"/>
            <a:ext cx="25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0" name="Text 270"/>
          <p:cNvSpPr txBox="1"/>
          <p:nvPr/>
        </p:nvSpPr>
        <p:spPr>
          <a:xfrm>
            <a:off x="5860080" y="1960000"/>
            <a:ext cx="2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11</a:t>
            </a:r>
          </a:p>
        </p:txBody>
      </p:sp>
      <p:sp>
        <p:nvSpPr>
          <p:cNvPr id="271" name="Shape 271"/>
          <p:cNvSpPr/>
          <p:nvPr/>
        </p:nvSpPr>
        <p:spPr>
          <a:xfrm>
            <a:off x="6140080" y="1960000"/>
            <a:ext cx="25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2" name="Text 272"/>
          <p:cNvSpPr txBox="1"/>
          <p:nvPr/>
        </p:nvSpPr>
        <p:spPr>
          <a:xfrm>
            <a:off x="6140080" y="1960000"/>
            <a:ext cx="2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12</a:t>
            </a:r>
          </a:p>
        </p:txBody>
      </p:sp>
      <p:sp>
        <p:nvSpPr>
          <p:cNvPr id="273" name="Text 273"/>
          <p:cNvSpPr txBox="1"/>
          <p:nvPr/>
        </p:nvSpPr>
        <p:spPr>
          <a:xfrm>
            <a:off x="6460080" y="1560000"/>
            <a:ext cx="22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=</a:t>
            </a:r>
          </a:p>
        </p:txBody>
      </p:sp>
      <p:sp>
        <p:nvSpPr>
          <p:cNvPr id="274" name="Shape 274"/>
          <p:cNvSpPr/>
          <p:nvPr/>
        </p:nvSpPr>
        <p:spPr>
          <a:xfrm>
            <a:off x="6680080" y="1500000"/>
            <a:ext cx="310000" cy="3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5" name="Text 275"/>
          <p:cNvSpPr txBox="1"/>
          <p:nvPr/>
        </p:nvSpPr>
        <p:spPr>
          <a:xfrm>
            <a:off x="6680080" y="1500000"/>
            <a:ext cx="31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58</a:t>
            </a:r>
          </a:p>
        </p:txBody>
      </p:sp>
      <p:sp>
        <p:nvSpPr>
          <p:cNvPr id="276" name="Shape 276"/>
          <p:cNvSpPr/>
          <p:nvPr/>
        </p:nvSpPr>
        <p:spPr>
          <a:xfrm>
            <a:off x="7020080" y="1500000"/>
            <a:ext cx="310000" cy="3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7" name="Text 277"/>
          <p:cNvSpPr txBox="1"/>
          <p:nvPr/>
        </p:nvSpPr>
        <p:spPr>
          <a:xfrm>
            <a:off x="7020080" y="1500000"/>
            <a:ext cx="31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64</a:t>
            </a:r>
          </a:p>
        </p:txBody>
      </p:sp>
      <p:sp>
        <p:nvSpPr>
          <p:cNvPr id="278" name="Shape 278"/>
          <p:cNvSpPr/>
          <p:nvPr/>
        </p:nvSpPr>
        <p:spPr>
          <a:xfrm>
            <a:off x="6680080" y="1840000"/>
            <a:ext cx="310000" cy="3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9" name="Text 279"/>
          <p:cNvSpPr txBox="1"/>
          <p:nvPr/>
        </p:nvSpPr>
        <p:spPr>
          <a:xfrm>
            <a:off x="6680080" y="1840000"/>
            <a:ext cx="31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139</a:t>
            </a:r>
          </a:p>
        </p:txBody>
      </p:sp>
      <p:sp>
        <p:nvSpPr>
          <p:cNvPr id="280" name="Shape 280"/>
          <p:cNvSpPr/>
          <p:nvPr/>
        </p:nvSpPr>
        <p:spPr>
          <a:xfrm>
            <a:off x="7020080" y="1840000"/>
            <a:ext cx="310000" cy="3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1" name="Text 281"/>
          <p:cNvSpPr txBox="1"/>
          <p:nvPr/>
        </p:nvSpPr>
        <p:spPr>
          <a:xfrm>
            <a:off x="7020080" y="1840000"/>
            <a:ext cx="31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154</a:t>
            </a:r>
          </a:p>
        </p:txBody>
      </p:sp>
      <p:sp>
        <p:nvSpPr>
          <p:cNvPr id="282" name="Text 282"/>
          <p:cNvSpPr txBox="1"/>
          <p:nvPr/>
        </p:nvSpPr>
        <p:spPr>
          <a:xfrm>
            <a:off x="4790080" y="2450000"/>
            <a:ext cx="376672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2×3 乘 3×2，得到 2×2（m×n 乘 n×p 得 m×p）。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58 = 1×7 + 2×9 + 3×11，即 A 第 0 行与 B 第 0 列对应相乘再求和。</a:t>
            </a:r>
          </a:p>
        </p:txBody>
      </p:sp>
      <p:sp>
        <p:nvSpPr>
          <p:cNvPr id="283" name="Shape 283"/>
          <p:cNvSpPr/>
          <p:nvPr/>
        </p:nvSpPr>
        <p:spPr>
          <a:xfrm>
            <a:off x="457200" y="3530000"/>
            <a:ext cx="8229600" cy="12000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</p:sp>
      <p:sp>
        <p:nvSpPr>
          <p:cNvPr id="284" name="Text 284"/>
          <p:cNvSpPr txBox="1"/>
          <p:nvPr/>
        </p:nvSpPr>
        <p:spPr>
          <a:xfrm>
            <a:off x="607200" y="3590000"/>
            <a:ext cx="79296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zh-CN" sz="1200" b="1" dirty="0">
                <a:solidFill>
                  <a:srgbClr val="A06A00"/>
                </a:solidFill>
                <a:latin typeface="Microsoft YaHei"/>
                <a:ea typeface="Microsoft YaHei"/>
                <a:cs typeface="Microsoft YaHei"/>
              </a:rPr>
              <a:t xml:space="preserve">乘法公式（后面几页都会用到）</a:t>
            </a:r>
          </a:p>
          <a:p>
            <a:pPr algn="l" indent="0" marL="0">
              <a:spcAft>
                <a:spcPts val="50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D[i][j] = A[i][0]*B[0][j] + A[i][1]*B[1][j] + … + A[i][n-1]*B[n-1][j]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形状对不上（加法形状不同、乘法 A 的列数 ≠ B 的行数）：题目里就是 Error!。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先修：矩阵基础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 263A：1 要移到中心要几步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285" name="Shape 285"/>
          <p:cNvSpPr/>
          <p:nvPr/>
        </p:nvSpPr>
        <p:spPr>
          <a:xfrm>
            <a:off x="457200" y="960120"/>
            <a:ext cx="2350000" cy="377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286" name="Text 286"/>
          <p:cNvSpPr txBox="1"/>
          <p:nvPr/>
        </p:nvSpPr>
        <p:spPr>
          <a:xfrm>
            <a:off x="587200" y="1020120"/>
            <a:ext cx="209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CF 263A Beautiful Matrix</a:t>
            </a:r>
          </a:p>
        </p:txBody>
      </p:sp>
      <p:sp>
        <p:nvSpPr>
          <p:cNvPr id="287" name="Shape 287"/>
          <p:cNvSpPr/>
          <p:nvPr/>
        </p:nvSpPr>
        <p:spPr>
          <a:xfrm>
            <a:off x="697200" y="142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8" name="Text 288"/>
          <p:cNvSpPr txBox="1"/>
          <p:nvPr/>
        </p:nvSpPr>
        <p:spPr>
          <a:xfrm>
            <a:off x="697200" y="142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89" name="Shape 289"/>
          <p:cNvSpPr/>
          <p:nvPr/>
        </p:nvSpPr>
        <p:spPr>
          <a:xfrm>
            <a:off x="1067200" y="142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0" name="Text 290"/>
          <p:cNvSpPr txBox="1"/>
          <p:nvPr/>
        </p:nvSpPr>
        <p:spPr>
          <a:xfrm>
            <a:off x="1067200" y="142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91" name="Shape 291"/>
          <p:cNvSpPr/>
          <p:nvPr/>
        </p:nvSpPr>
        <p:spPr>
          <a:xfrm>
            <a:off x="1437200" y="142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2" name="Text 292"/>
          <p:cNvSpPr txBox="1"/>
          <p:nvPr/>
        </p:nvSpPr>
        <p:spPr>
          <a:xfrm>
            <a:off x="1437200" y="142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93" name="Shape 293"/>
          <p:cNvSpPr/>
          <p:nvPr/>
        </p:nvSpPr>
        <p:spPr>
          <a:xfrm>
            <a:off x="1807200" y="142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4" name="Text 294"/>
          <p:cNvSpPr txBox="1"/>
          <p:nvPr/>
        </p:nvSpPr>
        <p:spPr>
          <a:xfrm>
            <a:off x="1807200" y="142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95" name="Shape 295"/>
          <p:cNvSpPr/>
          <p:nvPr/>
        </p:nvSpPr>
        <p:spPr>
          <a:xfrm>
            <a:off x="2177200" y="142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6" name="Text 296"/>
          <p:cNvSpPr txBox="1"/>
          <p:nvPr/>
        </p:nvSpPr>
        <p:spPr>
          <a:xfrm>
            <a:off x="2177200" y="142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97" name="Shape 297"/>
          <p:cNvSpPr/>
          <p:nvPr/>
        </p:nvSpPr>
        <p:spPr>
          <a:xfrm>
            <a:off x="697200" y="179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8" name="Text 298"/>
          <p:cNvSpPr txBox="1"/>
          <p:nvPr/>
        </p:nvSpPr>
        <p:spPr>
          <a:xfrm>
            <a:off x="697200" y="179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99" name="Shape 299"/>
          <p:cNvSpPr/>
          <p:nvPr/>
        </p:nvSpPr>
        <p:spPr>
          <a:xfrm>
            <a:off x="1067200" y="179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0" name="Text 300"/>
          <p:cNvSpPr txBox="1"/>
          <p:nvPr/>
        </p:nvSpPr>
        <p:spPr>
          <a:xfrm>
            <a:off x="1067200" y="179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01" name="Shape 301"/>
          <p:cNvSpPr/>
          <p:nvPr/>
        </p:nvSpPr>
        <p:spPr>
          <a:xfrm>
            <a:off x="1437200" y="179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2" name="Text 302"/>
          <p:cNvSpPr txBox="1"/>
          <p:nvPr/>
        </p:nvSpPr>
        <p:spPr>
          <a:xfrm>
            <a:off x="1437200" y="179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03" name="Shape 303"/>
          <p:cNvSpPr/>
          <p:nvPr/>
        </p:nvSpPr>
        <p:spPr>
          <a:xfrm>
            <a:off x="1807200" y="179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4" name="Text 304"/>
          <p:cNvSpPr txBox="1"/>
          <p:nvPr/>
        </p:nvSpPr>
        <p:spPr>
          <a:xfrm>
            <a:off x="1807200" y="179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05" name="Shape 305"/>
          <p:cNvSpPr/>
          <p:nvPr/>
        </p:nvSpPr>
        <p:spPr>
          <a:xfrm>
            <a:off x="2177200" y="1790000"/>
            <a:ext cx="340000" cy="340000"/>
          </a:xfrm>
          <a:prstGeom prst="rect">
            <a:avLst/>
          </a:prstGeom>
          <a:solidFill>
            <a:srgbClr val="CFE0D8"/>
          </a:solidFill>
          <a:ln>
            <a:noFill/>
          </a:ln>
        </p:spPr>
      </p:sp>
      <p:sp>
        <p:nvSpPr>
          <p:cNvPr id="306" name="Text 306"/>
          <p:cNvSpPr txBox="1"/>
          <p:nvPr/>
        </p:nvSpPr>
        <p:spPr>
          <a:xfrm>
            <a:off x="2177200" y="179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307" name="Shape 307"/>
          <p:cNvSpPr/>
          <p:nvPr/>
        </p:nvSpPr>
        <p:spPr>
          <a:xfrm>
            <a:off x="697200" y="216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8" name="Text 308"/>
          <p:cNvSpPr txBox="1"/>
          <p:nvPr/>
        </p:nvSpPr>
        <p:spPr>
          <a:xfrm>
            <a:off x="697200" y="216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09" name="Shape 309"/>
          <p:cNvSpPr/>
          <p:nvPr/>
        </p:nvSpPr>
        <p:spPr>
          <a:xfrm>
            <a:off x="1067200" y="216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0" name="Text 310"/>
          <p:cNvSpPr txBox="1"/>
          <p:nvPr/>
        </p:nvSpPr>
        <p:spPr>
          <a:xfrm>
            <a:off x="1067200" y="216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11" name="Shape 311"/>
          <p:cNvSpPr/>
          <p:nvPr/>
        </p:nvSpPr>
        <p:spPr>
          <a:xfrm>
            <a:off x="1437200" y="2160000"/>
            <a:ext cx="340000" cy="340000"/>
          </a:xfrm>
          <a:prstGeom prst="rect">
            <a:avLst/>
          </a:prstGeom>
          <a:solidFill>
            <a:srgbClr val="F2D98A"/>
          </a:solidFill>
          <a:ln>
            <a:noFill/>
          </a:ln>
        </p:spPr>
      </p:sp>
      <p:sp>
        <p:nvSpPr>
          <p:cNvPr id="312" name="Text 312"/>
          <p:cNvSpPr txBox="1"/>
          <p:nvPr/>
        </p:nvSpPr>
        <p:spPr>
          <a:xfrm>
            <a:off x="1437200" y="216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13" name="Shape 313"/>
          <p:cNvSpPr/>
          <p:nvPr/>
        </p:nvSpPr>
        <p:spPr>
          <a:xfrm>
            <a:off x="1807200" y="216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4" name="Text 314"/>
          <p:cNvSpPr txBox="1"/>
          <p:nvPr/>
        </p:nvSpPr>
        <p:spPr>
          <a:xfrm>
            <a:off x="1807200" y="216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15" name="Shape 315"/>
          <p:cNvSpPr/>
          <p:nvPr/>
        </p:nvSpPr>
        <p:spPr>
          <a:xfrm>
            <a:off x="2177200" y="216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6" name="Text 316"/>
          <p:cNvSpPr txBox="1"/>
          <p:nvPr/>
        </p:nvSpPr>
        <p:spPr>
          <a:xfrm>
            <a:off x="2177200" y="216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17" name="Shape 317"/>
          <p:cNvSpPr/>
          <p:nvPr/>
        </p:nvSpPr>
        <p:spPr>
          <a:xfrm>
            <a:off x="697200" y="253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8" name="Text 318"/>
          <p:cNvSpPr txBox="1"/>
          <p:nvPr/>
        </p:nvSpPr>
        <p:spPr>
          <a:xfrm>
            <a:off x="697200" y="253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19" name="Shape 319"/>
          <p:cNvSpPr/>
          <p:nvPr/>
        </p:nvSpPr>
        <p:spPr>
          <a:xfrm>
            <a:off x="1067200" y="253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20" name="Text 320"/>
          <p:cNvSpPr txBox="1"/>
          <p:nvPr/>
        </p:nvSpPr>
        <p:spPr>
          <a:xfrm>
            <a:off x="1067200" y="253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21" name="Shape 321"/>
          <p:cNvSpPr/>
          <p:nvPr/>
        </p:nvSpPr>
        <p:spPr>
          <a:xfrm>
            <a:off x="1437200" y="253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22" name="Text 322"/>
          <p:cNvSpPr txBox="1"/>
          <p:nvPr/>
        </p:nvSpPr>
        <p:spPr>
          <a:xfrm>
            <a:off x="1437200" y="253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23" name="Shape 323"/>
          <p:cNvSpPr/>
          <p:nvPr/>
        </p:nvSpPr>
        <p:spPr>
          <a:xfrm>
            <a:off x="1807200" y="253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24" name="Text 324"/>
          <p:cNvSpPr txBox="1"/>
          <p:nvPr/>
        </p:nvSpPr>
        <p:spPr>
          <a:xfrm>
            <a:off x="1807200" y="253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25" name="Shape 325"/>
          <p:cNvSpPr/>
          <p:nvPr/>
        </p:nvSpPr>
        <p:spPr>
          <a:xfrm>
            <a:off x="2177200" y="253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26" name="Text 326"/>
          <p:cNvSpPr txBox="1"/>
          <p:nvPr/>
        </p:nvSpPr>
        <p:spPr>
          <a:xfrm>
            <a:off x="2177200" y="253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27" name="Shape 327"/>
          <p:cNvSpPr/>
          <p:nvPr/>
        </p:nvSpPr>
        <p:spPr>
          <a:xfrm>
            <a:off x="697200" y="290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28" name="Text 328"/>
          <p:cNvSpPr txBox="1"/>
          <p:nvPr/>
        </p:nvSpPr>
        <p:spPr>
          <a:xfrm>
            <a:off x="697200" y="290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29" name="Shape 329"/>
          <p:cNvSpPr/>
          <p:nvPr/>
        </p:nvSpPr>
        <p:spPr>
          <a:xfrm>
            <a:off x="1067200" y="290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0" name="Text 330"/>
          <p:cNvSpPr txBox="1"/>
          <p:nvPr/>
        </p:nvSpPr>
        <p:spPr>
          <a:xfrm>
            <a:off x="1067200" y="290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31" name="Shape 331"/>
          <p:cNvSpPr/>
          <p:nvPr/>
        </p:nvSpPr>
        <p:spPr>
          <a:xfrm>
            <a:off x="1437200" y="290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2" name="Text 332"/>
          <p:cNvSpPr txBox="1"/>
          <p:nvPr/>
        </p:nvSpPr>
        <p:spPr>
          <a:xfrm>
            <a:off x="1437200" y="290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33" name="Shape 333"/>
          <p:cNvSpPr/>
          <p:nvPr/>
        </p:nvSpPr>
        <p:spPr>
          <a:xfrm>
            <a:off x="1807200" y="290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4" name="Text 334"/>
          <p:cNvSpPr txBox="1"/>
          <p:nvPr/>
        </p:nvSpPr>
        <p:spPr>
          <a:xfrm>
            <a:off x="1807200" y="290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35" name="Shape 335"/>
          <p:cNvSpPr/>
          <p:nvPr/>
        </p:nvSpPr>
        <p:spPr>
          <a:xfrm>
            <a:off x="2177200" y="2900000"/>
            <a:ext cx="34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6" name="Text 336"/>
          <p:cNvSpPr txBox="1"/>
          <p:nvPr/>
        </p:nvSpPr>
        <p:spPr>
          <a:xfrm>
            <a:off x="2177200" y="290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337" name="Text 337"/>
          <p:cNvSpPr txBox="1"/>
          <p:nvPr/>
        </p:nvSpPr>
        <p:spPr>
          <a:xfrm>
            <a:off x="587200" y="3330000"/>
            <a:ext cx="21000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5×5 矩阵，24 个 0 和 1 个 1。每次可交换相邻两行或相邻两列，求把 1 移到中心（第 3 行第 3 列，黄色格）的最少次数。</a:t>
            </a:r>
          </a:p>
        </p:txBody>
      </p:sp>
      <p:sp>
        <p:nvSpPr>
          <p:cNvPr id="338" name="Shape 338"/>
          <p:cNvSpPr/>
          <p:nvPr/>
        </p:nvSpPr>
        <p:spPr>
          <a:xfrm>
            <a:off x="2990080" y="960120"/>
            <a:ext cx="5696720" cy="13000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>
            <a:noFill/>
          </a:ln>
        </p:spPr>
      </p:sp>
      <p:sp>
        <p:nvSpPr>
          <p:cNvPr id="339" name="Text 339"/>
          <p:cNvSpPr txBox="1"/>
          <p:nvPr/>
        </p:nvSpPr>
        <p:spPr>
          <a:xfrm>
            <a:off x="3120080" y="1020120"/>
            <a:ext cx="54367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思路：行、列各自算距离</a:t>
            </a:r>
          </a:p>
        </p:txBody>
      </p:sp>
      <p:sp>
        <p:nvSpPr>
          <p:cNvPr id="340" name="Text 340"/>
          <p:cNvSpPr txBox="1"/>
          <p:nvPr/>
        </p:nvSpPr>
        <p:spPr>
          <a:xfrm>
            <a:off x="3120080" y="1330000"/>
            <a:ext cx="543672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设 1 在第 r 行第 c 列（从 1 开始数）。行要移 |r−3| 次，列要移 |c−3| 次，答案：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Consolas"/>
                <a:ea typeface="Microsoft YaHei"/>
                <a:cs typeface="Consolas"/>
              </a:rPr>
              <a:t xml:space="preserve">abs(r - 3) + abs(c - 3)</a:t>
            </a:r>
          </a:p>
        </p:txBody>
      </p:sp>
      <p:sp>
        <p:nvSpPr>
          <p:cNvPr id="341" name="Shape 341"/>
          <p:cNvSpPr/>
          <p:nvPr/>
        </p:nvSpPr>
        <p:spPr>
          <a:xfrm>
            <a:off x="2990080" y="2360000"/>
            <a:ext cx="5696720" cy="237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342" name="Text 342"/>
          <p:cNvSpPr txBox="1"/>
          <p:nvPr/>
        </p:nvSpPr>
        <p:spPr>
          <a:xfrm>
            <a:off x="3120080" y="2420000"/>
            <a:ext cx="5436720" cy="2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for i in range(1, 6):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row = list(map(int, input().split()))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if 1 in row: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r = i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c = row.index(1) + 1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print(abs(r - 3) + abs(c - 3))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break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5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样例 1：1 在第 2 行第 5 列，|2−3|+|5−3| = 3。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先修：矩阵基础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 E18161：先判形状，再计算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343" name="Shape 343"/>
          <p:cNvSpPr/>
          <p:nvPr/>
        </p:nvSpPr>
        <p:spPr>
          <a:xfrm>
            <a:off x="457200" y="960120"/>
            <a:ext cx="8229600" cy="90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344" name="Text 344"/>
          <p:cNvSpPr txBox="1"/>
          <p:nvPr/>
        </p:nvSpPr>
        <p:spPr>
          <a:xfrm>
            <a:off x="587200" y="1020120"/>
            <a:ext cx="79696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E18161 矩阵运算：计算 A·B + C</a:t>
            </a:r>
          </a:p>
        </p:txBody>
      </p:sp>
      <p:sp>
        <p:nvSpPr>
          <p:cNvPr id="345" name="Text 345"/>
          <p:cNvSpPr txBox="1"/>
          <p:nvPr/>
        </p:nvSpPr>
        <p:spPr>
          <a:xfrm>
            <a:off x="587200" y="1330000"/>
            <a:ext cx="79696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输入三个矩阵（每个先给行数、列数，再给各行数字）。能算就输出结果；不能算输出 Error!</a:t>
            </a:r>
          </a:p>
        </p:txBody>
      </p:sp>
      <p:sp>
        <p:nvSpPr>
          <p:cNvPr id="346" name="Shape 346"/>
          <p:cNvSpPr/>
          <p:nvPr/>
        </p:nvSpPr>
        <p:spPr>
          <a:xfrm>
            <a:off x="457200" y="1990000"/>
            <a:ext cx="2650000" cy="12500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>
            <a:noFill/>
          </a:ln>
        </p:spPr>
      </p:sp>
      <p:sp>
        <p:nvSpPr>
          <p:cNvPr id="347" name="Shape 347"/>
          <p:cNvSpPr/>
          <p:nvPr/>
        </p:nvSpPr>
        <p:spPr>
          <a:xfrm>
            <a:off x="567200" y="2070000"/>
            <a:ext cx="300000" cy="300000"/>
          </a:xfrm>
          <a:prstGeom prst="ellipse">
            <a:avLst/>
          </a:prstGeom>
          <a:solidFill>
            <a:srgbClr val="1E3D34"/>
          </a:solidFill>
          <a:ln>
            <a:noFill/>
          </a:ln>
        </p:spPr>
      </p:sp>
      <p:sp>
        <p:nvSpPr>
          <p:cNvPr id="348" name="Text 348"/>
          <p:cNvSpPr txBox="1"/>
          <p:nvPr/>
        </p:nvSpPr>
        <p:spPr>
          <a:xfrm>
            <a:off x="567200" y="207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F2B1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349" name="Text 349"/>
          <p:cNvSpPr txBox="1"/>
          <p:nvPr/>
        </p:nvSpPr>
        <p:spPr>
          <a:xfrm>
            <a:off x="927200" y="2070000"/>
            <a:ext cx="209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乘法能做吗</a:t>
            </a:r>
          </a:p>
        </p:txBody>
      </p:sp>
      <p:sp>
        <p:nvSpPr>
          <p:cNvPr id="350" name="Text 350"/>
          <p:cNvSpPr txBox="1"/>
          <p:nvPr/>
        </p:nvSpPr>
        <p:spPr>
          <a:xfrm>
            <a:off x="587200" y="2450000"/>
            <a:ext cx="2390000" cy="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A 的列数 = B 的行数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50" b="1" dirty="0">
                <a:solidFill>
                  <a:srgbClr val="3E7C68"/>
                </a:solidFill>
                <a:latin typeface="Consolas"/>
                <a:ea typeface="Microsoft YaHei"/>
                <a:cs typeface="Consolas"/>
              </a:rPr>
              <a:t xml:space="preserve">ca == rb</a:t>
            </a:r>
          </a:p>
        </p:txBody>
      </p:sp>
      <p:sp>
        <p:nvSpPr>
          <p:cNvPr id="351" name="Shape 351"/>
          <p:cNvSpPr/>
          <p:nvPr/>
        </p:nvSpPr>
        <p:spPr>
          <a:xfrm>
            <a:off x="3247000" y="1990000"/>
            <a:ext cx="2650000" cy="12500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>
            <a:noFill/>
          </a:ln>
        </p:spPr>
      </p:sp>
      <p:sp>
        <p:nvSpPr>
          <p:cNvPr id="352" name="Shape 352"/>
          <p:cNvSpPr/>
          <p:nvPr/>
        </p:nvSpPr>
        <p:spPr>
          <a:xfrm>
            <a:off x="3357000" y="2070000"/>
            <a:ext cx="300000" cy="300000"/>
          </a:xfrm>
          <a:prstGeom prst="ellipse">
            <a:avLst/>
          </a:prstGeom>
          <a:solidFill>
            <a:srgbClr val="1E3D34"/>
          </a:solidFill>
          <a:ln>
            <a:noFill/>
          </a:ln>
        </p:spPr>
      </p:sp>
      <p:sp>
        <p:nvSpPr>
          <p:cNvPr id="353" name="Text 353"/>
          <p:cNvSpPr txBox="1"/>
          <p:nvPr/>
        </p:nvSpPr>
        <p:spPr>
          <a:xfrm>
            <a:off x="3357000" y="207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F2B134"/>
                </a:solidFill>
                <a:latin typeface="Microsoft YaHei"/>
                <a:ea typeface="Microsoft YaHei"/>
                <a:cs typeface="Microsoft YaHei"/>
              </a:rPr>
              <a:t xml:space="preserve">2</a:t>
            </a:r>
          </a:p>
        </p:txBody>
      </p:sp>
      <p:sp>
        <p:nvSpPr>
          <p:cNvPr id="354" name="Text 354"/>
          <p:cNvSpPr txBox="1"/>
          <p:nvPr/>
        </p:nvSpPr>
        <p:spPr>
          <a:xfrm>
            <a:off x="3717000" y="2070000"/>
            <a:ext cx="209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加法能做吗</a:t>
            </a:r>
          </a:p>
        </p:txBody>
      </p:sp>
      <p:sp>
        <p:nvSpPr>
          <p:cNvPr id="355" name="Text 355"/>
          <p:cNvSpPr txBox="1"/>
          <p:nvPr/>
        </p:nvSpPr>
        <p:spPr>
          <a:xfrm>
            <a:off x="3377000" y="2450000"/>
            <a:ext cx="2390000" cy="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A·B 的形状 = C 的形状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50" b="1" dirty="0">
                <a:solidFill>
                  <a:srgbClr val="3E7C68"/>
                </a:solidFill>
                <a:latin typeface="Consolas"/>
                <a:ea typeface="Microsoft YaHei"/>
                <a:cs typeface="Consolas"/>
              </a:rPr>
              <a:t xml:space="preserve">ra == rc 且 cb == cc</a:t>
            </a:r>
          </a:p>
        </p:txBody>
      </p:sp>
      <p:sp>
        <p:nvSpPr>
          <p:cNvPr id="356" name="Shape 356"/>
          <p:cNvSpPr/>
          <p:nvPr/>
        </p:nvSpPr>
        <p:spPr>
          <a:xfrm>
            <a:off x="6036800" y="1990000"/>
            <a:ext cx="2650000" cy="12500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</p:sp>
      <p:sp>
        <p:nvSpPr>
          <p:cNvPr id="357" name="Shape 357"/>
          <p:cNvSpPr/>
          <p:nvPr/>
        </p:nvSpPr>
        <p:spPr>
          <a:xfrm>
            <a:off x="6146800" y="2070000"/>
            <a:ext cx="300000" cy="300000"/>
          </a:xfrm>
          <a:prstGeom prst="ellipse">
            <a:avLst/>
          </a:prstGeom>
          <a:solidFill>
            <a:srgbClr val="1E3D34"/>
          </a:solidFill>
          <a:ln>
            <a:noFill/>
          </a:ln>
        </p:spPr>
      </p:sp>
      <p:sp>
        <p:nvSpPr>
          <p:cNvPr id="358" name="Text 358"/>
          <p:cNvSpPr txBox="1"/>
          <p:nvPr/>
        </p:nvSpPr>
        <p:spPr>
          <a:xfrm>
            <a:off x="6146800" y="207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F2B1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359" name="Text 359"/>
          <p:cNvSpPr txBox="1"/>
          <p:nvPr/>
        </p:nvSpPr>
        <p:spPr>
          <a:xfrm>
            <a:off x="6506800" y="2070000"/>
            <a:ext cx="209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都满足才算</a:t>
            </a:r>
          </a:p>
        </p:txBody>
      </p:sp>
      <p:sp>
        <p:nvSpPr>
          <p:cNvPr id="360" name="Text 360"/>
          <p:cNvSpPr txBox="1"/>
          <p:nvPr/>
        </p:nvSpPr>
        <p:spPr>
          <a:xfrm>
            <a:off x="6166800" y="2450000"/>
            <a:ext cx="2390000" cy="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否则输出 Error!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50" b="1" dirty="0">
                <a:solidFill>
                  <a:srgbClr val="3E7C68"/>
                </a:solidFill>
                <a:latin typeface="Consolas"/>
                <a:ea typeface="Microsoft YaHei"/>
                <a:cs typeface="Consolas"/>
              </a:rPr>
              <a:t xml:space="preserve">D = A·B + C</a:t>
            </a:r>
          </a:p>
        </p:txBody>
      </p:sp>
      <p:sp>
        <p:nvSpPr>
          <p:cNvPr id="361" name="Shape 361"/>
          <p:cNvSpPr/>
          <p:nvPr/>
        </p:nvSpPr>
        <p:spPr>
          <a:xfrm>
            <a:off x="457200" y="3360000"/>
            <a:ext cx="8229600" cy="137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362" name="Text 362"/>
          <p:cNvSpPr txBox="1"/>
          <p:nvPr/>
        </p:nvSpPr>
        <p:spPr>
          <a:xfrm>
            <a:off x="607200" y="3420000"/>
            <a:ext cx="79296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样例 1：A 是 3×1，B 是 1×2，C 是 3×2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A·B = [[0,0],[1,1],[0,0]]，再加 C = [[3,1],[3,1],[3,1]]，得 [[3,1],[4,2],[3,1]]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A06A00"/>
                </a:solidFill>
                <a:latin typeface="Microsoft YaHei"/>
                <a:ea typeface="Microsoft YaHei"/>
                <a:cs typeface="Microsoft YaHei"/>
              </a:rPr>
              <a:t xml:space="preserve">样例 2：A 是 1×1，B 是 2×1：A 的列数 1 ≠ B 的行数 2，直接 Error!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先修：矩阵基础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E18161 的代码：三步写完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363" name="Shape 363"/>
          <p:cNvSpPr/>
          <p:nvPr/>
        </p:nvSpPr>
        <p:spPr>
          <a:xfrm>
            <a:off x="457200" y="960120"/>
            <a:ext cx="5000000" cy="377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364" name="Text 364"/>
          <p:cNvSpPr txBox="1"/>
          <p:nvPr/>
        </p:nvSpPr>
        <p:spPr>
          <a:xfrm>
            <a:off x="587200" y="1010000"/>
            <a:ext cx="4740000" cy="3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def read():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r, c = map(int, input().split())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return [list(map(int, input().split()))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    for _ in range(r)]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/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A, B, C = read(), read(), read()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ra, ca = len(A), len(A[0])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rb, cb = len(B), len(B[0])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rc, cc = len(C), len(C[0])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if ca != rb or ra != rc or cb != cc: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print("Error!")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else: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for i in range(ra):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row = []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for j in range(cb):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    s = C[i][j]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    for k in range(ca):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        s += A[i][k] * B[k][j]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    row.append(s)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print(*row)</a:t>
            </a:r>
          </a:p>
        </p:txBody>
      </p:sp>
      <p:sp>
        <p:nvSpPr>
          <p:cNvPr id="365" name="Shape 365"/>
          <p:cNvSpPr/>
          <p:nvPr/>
        </p:nvSpPr>
        <p:spPr>
          <a:xfrm>
            <a:off x="5640080" y="960120"/>
            <a:ext cx="3046720" cy="10000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</p:sp>
      <p:sp>
        <p:nvSpPr>
          <p:cNvPr id="366" name="Text 366"/>
          <p:cNvSpPr txBox="1"/>
          <p:nvPr/>
        </p:nvSpPr>
        <p:spPr>
          <a:xfrm>
            <a:off x="5760080" y="1020000"/>
            <a:ext cx="280672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zh-CN" sz="1200" b="1" dirty="0">
                <a:solidFill>
                  <a:srgbClr val="A06A00"/>
                </a:solidFill>
                <a:latin typeface="Microsoft YaHei"/>
                <a:ea typeface="Microsoft YaHei"/>
                <a:cs typeface="Microsoft YaHei"/>
              </a:rPr>
              <a:t xml:space="preserve">复杂度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乘法 O(m·n·p)，加法 O(m·p)，结果矩阵占 O(m·p) 空间。</a:t>
            </a:r>
          </a:p>
        </p:txBody>
      </p:sp>
      <p:sp>
        <p:nvSpPr>
          <p:cNvPr id="367" name="Shape 367"/>
          <p:cNvSpPr/>
          <p:nvPr/>
        </p:nvSpPr>
        <p:spPr>
          <a:xfrm>
            <a:off x="5640080" y="2080000"/>
            <a:ext cx="3046720" cy="26500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>
            <a:noFill/>
          </a:ln>
        </p:spPr>
      </p:sp>
      <p:sp>
        <p:nvSpPr>
          <p:cNvPr id="368" name="Text 368"/>
          <p:cNvSpPr txBox="1"/>
          <p:nvPr/>
        </p:nvSpPr>
        <p:spPr>
          <a:xfrm>
            <a:off x="5760080" y="2140000"/>
            <a:ext cx="2806720" cy="2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另一种写法：@ 运算符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Python 3.5 起，类里定义 __matmul__、__add__，就能直接写：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try: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print(A @ B + C)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except ValueError: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print("Error!")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维度不合法时 raise ValueError。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表示与遍历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行 n 列：一定要用列表推导式逐行建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m, n = 3, 4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[[0] * n for _ in range(m)]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m 行 n 列，行与行互不相干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0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= [[0] * n] * m                    # ❌ 三行是同一个列表的三个引用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range(m):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a[i][j] = i * n + j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row in a: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print(*row)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1 2 3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5 6 7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8 9 10 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[[0]*n]*m</a:t>
            </a: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是错的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1788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复制的是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，不是内容：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个位置指向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内层列表。改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a[0][0]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会看到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a[1][0]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也跟着变。上一页「先跑一遍」的第一个现象就是它。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表示与遍历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读入一个 m×n 矩阵；按行遍历为什么更快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sys.stdin.read().split()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= 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m, n = int(data[idx]), int(data[idx + 1]); idx += 2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range(m):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a.append([int(data[idx + j]) for j in range(n)])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idx += 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06440" y="1005840"/>
            <a:ext cx="288036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0" y="1097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一次性读完，自己切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389888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sys.stdin.read().split()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把整份输入切成一个 token 列表，比逐行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快很多——数据量大的题目标配写法。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1089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按行遍历比按列遍历快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4015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a[i][j]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变化快时，访问的地址在内存里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；跳着按列访问，每次都可能踩空缓存行。这是第 3 周「存储层次」的直接后果。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方向数组是第 9 周 DFS、第 12 周 BFS 反复使用的写法，下一页先学会它。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保护圈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「每格看上下左右邻居」：不加保护圈很啰嗦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没有保护圈：每次都要判越界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range(m):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range(n):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 = 0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di, dj in ((-1, 0), (1, 0), (0, -1), (0, 1)):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ni, nj = i + di, j + dj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0 &lt;= ni &lt; m and 0 &lt;= nj &lt; n: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 += a[ni][nj]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154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问题在哪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44728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每访问一个邻居都要判两次范围（行、列各一次），四个方向就是 4 次判断；嵌套一深，代码里全是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，容易漏判、也容易看错。下一页换一种写法。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保护圈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保护圈（padding）：四周补一圈 0，内部不用再判越界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065776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[[0] * (n + 2) for _ in range(m + 2)]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(m+2) x (n+2)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range(m):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range(n):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g[i + 1][j + 1] = a[i][j]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DIRS = ((-1, 0), (1, 0), (0, -1), (0, 1))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= [[0] * n for _ in range(m)]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m + 1):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range(1, n + 1):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res[i-1][j-1] = sum(g[i+di][j+dj] for di, dj in DIRS)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960120"/>
            <a:ext cx="2880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a = [[1,2,3],[4,5,6],[7,8,9]]，四邻域求和结果：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89320" y="1508760"/>
            <a:ext cx="68580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9320" y="15087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1508760"/>
            <a:ext cx="68580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15087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60920" y="1508760"/>
            <a:ext cx="68580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60920" y="15087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1965960"/>
            <a:ext cx="68580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89320" y="19659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1965960"/>
            <a:ext cx="68580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19659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60920" y="1965960"/>
            <a:ext cx="68580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0920" y="19659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89320" y="2423160"/>
            <a:ext cx="68580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89320" y="24231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2423160"/>
            <a:ext cx="68580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24231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60920" y="2423160"/>
            <a:ext cx="68580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60920" y="24231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3383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内部循环再也不用判越界了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36758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多出来的一圈全是 0，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g[i+di][j+dj]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永远合法——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用一点额外空间换掉所有边界分支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方向数组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DIRS4 / DIRS8：把「往哪走」写成一张表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DIRS4 = ((-1, 0), (1, 0), (0, -1), (0, 1))                     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上下左右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DIRS8 = tuple((di, dj) for di in (-1, 0, 1) for dj in (-1, 0, 1)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if (di, dj) != (0, 0))                           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八邻域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88720" y="2148840"/>
            <a:ext cx="2194560" cy="2057400"/>
          </a:xfrm>
          <a:prstGeom prst="roundRect">
            <a:avLst>
              <a:gd name="adj" fmla="val 3556"/>
            </a:avLst>
          </a:prstGeom>
          <a:solidFill>
            <a:srgbClr val="F1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2313432"/>
            <a:ext cx="603504" cy="53035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2313432"/>
            <a:ext cx="60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75104" y="2313432"/>
            <a:ext cx="603504" cy="53035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75104" y="2313432"/>
            <a:ext cx="60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78608" y="2313432"/>
            <a:ext cx="603504" cy="53035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78608" y="2313432"/>
            <a:ext cx="60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71600" y="2916936"/>
            <a:ext cx="603504" cy="53035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71600" y="2916936"/>
            <a:ext cx="60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975104" y="2916936"/>
            <a:ext cx="603504" cy="53035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75104" y="2916936"/>
            <a:ext cx="60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578608" y="2916936"/>
            <a:ext cx="603504" cy="53035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78608" y="2916936"/>
            <a:ext cx="60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71600" y="3520440"/>
            <a:ext cx="603504" cy="53035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71600" y="3520440"/>
            <a:ext cx="60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975104" y="3520440"/>
            <a:ext cx="603504" cy="53035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75104" y="3520440"/>
            <a:ext cx="60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578608" y="3520440"/>
            <a:ext cx="603504" cy="53035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78608" y="3520440"/>
            <a:ext cx="60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八邻域 DIRS8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214884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FFF6E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886200" y="2240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为什么要打成表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858768" y="2532888"/>
            <a:ext cx="4718304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四/八个方向反复出现在 DFS、BFS、Flood Fill 里。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DIRS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元组后，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di, dj in DIRS: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一行代替四/八段重复代码。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周马走日、第 12 周 BFS 都直接复用这两个常量的写法。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转置与旋转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zip(*a) 一行转置；配合切片一行旋转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[[1, 2, 3], [4, 5, 6]]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[list(row) for row in zip(*a)]        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转置：2x3 -&gt; 3x2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[[1, 2], [3, 4]]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 = [list(row) for row in zip(*b[::-1])] 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顺时针 90°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ccw = [list(row) for row in zip(*b)][::-1]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逆时针 90°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288036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8803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08760" y="288036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8803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333756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3375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08760" y="333756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08760" y="33375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顺时针 cw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03320" y="288036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03320" y="28803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51960" y="288036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51960" y="28803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703320" y="333756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03320" y="33375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51960" y="333756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51960" y="33375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逆时针 ccw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46520" y="288036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28803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95160" y="288036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95160" y="28803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46520" y="333756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6520" y="33375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95160" y="333756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95160" y="33375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9436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记法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41788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顺时针 =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先上下翻转（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[::-1]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）再转置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；逆时针 =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先转置再上下翻转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zip(*矩阵)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本身只做转置，方向全靠翻转的先后。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矩阵乘法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A·B：C[i][j] = Σ A[i][t]·B[t][j]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0644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60136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matmul(A, B):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k, n = len(A), len(B), len(B[0])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[[0] * n for _ in range(m)]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Ai = A[i]        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提到内层循环外，减少一次索引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 = C[i]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 in range(k):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Ai[t]:    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稀疏时跳过零，常数优化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Bt, v = B[t], Ai[t]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for j in range(n):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Ci[j] += v * Bt[j]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[[1, 2], [3, 4]], [[5, 6], [7, 8]]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print(matmul(A, B))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[[19, 22], [43, 50]]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46520" y="96012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051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 O(m·k·n)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3441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n=200 时是 8×10⁶，可以；n=1000 时是 10⁹，必然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46520" y="2148840"/>
            <a:ext cx="2240280" cy="1645920"/>
          </a:xfrm>
          <a:prstGeom prst="roundRect">
            <a:avLst>
              <a:gd name="adj" fmla="val 4444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E18161 矩阵运算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532888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先判断维度是否匹配，不匹配输出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Error!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这类题失分几乎全在漏判维度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224" name="Shape 224"/>
          <p:cNvSpPr/>
          <p:nvPr/>
        </p:nvSpPr>
        <p:spPr>
          <a:xfrm>
            <a:off x="457200" y="3900000"/>
            <a:ext cx="8229600" cy="8000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>
            <a:noFill/>
          </a:ln>
        </p:spPr>
      </p:sp>
      <p:sp>
        <p:nvSpPr>
          <p:cNvPr id="225" name="Text 225"/>
          <p:cNvSpPr txBox="1"/>
          <p:nvPr/>
        </p:nvSpPr>
        <p:spPr>
          <a:xfrm>
            <a:off x="607200" y="3950000"/>
            <a:ext cx="79296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一句话：</a:t>
            </a:r>
            <a:r>
              <a:rPr lang="zh-CN" sz="11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换成 i→t→j 的顺序，“算一个格子”变成“拿 A 的一个数乘 B 的一整行，累加到 C 的一整行”。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→ 下面 3 页：循环顺序对比、手算追踪、三个优化技巧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矩阵乘法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先搞懂：循环顺序为什么能换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101" name="Shape 101"/>
          <p:cNvSpPr/>
          <p:nvPr/>
        </p:nvSpPr>
        <p:spPr>
          <a:xfrm>
            <a:off x="457200" y="960120"/>
            <a:ext cx="4023360" cy="224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02" name="Text 102"/>
          <p:cNvSpPr txBox="1"/>
          <p:nvPr/>
        </p:nvSpPr>
        <p:spPr>
          <a:xfrm>
            <a:off x="587200" y="1020000"/>
            <a:ext cx="376336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经典写法：i → j → t（一次算一个格子）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87200" y="1340000"/>
            <a:ext cx="376336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for i in range(m):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for j in range(n):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for t in range(k):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C[i][j] += A[i][t]*B[t][j]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587200" y="2330000"/>
            <a:ext cx="376336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固定一个格子 C[i][j]，把 k 项乘积一次加完（点积：A 的第 i 行 · B 的第 j 列）。</a:t>
            </a:r>
          </a:p>
        </p:txBody>
      </p:sp>
      <p:sp>
        <p:nvSpPr>
          <p:cNvPr id="105" name="Shape 105"/>
          <p:cNvSpPr/>
          <p:nvPr/>
        </p:nvSpPr>
        <p:spPr>
          <a:xfrm>
            <a:off x="4663440" y="960120"/>
            <a:ext cx="4023360" cy="22400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>
            <a:noFill/>
          </a:ln>
        </p:spPr>
      </p:sp>
      <p:sp>
        <p:nvSpPr>
          <p:cNvPr id="106" name="Text 106"/>
          <p:cNvSpPr txBox="1"/>
          <p:nvPr/>
        </p:nvSpPr>
        <p:spPr>
          <a:xfrm>
            <a:off x="4793440" y="1020000"/>
            <a:ext cx="376336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本页写法：i → t → j（一次更新一整行）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4793440" y="1340000"/>
            <a:ext cx="376336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for i in range(m):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for t in range(k):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v = A[i][t]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for j in range(n):  Ci[j] += v*B[t][j]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793440" y="2330000"/>
            <a:ext cx="376336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取 A[i][t] 这一个数 v，乘 B 的第 t 整行，累加到 C 的第 i 整行。k 轮之后，C 的第 i 行就算完了。</a:t>
            </a:r>
          </a:p>
        </p:txBody>
      </p:sp>
      <p:sp>
        <p:nvSpPr>
          <p:cNvPr id="109" name="Shape 109"/>
          <p:cNvSpPr/>
          <p:nvPr/>
        </p:nvSpPr>
        <p:spPr>
          <a:xfrm>
            <a:off x="457200" y="3330000"/>
            <a:ext cx="8229600" cy="14000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</p:sp>
      <p:sp>
        <p:nvSpPr>
          <p:cNvPr id="110" name="Text 110"/>
          <p:cNvSpPr txBox="1"/>
          <p:nvPr/>
        </p:nvSpPr>
        <p:spPr>
          <a:xfrm>
            <a:off x="607200" y="3400000"/>
            <a:ext cx="7929600" cy="1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zh-CN" sz="1200" b="1" dirty="0">
                <a:solidFill>
                  <a:srgbClr val="A06A00"/>
                </a:solidFill>
                <a:latin typeface="Microsoft YaHei"/>
                <a:ea typeface="Microsoft YaHei"/>
                <a:cs typeface="Microsoft YaHei"/>
              </a:rPr>
              <a:t xml:space="preserve">为什么两种写法结果一样？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C[i][j] = A[i][0]·B[0][j] + A[i][1]·B[1][j] + … + A[i][k-1]·B[k-1][j]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加法满足交换律，加的顺序不影响总和。经典写法一次加完 k 项；本页写法分 k 轮（t=0,1,…），每一轮给这一行所有格子各加一项。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记忆：C 的第 i 行 = Σₜ A[i][t] × （B 的第 t 行）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矩阵乘法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A=[[1,2],[3,4]]、B=[[5,6],[7,8]] 手算一遍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111" name="Text 111"/>
          <p:cNvSpPr txBox="1"/>
          <p:nvPr/>
        </p:nvSpPr>
        <p:spPr>
          <a:xfrm>
            <a:off x="557200" y="100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A</a:t>
            </a:r>
          </a:p>
        </p:txBody>
      </p:sp>
      <p:sp>
        <p:nvSpPr>
          <p:cNvPr id="112" name="Shape 112"/>
          <p:cNvSpPr/>
          <p:nvPr/>
        </p:nvSpPr>
        <p:spPr>
          <a:xfrm>
            <a:off x="557200" y="1250000"/>
            <a:ext cx="350000" cy="3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13" name="Text 113"/>
          <p:cNvSpPr txBox="1"/>
          <p:nvPr/>
        </p:nvSpPr>
        <p:spPr>
          <a:xfrm>
            <a:off x="557200" y="125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114" name="Shape 114"/>
          <p:cNvSpPr/>
          <p:nvPr/>
        </p:nvSpPr>
        <p:spPr>
          <a:xfrm>
            <a:off x="937200" y="1250000"/>
            <a:ext cx="350000" cy="3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15" name="Text 115"/>
          <p:cNvSpPr txBox="1"/>
          <p:nvPr/>
        </p:nvSpPr>
        <p:spPr>
          <a:xfrm>
            <a:off x="937200" y="125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2</a:t>
            </a:r>
          </a:p>
        </p:txBody>
      </p:sp>
      <p:sp>
        <p:nvSpPr>
          <p:cNvPr id="116" name="Shape 116"/>
          <p:cNvSpPr/>
          <p:nvPr/>
        </p:nvSpPr>
        <p:spPr>
          <a:xfrm>
            <a:off x="557200" y="1630000"/>
            <a:ext cx="350000" cy="3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17" name="Text 117"/>
          <p:cNvSpPr txBox="1"/>
          <p:nvPr/>
        </p:nvSpPr>
        <p:spPr>
          <a:xfrm>
            <a:off x="557200" y="163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118" name="Shape 118"/>
          <p:cNvSpPr/>
          <p:nvPr/>
        </p:nvSpPr>
        <p:spPr>
          <a:xfrm>
            <a:off x="937200" y="1630000"/>
            <a:ext cx="350000" cy="3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19" name="Text 119"/>
          <p:cNvSpPr txBox="1"/>
          <p:nvPr/>
        </p:nvSpPr>
        <p:spPr>
          <a:xfrm>
            <a:off x="937200" y="163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4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1417200" y="1470000"/>
            <a:ext cx="2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6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×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1707200" y="100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B</a:t>
            </a:r>
          </a:p>
        </p:txBody>
      </p:sp>
      <p:sp>
        <p:nvSpPr>
          <p:cNvPr id="122" name="Shape 122"/>
          <p:cNvSpPr/>
          <p:nvPr/>
        </p:nvSpPr>
        <p:spPr>
          <a:xfrm>
            <a:off x="1707200" y="1250000"/>
            <a:ext cx="350000" cy="3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23" name="Text 123"/>
          <p:cNvSpPr txBox="1"/>
          <p:nvPr/>
        </p:nvSpPr>
        <p:spPr>
          <a:xfrm>
            <a:off x="1707200" y="125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5</a:t>
            </a:r>
          </a:p>
        </p:txBody>
      </p:sp>
      <p:sp>
        <p:nvSpPr>
          <p:cNvPr id="124" name="Shape 124"/>
          <p:cNvSpPr/>
          <p:nvPr/>
        </p:nvSpPr>
        <p:spPr>
          <a:xfrm>
            <a:off x="2087200" y="1250000"/>
            <a:ext cx="350000" cy="3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25" name="Text 125"/>
          <p:cNvSpPr txBox="1"/>
          <p:nvPr/>
        </p:nvSpPr>
        <p:spPr>
          <a:xfrm>
            <a:off x="2087200" y="125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6</a:t>
            </a:r>
          </a:p>
        </p:txBody>
      </p:sp>
      <p:sp>
        <p:nvSpPr>
          <p:cNvPr id="126" name="Shape 126"/>
          <p:cNvSpPr/>
          <p:nvPr/>
        </p:nvSpPr>
        <p:spPr>
          <a:xfrm>
            <a:off x="1707200" y="1630000"/>
            <a:ext cx="350000" cy="3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27" name="Text 127"/>
          <p:cNvSpPr txBox="1"/>
          <p:nvPr/>
        </p:nvSpPr>
        <p:spPr>
          <a:xfrm>
            <a:off x="1707200" y="163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7</a:t>
            </a:r>
          </a:p>
        </p:txBody>
      </p:sp>
      <p:sp>
        <p:nvSpPr>
          <p:cNvPr id="128" name="Shape 128"/>
          <p:cNvSpPr/>
          <p:nvPr/>
        </p:nvSpPr>
        <p:spPr>
          <a:xfrm>
            <a:off x="2087200" y="1630000"/>
            <a:ext cx="350000" cy="3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29" name="Text 129"/>
          <p:cNvSpPr txBox="1"/>
          <p:nvPr/>
        </p:nvSpPr>
        <p:spPr>
          <a:xfrm>
            <a:off x="2087200" y="163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8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2567200" y="1470000"/>
            <a:ext cx="2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6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=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2857200" y="100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C</a:t>
            </a:r>
          </a:p>
        </p:txBody>
      </p:sp>
      <p:sp>
        <p:nvSpPr>
          <p:cNvPr id="132" name="Shape 132"/>
          <p:cNvSpPr/>
          <p:nvPr/>
        </p:nvSpPr>
        <p:spPr>
          <a:xfrm>
            <a:off x="2857200" y="1250000"/>
            <a:ext cx="350000" cy="3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33" name="Text 133"/>
          <p:cNvSpPr txBox="1"/>
          <p:nvPr/>
        </p:nvSpPr>
        <p:spPr>
          <a:xfrm>
            <a:off x="2857200" y="125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19</a:t>
            </a:r>
          </a:p>
        </p:txBody>
      </p:sp>
      <p:sp>
        <p:nvSpPr>
          <p:cNvPr id="134" name="Shape 134"/>
          <p:cNvSpPr/>
          <p:nvPr/>
        </p:nvSpPr>
        <p:spPr>
          <a:xfrm>
            <a:off x="3237200" y="1250000"/>
            <a:ext cx="350000" cy="3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35" name="Text 135"/>
          <p:cNvSpPr txBox="1"/>
          <p:nvPr/>
        </p:nvSpPr>
        <p:spPr>
          <a:xfrm>
            <a:off x="3237200" y="125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22</a:t>
            </a:r>
          </a:p>
        </p:txBody>
      </p:sp>
      <p:sp>
        <p:nvSpPr>
          <p:cNvPr id="136" name="Shape 136"/>
          <p:cNvSpPr/>
          <p:nvPr/>
        </p:nvSpPr>
        <p:spPr>
          <a:xfrm>
            <a:off x="2857200" y="1630000"/>
            <a:ext cx="350000" cy="3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37" name="Text 137"/>
          <p:cNvSpPr txBox="1"/>
          <p:nvPr/>
        </p:nvSpPr>
        <p:spPr>
          <a:xfrm>
            <a:off x="2857200" y="163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43</a:t>
            </a:r>
          </a:p>
        </p:txBody>
      </p:sp>
      <p:sp>
        <p:nvSpPr>
          <p:cNvPr id="138" name="Shape 138"/>
          <p:cNvSpPr/>
          <p:nvPr/>
        </p:nvSpPr>
        <p:spPr>
          <a:xfrm>
            <a:off x="3237200" y="1630000"/>
            <a:ext cx="350000" cy="3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39" name="Text 139"/>
          <p:cNvSpPr txBox="1"/>
          <p:nvPr/>
        </p:nvSpPr>
        <p:spPr>
          <a:xfrm>
            <a:off x="3237200" y="163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50</a:t>
            </a:r>
          </a:p>
        </p:txBody>
      </p:sp>
      <p:sp>
        <p:nvSpPr>
          <p:cNvPr id="140" name="Shape 140"/>
          <p:cNvSpPr/>
          <p:nvPr/>
        </p:nvSpPr>
        <p:spPr>
          <a:xfrm>
            <a:off x="457200" y="2200000"/>
            <a:ext cx="3250000" cy="25000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</p:sp>
      <p:sp>
        <p:nvSpPr>
          <p:cNvPr id="141" name="Text 141"/>
          <p:cNvSpPr txBox="1"/>
          <p:nvPr/>
        </p:nvSpPr>
        <p:spPr>
          <a:xfrm>
            <a:off x="587200" y="2260000"/>
            <a:ext cx="30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zh-CN" sz="1200" b="1" dirty="0">
                <a:solidFill>
                  <a:srgbClr val="A06A00"/>
                </a:solidFill>
                <a:latin typeface="Microsoft YaHei"/>
                <a:ea typeface="Microsoft YaHei"/>
                <a:cs typeface="Microsoft YaHei"/>
              </a:rPr>
              <a:t xml:space="preserve">怎么读右边的表</a:t>
            </a:r>
          </a:p>
          <a:p>
            <a:pPr algn="l" indent="0" marL="0">
              <a:spcAft>
                <a:spcPts val="500"/>
              </a:spcAft>
              <a:buNone/>
            </a:pP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v = A[i][t]：当前取出的那一个数</a:t>
            </a:r>
          </a:p>
          <a:p>
            <a:pPr algn="l" indent="0" marL="0">
              <a:spcAft>
                <a:spcPts val="500"/>
              </a:spcAft>
              <a:buNone/>
            </a:pP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Bt = B[t]：B 的第 t 行，整行拿来乘</a:t>
            </a:r>
          </a:p>
          <a:p>
            <a:pPr algn="l" indent="0" marL="0">
              <a:spcAft>
                <a:spcPts val="500"/>
              </a:spcAft>
              <a:buNone/>
            </a:pP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Ci：C 的第 i 行，每一轮在它上面累加，不是重新算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例：C 的第 0 行 = 1×[5,6] + 2×[7,8] = [5,6] + [14,16] = [19,22]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3857200" y="960120"/>
            <a:ext cx="48296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手算追踪（Ci 起始为 [0, 0]）</a:t>
            </a:r>
          </a:p>
        </p:txBody>
      </p:sp>
      <p:sp>
        <p:nvSpPr>
          <p:cNvPr id="143" name="Shape 143"/>
          <p:cNvSpPr/>
          <p:nvPr/>
        </p:nvSpPr>
        <p:spPr>
          <a:xfrm>
            <a:off x="3857200" y="1260120"/>
            <a:ext cx="360000" cy="330000"/>
          </a:xfrm>
          <a:prstGeom prst="rect">
            <a:avLst/>
          </a:prstGeom>
          <a:solidFill>
            <a:srgbClr val="1E3D34"/>
          </a:solidFill>
          <a:ln>
            <a:noFill/>
          </a:ln>
        </p:spPr>
      </p:sp>
      <p:sp>
        <p:nvSpPr>
          <p:cNvPr id="144" name="Text 144"/>
          <p:cNvSpPr txBox="1"/>
          <p:nvPr/>
        </p:nvSpPr>
        <p:spPr>
          <a:xfrm>
            <a:off x="3857200" y="1260120"/>
            <a:ext cx="36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i</a:t>
            </a:r>
          </a:p>
        </p:txBody>
      </p:sp>
      <p:sp>
        <p:nvSpPr>
          <p:cNvPr id="145" name="Shape 145"/>
          <p:cNvSpPr/>
          <p:nvPr/>
        </p:nvSpPr>
        <p:spPr>
          <a:xfrm>
            <a:off x="4237200" y="1260120"/>
            <a:ext cx="360000" cy="330000"/>
          </a:xfrm>
          <a:prstGeom prst="rect">
            <a:avLst/>
          </a:prstGeom>
          <a:solidFill>
            <a:srgbClr val="1E3D34"/>
          </a:solidFill>
          <a:ln>
            <a:noFill/>
          </a:ln>
        </p:spPr>
      </p:sp>
      <p:sp>
        <p:nvSpPr>
          <p:cNvPr id="146" name="Text 146"/>
          <p:cNvSpPr txBox="1"/>
          <p:nvPr/>
        </p:nvSpPr>
        <p:spPr>
          <a:xfrm>
            <a:off x="4237200" y="1260120"/>
            <a:ext cx="36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t</a:t>
            </a:r>
          </a:p>
        </p:txBody>
      </p:sp>
      <p:sp>
        <p:nvSpPr>
          <p:cNvPr id="147" name="Shape 147"/>
          <p:cNvSpPr/>
          <p:nvPr/>
        </p:nvSpPr>
        <p:spPr>
          <a:xfrm>
            <a:off x="4617200" y="1260120"/>
            <a:ext cx="380000" cy="330000"/>
          </a:xfrm>
          <a:prstGeom prst="rect">
            <a:avLst/>
          </a:prstGeom>
          <a:solidFill>
            <a:srgbClr val="1E3D34"/>
          </a:solidFill>
          <a:ln>
            <a:noFill/>
          </a:ln>
        </p:spPr>
      </p:sp>
      <p:sp>
        <p:nvSpPr>
          <p:cNvPr id="148" name="Text 148"/>
          <p:cNvSpPr txBox="1"/>
          <p:nvPr/>
        </p:nvSpPr>
        <p:spPr>
          <a:xfrm>
            <a:off x="4617200" y="1260120"/>
            <a:ext cx="38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v</a:t>
            </a:r>
          </a:p>
        </p:txBody>
      </p:sp>
      <p:sp>
        <p:nvSpPr>
          <p:cNvPr id="149" name="Shape 149"/>
          <p:cNvSpPr/>
          <p:nvPr/>
        </p:nvSpPr>
        <p:spPr>
          <a:xfrm>
            <a:off x="5017200" y="1260120"/>
            <a:ext cx="700000" cy="330000"/>
          </a:xfrm>
          <a:prstGeom prst="rect">
            <a:avLst/>
          </a:prstGeom>
          <a:solidFill>
            <a:srgbClr val="1E3D34"/>
          </a:solidFill>
          <a:ln>
            <a:noFill/>
          </a:ln>
        </p:spPr>
      </p:sp>
      <p:sp>
        <p:nvSpPr>
          <p:cNvPr id="150" name="Text 150"/>
          <p:cNvSpPr txBox="1"/>
          <p:nvPr/>
        </p:nvSpPr>
        <p:spPr>
          <a:xfrm>
            <a:off x="5017200" y="1260120"/>
            <a:ext cx="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Bt</a:t>
            </a:r>
          </a:p>
        </p:txBody>
      </p:sp>
      <p:sp>
        <p:nvSpPr>
          <p:cNvPr id="151" name="Shape 151"/>
          <p:cNvSpPr/>
          <p:nvPr/>
        </p:nvSpPr>
        <p:spPr>
          <a:xfrm>
            <a:off x="5737200" y="1260120"/>
            <a:ext cx="880000" cy="330000"/>
          </a:xfrm>
          <a:prstGeom prst="rect">
            <a:avLst/>
          </a:prstGeom>
          <a:solidFill>
            <a:srgbClr val="1E3D34"/>
          </a:solidFill>
          <a:ln>
            <a:noFill/>
          </a:ln>
        </p:spPr>
      </p:sp>
      <p:sp>
        <p:nvSpPr>
          <p:cNvPr id="152" name="Text 152"/>
          <p:cNvSpPr txBox="1"/>
          <p:nvPr/>
        </p:nvSpPr>
        <p:spPr>
          <a:xfrm>
            <a:off x="5737200" y="1260120"/>
            <a:ext cx="88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v·Bt</a:t>
            </a:r>
          </a:p>
        </p:txBody>
      </p:sp>
      <p:sp>
        <p:nvSpPr>
          <p:cNvPr id="153" name="Shape 153"/>
          <p:cNvSpPr/>
          <p:nvPr/>
        </p:nvSpPr>
        <p:spPr>
          <a:xfrm>
            <a:off x="6637200" y="1260120"/>
            <a:ext cx="2029600" cy="330000"/>
          </a:xfrm>
          <a:prstGeom prst="rect">
            <a:avLst/>
          </a:prstGeom>
          <a:solidFill>
            <a:srgbClr val="1E3D34"/>
          </a:solidFill>
          <a:ln>
            <a:noFill/>
          </a:ln>
        </p:spPr>
      </p:sp>
      <p:sp>
        <p:nvSpPr>
          <p:cNvPr id="154" name="Text 154"/>
          <p:cNvSpPr txBox="1"/>
          <p:nvPr/>
        </p:nvSpPr>
        <p:spPr>
          <a:xfrm>
            <a:off x="6637200" y="1260120"/>
            <a:ext cx="20296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累加后 Ci</a:t>
            </a:r>
          </a:p>
        </p:txBody>
      </p:sp>
      <p:sp>
        <p:nvSpPr>
          <p:cNvPr id="155" name="Shape 155"/>
          <p:cNvSpPr/>
          <p:nvPr/>
        </p:nvSpPr>
        <p:spPr>
          <a:xfrm>
            <a:off x="3857200" y="1610120"/>
            <a:ext cx="36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56" name="Text 156"/>
          <p:cNvSpPr txBox="1"/>
          <p:nvPr/>
        </p:nvSpPr>
        <p:spPr>
          <a:xfrm>
            <a:off x="3857200" y="1610120"/>
            <a:ext cx="36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0</a:t>
            </a:r>
          </a:p>
        </p:txBody>
      </p:sp>
      <p:sp>
        <p:nvSpPr>
          <p:cNvPr id="157" name="Shape 157"/>
          <p:cNvSpPr/>
          <p:nvPr/>
        </p:nvSpPr>
        <p:spPr>
          <a:xfrm>
            <a:off x="4237200" y="1610120"/>
            <a:ext cx="36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58" name="Text 158"/>
          <p:cNvSpPr txBox="1"/>
          <p:nvPr/>
        </p:nvSpPr>
        <p:spPr>
          <a:xfrm>
            <a:off x="4237200" y="1610120"/>
            <a:ext cx="36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0</a:t>
            </a:r>
          </a:p>
        </p:txBody>
      </p:sp>
      <p:sp>
        <p:nvSpPr>
          <p:cNvPr id="159" name="Shape 159"/>
          <p:cNvSpPr/>
          <p:nvPr/>
        </p:nvSpPr>
        <p:spPr>
          <a:xfrm>
            <a:off x="4617200" y="1610120"/>
            <a:ext cx="38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60" name="Text 160"/>
          <p:cNvSpPr txBox="1"/>
          <p:nvPr/>
        </p:nvSpPr>
        <p:spPr>
          <a:xfrm>
            <a:off x="4617200" y="1610120"/>
            <a:ext cx="38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1</a:t>
            </a:r>
          </a:p>
        </p:txBody>
      </p:sp>
      <p:sp>
        <p:nvSpPr>
          <p:cNvPr id="161" name="Shape 161"/>
          <p:cNvSpPr/>
          <p:nvPr/>
        </p:nvSpPr>
        <p:spPr>
          <a:xfrm>
            <a:off x="5017200" y="1610120"/>
            <a:ext cx="70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62" name="Text 162"/>
          <p:cNvSpPr txBox="1"/>
          <p:nvPr/>
        </p:nvSpPr>
        <p:spPr>
          <a:xfrm>
            <a:off x="5017200" y="1610120"/>
            <a:ext cx="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[5, 6]</a:t>
            </a:r>
          </a:p>
        </p:txBody>
      </p:sp>
      <p:sp>
        <p:nvSpPr>
          <p:cNvPr id="163" name="Shape 163"/>
          <p:cNvSpPr/>
          <p:nvPr/>
        </p:nvSpPr>
        <p:spPr>
          <a:xfrm>
            <a:off x="5737200" y="1610120"/>
            <a:ext cx="88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64" name="Text 164"/>
          <p:cNvSpPr txBox="1"/>
          <p:nvPr/>
        </p:nvSpPr>
        <p:spPr>
          <a:xfrm>
            <a:off x="5737200" y="1610120"/>
            <a:ext cx="88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[5, 6]</a:t>
            </a:r>
          </a:p>
        </p:txBody>
      </p:sp>
      <p:sp>
        <p:nvSpPr>
          <p:cNvPr id="165" name="Shape 165"/>
          <p:cNvSpPr/>
          <p:nvPr/>
        </p:nvSpPr>
        <p:spPr>
          <a:xfrm>
            <a:off x="6637200" y="1610120"/>
            <a:ext cx="20296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66" name="Text 166"/>
          <p:cNvSpPr txBox="1"/>
          <p:nvPr/>
        </p:nvSpPr>
        <p:spPr>
          <a:xfrm>
            <a:off x="6637200" y="1610120"/>
            <a:ext cx="20296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b="1" dirty="0">
                <a:solidFill>
                  <a:srgbClr val="1E3D34"/>
                </a:solidFill>
                <a:latin typeface="Consolas"/>
                <a:ea typeface="Microsoft YaHei"/>
                <a:cs typeface="Consolas"/>
              </a:rPr>
              <a:t xml:space="preserve">[5, 6]</a:t>
            </a:r>
          </a:p>
        </p:txBody>
      </p:sp>
      <p:sp>
        <p:nvSpPr>
          <p:cNvPr id="167" name="Shape 167"/>
          <p:cNvSpPr/>
          <p:nvPr/>
        </p:nvSpPr>
        <p:spPr>
          <a:xfrm>
            <a:off x="3857200" y="1960120"/>
            <a:ext cx="36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68" name="Text 168"/>
          <p:cNvSpPr txBox="1"/>
          <p:nvPr/>
        </p:nvSpPr>
        <p:spPr>
          <a:xfrm>
            <a:off x="3857200" y="1960120"/>
            <a:ext cx="36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0</a:t>
            </a:r>
          </a:p>
        </p:txBody>
      </p:sp>
      <p:sp>
        <p:nvSpPr>
          <p:cNvPr id="169" name="Shape 169"/>
          <p:cNvSpPr/>
          <p:nvPr/>
        </p:nvSpPr>
        <p:spPr>
          <a:xfrm>
            <a:off x="4237200" y="1960120"/>
            <a:ext cx="36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70" name="Text 170"/>
          <p:cNvSpPr txBox="1"/>
          <p:nvPr/>
        </p:nvSpPr>
        <p:spPr>
          <a:xfrm>
            <a:off x="4237200" y="1960120"/>
            <a:ext cx="36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1</a:t>
            </a:r>
          </a:p>
        </p:txBody>
      </p:sp>
      <p:sp>
        <p:nvSpPr>
          <p:cNvPr id="171" name="Shape 171"/>
          <p:cNvSpPr/>
          <p:nvPr/>
        </p:nvSpPr>
        <p:spPr>
          <a:xfrm>
            <a:off x="4617200" y="1960120"/>
            <a:ext cx="38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72" name="Text 172"/>
          <p:cNvSpPr txBox="1"/>
          <p:nvPr/>
        </p:nvSpPr>
        <p:spPr>
          <a:xfrm>
            <a:off x="4617200" y="1960120"/>
            <a:ext cx="38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2</a:t>
            </a:r>
          </a:p>
        </p:txBody>
      </p:sp>
      <p:sp>
        <p:nvSpPr>
          <p:cNvPr id="173" name="Shape 173"/>
          <p:cNvSpPr/>
          <p:nvPr/>
        </p:nvSpPr>
        <p:spPr>
          <a:xfrm>
            <a:off x="5017200" y="1960120"/>
            <a:ext cx="70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74" name="Text 174"/>
          <p:cNvSpPr txBox="1"/>
          <p:nvPr/>
        </p:nvSpPr>
        <p:spPr>
          <a:xfrm>
            <a:off x="5017200" y="1960120"/>
            <a:ext cx="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[7, 8]</a:t>
            </a:r>
          </a:p>
        </p:txBody>
      </p:sp>
      <p:sp>
        <p:nvSpPr>
          <p:cNvPr id="175" name="Shape 175"/>
          <p:cNvSpPr/>
          <p:nvPr/>
        </p:nvSpPr>
        <p:spPr>
          <a:xfrm>
            <a:off x="5737200" y="1960120"/>
            <a:ext cx="88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76" name="Text 176"/>
          <p:cNvSpPr txBox="1"/>
          <p:nvPr/>
        </p:nvSpPr>
        <p:spPr>
          <a:xfrm>
            <a:off x="5737200" y="1960120"/>
            <a:ext cx="88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[14, 16]</a:t>
            </a:r>
          </a:p>
        </p:txBody>
      </p:sp>
      <p:sp>
        <p:nvSpPr>
          <p:cNvPr id="177" name="Shape 177"/>
          <p:cNvSpPr/>
          <p:nvPr/>
        </p:nvSpPr>
        <p:spPr>
          <a:xfrm>
            <a:off x="6637200" y="1960120"/>
            <a:ext cx="2029600" cy="330000"/>
          </a:xfrm>
          <a:prstGeom prst="rect">
            <a:avLst/>
          </a:prstGeom>
          <a:solidFill>
            <a:srgbClr val="CFE0D8"/>
          </a:solidFill>
          <a:ln>
            <a:noFill/>
          </a:ln>
        </p:spPr>
      </p:sp>
      <p:sp>
        <p:nvSpPr>
          <p:cNvPr id="178" name="Text 178"/>
          <p:cNvSpPr txBox="1"/>
          <p:nvPr/>
        </p:nvSpPr>
        <p:spPr>
          <a:xfrm>
            <a:off x="6637200" y="1960120"/>
            <a:ext cx="20296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b="1" dirty="0">
                <a:solidFill>
                  <a:srgbClr val="1E3D34"/>
                </a:solidFill>
                <a:latin typeface="Consolas"/>
                <a:ea typeface="Microsoft YaHei"/>
                <a:cs typeface="Consolas"/>
              </a:rPr>
              <a:t xml:space="preserve">[19, 22]</a:t>
            </a:r>
          </a:p>
        </p:txBody>
      </p:sp>
      <p:sp>
        <p:nvSpPr>
          <p:cNvPr id="179" name="Shape 179"/>
          <p:cNvSpPr/>
          <p:nvPr/>
        </p:nvSpPr>
        <p:spPr>
          <a:xfrm>
            <a:off x="3857200" y="2310120"/>
            <a:ext cx="36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80" name="Text 180"/>
          <p:cNvSpPr txBox="1"/>
          <p:nvPr/>
        </p:nvSpPr>
        <p:spPr>
          <a:xfrm>
            <a:off x="3857200" y="2310120"/>
            <a:ext cx="36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1</a:t>
            </a:r>
          </a:p>
        </p:txBody>
      </p:sp>
      <p:sp>
        <p:nvSpPr>
          <p:cNvPr id="181" name="Shape 181"/>
          <p:cNvSpPr/>
          <p:nvPr/>
        </p:nvSpPr>
        <p:spPr>
          <a:xfrm>
            <a:off x="4237200" y="2310120"/>
            <a:ext cx="36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82" name="Text 182"/>
          <p:cNvSpPr txBox="1"/>
          <p:nvPr/>
        </p:nvSpPr>
        <p:spPr>
          <a:xfrm>
            <a:off x="4237200" y="2310120"/>
            <a:ext cx="36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0</a:t>
            </a:r>
          </a:p>
        </p:txBody>
      </p:sp>
      <p:sp>
        <p:nvSpPr>
          <p:cNvPr id="183" name="Shape 183"/>
          <p:cNvSpPr/>
          <p:nvPr/>
        </p:nvSpPr>
        <p:spPr>
          <a:xfrm>
            <a:off x="4617200" y="2310120"/>
            <a:ext cx="38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84" name="Text 184"/>
          <p:cNvSpPr txBox="1"/>
          <p:nvPr/>
        </p:nvSpPr>
        <p:spPr>
          <a:xfrm>
            <a:off x="4617200" y="2310120"/>
            <a:ext cx="38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3</a:t>
            </a:r>
          </a:p>
        </p:txBody>
      </p:sp>
      <p:sp>
        <p:nvSpPr>
          <p:cNvPr id="185" name="Shape 185"/>
          <p:cNvSpPr/>
          <p:nvPr/>
        </p:nvSpPr>
        <p:spPr>
          <a:xfrm>
            <a:off x="5017200" y="2310120"/>
            <a:ext cx="70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86" name="Text 186"/>
          <p:cNvSpPr txBox="1"/>
          <p:nvPr/>
        </p:nvSpPr>
        <p:spPr>
          <a:xfrm>
            <a:off x="5017200" y="2310120"/>
            <a:ext cx="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[5, 6]</a:t>
            </a:r>
          </a:p>
        </p:txBody>
      </p:sp>
      <p:sp>
        <p:nvSpPr>
          <p:cNvPr id="187" name="Shape 187"/>
          <p:cNvSpPr/>
          <p:nvPr/>
        </p:nvSpPr>
        <p:spPr>
          <a:xfrm>
            <a:off x="5737200" y="2310120"/>
            <a:ext cx="88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88" name="Text 188"/>
          <p:cNvSpPr txBox="1"/>
          <p:nvPr/>
        </p:nvSpPr>
        <p:spPr>
          <a:xfrm>
            <a:off x="5737200" y="2310120"/>
            <a:ext cx="88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[15, 18]</a:t>
            </a:r>
          </a:p>
        </p:txBody>
      </p:sp>
      <p:sp>
        <p:nvSpPr>
          <p:cNvPr id="189" name="Shape 189"/>
          <p:cNvSpPr/>
          <p:nvPr/>
        </p:nvSpPr>
        <p:spPr>
          <a:xfrm>
            <a:off x="6637200" y="2310120"/>
            <a:ext cx="20296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90" name="Text 190"/>
          <p:cNvSpPr txBox="1"/>
          <p:nvPr/>
        </p:nvSpPr>
        <p:spPr>
          <a:xfrm>
            <a:off x="6637200" y="2310120"/>
            <a:ext cx="20296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b="1" dirty="0">
                <a:solidFill>
                  <a:srgbClr val="1E3D34"/>
                </a:solidFill>
                <a:latin typeface="Consolas"/>
                <a:ea typeface="Microsoft YaHei"/>
                <a:cs typeface="Consolas"/>
              </a:rPr>
              <a:t xml:space="preserve">[15, 18]</a:t>
            </a:r>
          </a:p>
        </p:txBody>
      </p:sp>
      <p:sp>
        <p:nvSpPr>
          <p:cNvPr id="191" name="Shape 191"/>
          <p:cNvSpPr/>
          <p:nvPr/>
        </p:nvSpPr>
        <p:spPr>
          <a:xfrm>
            <a:off x="3857200" y="2660120"/>
            <a:ext cx="36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92" name="Text 192"/>
          <p:cNvSpPr txBox="1"/>
          <p:nvPr/>
        </p:nvSpPr>
        <p:spPr>
          <a:xfrm>
            <a:off x="3857200" y="2660120"/>
            <a:ext cx="36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1</a:t>
            </a:r>
          </a:p>
        </p:txBody>
      </p:sp>
      <p:sp>
        <p:nvSpPr>
          <p:cNvPr id="193" name="Shape 193"/>
          <p:cNvSpPr/>
          <p:nvPr/>
        </p:nvSpPr>
        <p:spPr>
          <a:xfrm>
            <a:off x="4237200" y="2660120"/>
            <a:ext cx="36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94" name="Text 194"/>
          <p:cNvSpPr txBox="1"/>
          <p:nvPr/>
        </p:nvSpPr>
        <p:spPr>
          <a:xfrm>
            <a:off x="4237200" y="2660120"/>
            <a:ext cx="36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1</a:t>
            </a:r>
          </a:p>
        </p:txBody>
      </p:sp>
      <p:sp>
        <p:nvSpPr>
          <p:cNvPr id="195" name="Shape 195"/>
          <p:cNvSpPr/>
          <p:nvPr/>
        </p:nvSpPr>
        <p:spPr>
          <a:xfrm>
            <a:off x="4617200" y="2660120"/>
            <a:ext cx="38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96" name="Text 196"/>
          <p:cNvSpPr txBox="1"/>
          <p:nvPr/>
        </p:nvSpPr>
        <p:spPr>
          <a:xfrm>
            <a:off x="4617200" y="2660120"/>
            <a:ext cx="38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4</a:t>
            </a:r>
          </a:p>
        </p:txBody>
      </p:sp>
      <p:sp>
        <p:nvSpPr>
          <p:cNvPr id="197" name="Shape 197"/>
          <p:cNvSpPr/>
          <p:nvPr/>
        </p:nvSpPr>
        <p:spPr>
          <a:xfrm>
            <a:off x="5017200" y="2660120"/>
            <a:ext cx="70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98" name="Text 198"/>
          <p:cNvSpPr txBox="1"/>
          <p:nvPr/>
        </p:nvSpPr>
        <p:spPr>
          <a:xfrm>
            <a:off x="5017200" y="2660120"/>
            <a:ext cx="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[7, 8]</a:t>
            </a:r>
          </a:p>
        </p:txBody>
      </p:sp>
      <p:sp>
        <p:nvSpPr>
          <p:cNvPr id="199" name="Shape 199"/>
          <p:cNvSpPr/>
          <p:nvPr/>
        </p:nvSpPr>
        <p:spPr>
          <a:xfrm>
            <a:off x="5737200" y="2660120"/>
            <a:ext cx="880000" cy="33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200" name="Text 200"/>
          <p:cNvSpPr txBox="1"/>
          <p:nvPr/>
        </p:nvSpPr>
        <p:spPr>
          <a:xfrm>
            <a:off x="5737200" y="2660120"/>
            <a:ext cx="88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[28, 32]</a:t>
            </a:r>
          </a:p>
        </p:txBody>
      </p:sp>
      <p:sp>
        <p:nvSpPr>
          <p:cNvPr id="201" name="Shape 201"/>
          <p:cNvSpPr/>
          <p:nvPr/>
        </p:nvSpPr>
        <p:spPr>
          <a:xfrm>
            <a:off x="6637200" y="2660120"/>
            <a:ext cx="2029600" cy="330000"/>
          </a:xfrm>
          <a:prstGeom prst="rect">
            <a:avLst/>
          </a:prstGeom>
          <a:solidFill>
            <a:srgbClr val="CFE0D8"/>
          </a:solidFill>
          <a:ln>
            <a:noFill/>
          </a:ln>
        </p:spPr>
      </p:sp>
      <p:sp>
        <p:nvSpPr>
          <p:cNvPr id="202" name="Text 202"/>
          <p:cNvSpPr txBox="1"/>
          <p:nvPr/>
        </p:nvSpPr>
        <p:spPr>
          <a:xfrm>
            <a:off x="6637200" y="2660120"/>
            <a:ext cx="20296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50" b="1" dirty="0">
                <a:solidFill>
                  <a:srgbClr val="1E3D34"/>
                </a:solidFill>
                <a:latin typeface="Consolas"/>
                <a:ea typeface="Microsoft YaHei"/>
                <a:cs typeface="Consolas"/>
              </a:rPr>
              <a:t xml:space="preserve">[43, 50]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3857200" y="3070120"/>
            <a:ext cx="48296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i=0 的两轮结束得到 C 的第 0 行 [19, 22]；</a:t>
            </a:r>
          </a:p>
          <a:p>
            <a:pPr algn="l" indent="0" marL="0">
              <a:spcAft>
                <a:spcPts val="500"/>
              </a:spcAft>
              <a:buNone/>
            </a:pP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i=1 换新的 Ci（又从 [0, 0] 开始），两轮后得到第 1 行 [43, 50]。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100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绿色格子 = 该行算完，对应结果矩阵 C。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矩阵乘法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三个优化技巧 + 做题注意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204" name="Shape 204"/>
          <p:cNvSpPr/>
          <p:nvPr/>
        </p:nvSpPr>
        <p:spPr>
          <a:xfrm>
            <a:off x="457200" y="960120"/>
            <a:ext cx="2640000" cy="24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205" name="Shape 205"/>
          <p:cNvSpPr/>
          <p:nvPr/>
        </p:nvSpPr>
        <p:spPr>
          <a:xfrm>
            <a:off x="567200" y="1050000"/>
            <a:ext cx="300000" cy="300000"/>
          </a:xfrm>
          <a:prstGeom prst="ellipse">
            <a:avLst/>
          </a:prstGeom>
          <a:solidFill>
            <a:srgbClr val="1E3D34"/>
          </a:solidFill>
          <a:ln>
            <a:noFill/>
          </a:ln>
        </p:spPr>
      </p:sp>
      <p:sp>
        <p:nvSpPr>
          <p:cNvPr id="206" name="Text 206"/>
          <p:cNvSpPr txBox="1"/>
          <p:nvPr/>
        </p:nvSpPr>
        <p:spPr>
          <a:xfrm>
            <a:off x="567200" y="10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F2B1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207" name="Text 207"/>
          <p:cNvSpPr txBox="1"/>
          <p:nvPr/>
        </p:nvSpPr>
        <p:spPr>
          <a:xfrm>
            <a:off x="927200" y="1050000"/>
            <a:ext cx="20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局部变量，少一次索引</a:t>
            </a:r>
          </a:p>
        </p:txBody>
      </p:sp>
      <p:sp>
        <p:nvSpPr>
          <p:cNvPr id="208" name="Text 208"/>
          <p:cNvSpPr txBox="1"/>
          <p:nvPr/>
        </p:nvSpPr>
        <p:spPr>
          <a:xfrm>
            <a:off x="587200" y="1450000"/>
            <a:ext cx="238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Ai = A[i]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Ci = C[i]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Bt, v = B[t], Ai[t]</a:t>
            </a:r>
          </a:p>
        </p:txBody>
      </p:sp>
      <p:sp>
        <p:nvSpPr>
          <p:cNvPr id="209" name="Text 209"/>
          <p:cNvSpPr txBox="1"/>
          <p:nvPr/>
        </p:nvSpPr>
        <p:spPr>
          <a:xfrm>
            <a:off x="587200" y="2200000"/>
            <a:ext cx="238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内层只剩一维索引 Ci[j] += v*Bt[j]，比反复写 C[i][j] 快。Ci 和 C[i] 是同一个列表，改 Ci 就是改 C。</a:t>
            </a:r>
          </a:p>
        </p:txBody>
      </p:sp>
      <p:sp>
        <p:nvSpPr>
          <p:cNvPr id="210" name="Shape 210"/>
          <p:cNvSpPr/>
          <p:nvPr/>
        </p:nvSpPr>
        <p:spPr>
          <a:xfrm>
            <a:off x="3252000" y="960120"/>
            <a:ext cx="2640000" cy="24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211" name="Shape 211"/>
          <p:cNvSpPr/>
          <p:nvPr/>
        </p:nvSpPr>
        <p:spPr>
          <a:xfrm>
            <a:off x="3362000" y="1050000"/>
            <a:ext cx="300000" cy="300000"/>
          </a:xfrm>
          <a:prstGeom prst="ellipse">
            <a:avLst/>
          </a:prstGeom>
          <a:solidFill>
            <a:srgbClr val="1E3D34"/>
          </a:solidFill>
          <a:ln>
            <a:noFill/>
          </a:ln>
        </p:spPr>
      </p:sp>
      <p:sp>
        <p:nvSpPr>
          <p:cNvPr id="212" name="Text 212"/>
          <p:cNvSpPr txBox="1"/>
          <p:nvPr/>
        </p:nvSpPr>
        <p:spPr>
          <a:xfrm>
            <a:off x="3362000" y="10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F2B134"/>
                </a:solidFill>
                <a:latin typeface="Microsoft YaHei"/>
                <a:ea typeface="Microsoft YaHei"/>
                <a:cs typeface="Microsoft YaHei"/>
              </a:rPr>
              <a:t xml:space="preserve">2</a:t>
            </a:r>
          </a:p>
        </p:txBody>
      </p:sp>
      <p:sp>
        <p:nvSpPr>
          <p:cNvPr id="213" name="Text 213"/>
          <p:cNvSpPr txBox="1"/>
          <p:nvPr/>
        </p:nvSpPr>
        <p:spPr>
          <a:xfrm>
            <a:off x="3722000" y="1050000"/>
            <a:ext cx="20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跳过 0，稀疏时更快</a:t>
            </a:r>
          </a:p>
        </p:txBody>
      </p:sp>
      <p:sp>
        <p:nvSpPr>
          <p:cNvPr id="214" name="Text 214"/>
          <p:cNvSpPr txBox="1"/>
          <p:nvPr/>
        </p:nvSpPr>
        <p:spPr>
          <a:xfrm>
            <a:off x="3382000" y="1450000"/>
            <a:ext cx="238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if Ai[t]: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…内层 n 次循环…</a:t>
            </a:r>
          </a:p>
        </p:txBody>
      </p:sp>
      <p:sp>
        <p:nvSpPr>
          <p:cNvPr id="215" name="Text 215"/>
          <p:cNvSpPr txBox="1"/>
          <p:nvPr/>
        </p:nvSpPr>
        <p:spPr>
          <a:xfrm>
            <a:off x="3382000" y="2200000"/>
            <a:ext cx="238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A[i][t]=0 时，这一轮加的全是 0，直接跳过整个内层循环。0 越多，省得越多。</a:t>
            </a:r>
          </a:p>
        </p:txBody>
      </p:sp>
      <p:sp>
        <p:nvSpPr>
          <p:cNvPr id="216" name="Shape 216"/>
          <p:cNvSpPr/>
          <p:nvPr/>
        </p:nvSpPr>
        <p:spPr>
          <a:xfrm>
            <a:off x="6046800" y="960120"/>
            <a:ext cx="2640000" cy="245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217" name="Shape 217"/>
          <p:cNvSpPr/>
          <p:nvPr/>
        </p:nvSpPr>
        <p:spPr>
          <a:xfrm>
            <a:off x="6156800" y="1050000"/>
            <a:ext cx="300000" cy="300000"/>
          </a:xfrm>
          <a:prstGeom prst="ellipse">
            <a:avLst/>
          </a:prstGeom>
          <a:solidFill>
            <a:srgbClr val="1E3D34"/>
          </a:solidFill>
          <a:ln>
            <a:noFill/>
          </a:ln>
        </p:spPr>
      </p:sp>
      <p:sp>
        <p:nvSpPr>
          <p:cNvPr id="218" name="Text 218"/>
          <p:cNvSpPr txBox="1"/>
          <p:nvPr/>
        </p:nvSpPr>
        <p:spPr>
          <a:xfrm>
            <a:off x="6156800" y="10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F2B1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6516800" y="1050000"/>
            <a:ext cx="20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按行连续访问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6176800" y="1450000"/>
            <a:ext cx="238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Bt[j]   # j 变化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（同一行，挨着读）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6176800" y="2200000"/>
            <a:ext cx="238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经典写法内层是 B[t][j] 且 t 在变，是在 B 的“列”上跳着读；本页写法内层沿着 B 的一行走，更顺。</a:t>
            </a:r>
          </a:p>
        </p:txBody>
      </p:sp>
      <p:sp>
        <p:nvSpPr>
          <p:cNvPr id="222" name="Shape 222"/>
          <p:cNvSpPr/>
          <p:nvPr/>
        </p:nvSpPr>
        <p:spPr>
          <a:xfrm>
            <a:off x="457200" y="3530000"/>
            <a:ext cx="8229600" cy="12000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</p:sp>
      <p:sp>
        <p:nvSpPr>
          <p:cNvPr id="223" name="Text 223"/>
          <p:cNvSpPr txBox="1"/>
          <p:nvPr/>
        </p:nvSpPr>
        <p:spPr>
          <a:xfrm>
            <a:off x="607200" y="3590000"/>
            <a:ext cx="79296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zh-CN" sz="1200" b="1" dirty="0">
                <a:solidFill>
                  <a:srgbClr val="A06A00"/>
                </a:solidFill>
                <a:latin typeface="Microsoft YaHei"/>
                <a:ea typeface="Microsoft YaHei"/>
                <a:cs typeface="Microsoft YaHei"/>
              </a:rPr>
              <a:t xml:space="preserve">别忘了：这些只是常数优化，复杂度仍是 O(m·k·n)</a:t>
            </a:r>
          </a:p>
          <a:p>
            <a:pPr algn="l" indent="0" marL="0">
              <a:spcAft>
                <a:spcPts val="500"/>
              </a:spcAft>
              <a:buNone/>
            </a:pP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n=200 约 8×10⁶ 次可以；n=1000 约 10⁹ 次，Python 必然 TLE。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这段代码默认 A 的列数 = B 的行数。做 E18161 先判断：len(A[0]) != len(B) 时输出 Error!，不要直接乘。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稀疏矩阵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E23555 节省存储的矩阵乘法：稀疏 → 普通矩阵 → 稀疏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101" name="Shape 101"/>
          <p:cNvSpPr/>
          <p:nvPr/>
        </p:nvSpPr>
        <p:spPr>
          <a:xfrm>
            <a:off x="457200" y="960120"/>
            <a:ext cx="2650000" cy="377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102" name="Text 102"/>
          <p:cNvSpPr txBox="1"/>
          <p:nvPr/>
        </p:nvSpPr>
        <p:spPr>
          <a:xfrm>
            <a:off x="587200" y="1020120"/>
            <a:ext cx="239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① 三元组 → 普通矩阵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87200" y="1330000"/>
            <a:ext cx="239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Consolas"/>
                <a:ea typeface="Microsoft YaHei"/>
                <a:cs typeface="Consolas"/>
              </a:rPr>
              <a:t xml:space="preserve">A：(0,0,1) (1,2,2)</a:t>
            </a:r>
          </a:p>
        </p:txBody>
      </p:sp>
      <p:sp>
        <p:nvSpPr>
          <p:cNvPr id="104" name="Shape 104"/>
          <p:cNvSpPr/>
          <p:nvPr/>
        </p:nvSpPr>
        <p:spPr>
          <a:xfrm>
            <a:off x="587200" y="1650000"/>
            <a:ext cx="220000" cy="220000"/>
          </a:xfrm>
          <a:prstGeom prst="rect">
            <a:avLst/>
          </a:prstGeom>
          <a:solidFill>
            <a:srgbClr val="F2D98A"/>
          </a:solidFill>
          <a:ln>
            <a:noFill/>
          </a:ln>
        </p:spPr>
      </p:sp>
      <p:sp>
        <p:nvSpPr>
          <p:cNvPr id="105" name="Text 105"/>
          <p:cNvSpPr txBox="1"/>
          <p:nvPr/>
        </p:nvSpPr>
        <p:spPr>
          <a:xfrm>
            <a:off x="587200" y="16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106" name="Shape 106"/>
          <p:cNvSpPr/>
          <p:nvPr/>
        </p:nvSpPr>
        <p:spPr>
          <a:xfrm>
            <a:off x="837200" y="16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7" name="Text 107"/>
          <p:cNvSpPr txBox="1"/>
          <p:nvPr/>
        </p:nvSpPr>
        <p:spPr>
          <a:xfrm>
            <a:off x="837200" y="16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08" name="Shape 108"/>
          <p:cNvSpPr/>
          <p:nvPr/>
        </p:nvSpPr>
        <p:spPr>
          <a:xfrm>
            <a:off x="1087200" y="16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9" name="Text 109"/>
          <p:cNvSpPr txBox="1"/>
          <p:nvPr/>
        </p:nvSpPr>
        <p:spPr>
          <a:xfrm>
            <a:off x="1087200" y="16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10" name="Shape 110"/>
          <p:cNvSpPr/>
          <p:nvPr/>
        </p:nvSpPr>
        <p:spPr>
          <a:xfrm>
            <a:off x="587200" y="190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1" name="Text 111"/>
          <p:cNvSpPr txBox="1"/>
          <p:nvPr/>
        </p:nvSpPr>
        <p:spPr>
          <a:xfrm>
            <a:off x="587200" y="19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12" name="Shape 112"/>
          <p:cNvSpPr/>
          <p:nvPr/>
        </p:nvSpPr>
        <p:spPr>
          <a:xfrm>
            <a:off x="837200" y="190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3" name="Text 113"/>
          <p:cNvSpPr txBox="1"/>
          <p:nvPr/>
        </p:nvSpPr>
        <p:spPr>
          <a:xfrm>
            <a:off x="837200" y="19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14" name="Shape 114"/>
          <p:cNvSpPr/>
          <p:nvPr/>
        </p:nvSpPr>
        <p:spPr>
          <a:xfrm>
            <a:off x="1087200" y="1900000"/>
            <a:ext cx="220000" cy="220000"/>
          </a:xfrm>
          <a:prstGeom prst="rect">
            <a:avLst/>
          </a:prstGeom>
          <a:solidFill>
            <a:srgbClr val="F2D98A"/>
          </a:solidFill>
          <a:ln>
            <a:noFill/>
          </a:ln>
        </p:spPr>
      </p:sp>
      <p:sp>
        <p:nvSpPr>
          <p:cNvPr id="115" name="Text 115"/>
          <p:cNvSpPr txBox="1"/>
          <p:nvPr/>
        </p:nvSpPr>
        <p:spPr>
          <a:xfrm>
            <a:off x="1087200" y="19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2</a:t>
            </a:r>
          </a:p>
        </p:txBody>
      </p:sp>
      <p:sp>
        <p:nvSpPr>
          <p:cNvPr id="116" name="Shape 116"/>
          <p:cNvSpPr/>
          <p:nvPr/>
        </p:nvSpPr>
        <p:spPr>
          <a:xfrm>
            <a:off x="587200" y="21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7" name="Text 117"/>
          <p:cNvSpPr txBox="1"/>
          <p:nvPr/>
        </p:nvSpPr>
        <p:spPr>
          <a:xfrm>
            <a:off x="587200" y="21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18" name="Shape 118"/>
          <p:cNvSpPr/>
          <p:nvPr/>
        </p:nvSpPr>
        <p:spPr>
          <a:xfrm>
            <a:off x="837200" y="21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9" name="Text 119"/>
          <p:cNvSpPr txBox="1"/>
          <p:nvPr/>
        </p:nvSpPr>
        <p:spPr>
          <a:xfrm>
            <a:off x="837200" y="21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20" name="Shape 120"/>
          <p:cNvSpPr/>
          <p:nvPr/>
        </p:nvSpPr>
        <p:spPr>
          <a:xfrm>
            <a:off x="1087200" y="21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1" name="Text 121"/>
          <p:cNvSpPr txBox="1"/>
          <p:nvPr/>
        </p:nvSpPr>
        <p:spPr>
          <a:xfrm>
            <a:off x="1087200" y="21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1457200" y="1700000"/>
            <a:ext cx="155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(行,列,值) 放进 M[行][列]，其余格子全是 0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587200" y="2530000"/>
            <a:ext cx="239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Consolas"/>
                <a:ea typeface="Microsoft YaHei"/>
                <a:cs typeface="Consolas"/>
              </a:rPr>
              <a:t xml:space="preserve">B：(0,1,3) (2,0,4) (2,2,5)</a:t>
            </a:r>
          </a:p>
        </p:txBody>
      </p:sp>
      <p:sp>
        <p:nvSpPr>
          <p:cNvPr id="124" name="Shape 124"/>
          <p:cNvSpPr/>
          <p:nvPr/>
        </p:nvSpPr>
        <p:spPr>
          <a:xfrm>
            <a:off x="587200" y="28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5" name="Text 125"/>
          <p:cNvSpPr txBox="1"/>
          <p:nvPr/>
        </p:nvSpPr>
        <p:spPr>
          <a:xfrm>
            <a:off x="587200" y="28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26" name="Shape 126"/>
          <p:cNvSpPr/>
          <p:nvPr/>
        </p:nvSpPr>
        <p:spPr>
          <a:xfrm>
            <a:off x="837200" y="2850000"/>
            <a:ext cx="220000" cy="220000"/>
          </a:xfrm>
          <a:prstGeom prst="rect">
            <a:avLst/>
          </a:prstGeom>
          <a:solidFill>
            <a:srgbClr val="F2D98A"/>
          </a:solidFill>
          <a:ln>
            <a:noFill/>
          </a:ln>
        </p:spPr>
      </p:sp>
      <p:sp>
        <p:nvSpPr>
          <p:cNvPr id="127" name="Text 127"/>
          <p:cNvSpPr txBox="1"/>
          <p:nvPr/>
        </p:nvSpPr>
        <p:spPr>
          <a:xfrm>
            <a:off x="837200" y="28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128" name="Shape 128"/>
          <p:cNvSpPr/>
          <p:nvPr/>
        </p:nvSpPr>
        <p:spPr>
          <a:xfrm>
            <a:off x="1087200" y="28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9" name="Text 129"/>
          <p:cNvSpPr txBox="1"/>
          <p:nvPr/>
        </p:nvSpPr>
        <p:spPr>
          <a:xfrm>
            <a:off x="1087200" y="28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30" name="Shape 130"/>
          <p:cNvSpPr/>
          <p:nvPr/>
        </p:nvSpPr>
        <p:spPr>
          <a:xfrm>
            <a:off x="587200" y="310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1" name="Text 131"/>
          <p:cNvSpPr txBox="1"/>
          <p:nvPr/>
        </p:nvSpPr>
        <p:spPr>
          <a:xfrm>
            <a:off x="587200" y="31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32" name="Shape 132"/>
          <p:cNvSpPr/>
          <p:nvPr/>
        </p:nvSpPr>
        <p:spPr>
          <a:xfrm>
            <a:off x="837200" y="310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3" name="Text 133"/>
          <p:cNvSpPr txBox="1"/>
          <p:nvPr/>
        </p:nvSpPr>
        <p:spPr>
          <a:xfrm>
            <a:off x="837200" y="31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34" name="Shape 134"/>
          <p:cNvSpPr/>
          <p:nvPr/>
        </p:nvSpPr>
        <p:spPr>
          <a:xfrm>
            <a:off x="1087200" y="310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5" name="Text 135"/>
          <p:cNvSpPr txBox="1"/>
          <p:nvPr/>
        </p:nvSpPr>
        <p:spPr>
          <a:xfrm>
            <a:off x="1087200" y="31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36" name="Shape 136"/>
          <p:cNvSpPr/>
          <p:nvPr/>
        </p:nvSpPr>
        <p:spPr>
          <a:xfrm>
            <a:off x="587200" y="3350000"/>
            <a:ext cx="220000" cy="220000"/>
          </a:xfrm>
          <a:prstGeom prst="rect">
            <a:avLst/>
          </a:prstGeom>
          <a:solidFill>
            <a:srgbClr val="F2D98A"/>
          </a:solidFill>
          <a:ln>
            <a:noFill/>
          </a:ln>
        </p:spPr>
      </p:sp>
      <p:sp>
        <p:nvSpPr>
          <p:cNvPr id="137" name="Text 137"/>
          <p:cNvSpPr txBox="1"/>
          <p:nvPr/>
        </p:nvSpPr>
        <p:spPr>
          <a:xfrm>
            <a:off x="587200" y="33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4</a:t>
            </a:r>
          </a:p>
        </p:txBody>
      </p:sp>
      <p:sp>
        <p:nvSpPr>
          <p:cNvPr id="138" name="Shape 138"/>
          <p:cNvSpPr/>
          <p:nvPr/>
        </p:nvSpPr>
        <p:spPr>
          <a:xfrm>
            <a:off x="837200" y="33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9" name="Text 139"/>
          <p:cNvSpPr txBox="1"/>
          <p:nvPr/>
        </p:nvSpPr>
        <p:spPr>
          <a:xfrm>
            <a:off x="837200" y="33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40" name="Shape 140"/>
          <p:cNvSpPr/>
          <p:nvPr/>
        </p:nvSpPr>
        <p:spPr>
          <a:xfrm>
            <a:off x="1087200" y="3350000"/>
            <a:ext cx="220000" cy="220000"/>
          </a:xfrm>
          <a:prstGeom prst="rect">
            <a:avLst/>
          </a:prstGeom>
          <a:solidFill>
            <a:srgbClr val="F2D98A"/>
          </a:solidFill>
          <a:ln>
            <a:noFill/>
          </a:ln>
        </p:spPr>
      </p:sp>
      <p:sp>
        <p:nvSpPr>
          <p:cNvPr id="141" name="Text 141"/>
          <p:cNvSpPr txBox="1"/>
          <p:nvPr/>
        </p:nvSpPr>
        <p:spPr>
          <a:xfrm>
            <a:off x="1087200" y="33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5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1457200" y="2900000"/>
            <a:ext cx="155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黄色格 = 三元组里的非零元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587200" y="3750000"/>
            <a:ext cx="239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n×n 的二维列表，用 to_dense 函数完成。</a:t>
            </a:r>
          </a:p>
        </p:txBody>
      </p:sp>
      <p:sp>
        <p:nvSpPr>
          <p:cNvPr id="144" name="Shape 144"/>
          <p:cNvSpPr/>
          <p:nvPr/>
        </p:nvSpPr>
        <p:spPr>
          <a:xfrm>
            <a:off x="3247000" y="960120"/>
            <a:ext cx="2650000" cy="37700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>
            <a:noFill/>
          </a:ln>
        </p:spPr>
      </p:sp>
      <p:sp>
        <p:nvSpPr>
          <p:cNvPr id="145" name="Text 145"/>
          <p:cNvSpPr txBox="1"/>
          <p:nvPr/>
        </p:nvSpPr>
        <p:spPr>
          <a:xfrm>
            <a:off x="3377000" y="1020120"/>
            <a:ext cx="239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② 按普通矩阵相乘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3377000" y="1200000"/>
            <a:ext cx="75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A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4427000" y="1200000"/>
            <a:ext cx="75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B</a:t>
            </a:r>
          </a:p>
        </p:txBody>
      </p:sp>
      <p:sp>
        <p:nvSpPr>
          <p:cNvPr id="148" name="Shape 148"/>
          <p:cNvSpPr/>
          <p:nvPr/>
        </p:nvSpPr>
        <p:spPr>
          <a:xfrm>
            <a:off x="3377000" y="14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9" name="Text 149"/>
          <p:cNvSpPr txBox="1"/>
          <p:nvPr/>
        </p:nvSpPr>
        <p:spPr>
          <a:xfrm>
            <a:off x="3377000" y="14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150" name="Shape 150"/>
          <p:cNvSpPr/>
          <p:nvPr/>
        </p:nvSpPr>
        <p:spPr>
          <a:xfrm>
            <a:off x="3627000" y="14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1" name="Text 151"/>
          <p:cNvSpPr txBox="1"/>
          <p:nvPr/>
        </p:nvSpPr>
        <p:spPr>
          <a:xfrm>
            <a:off x="3627000" y="14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52" name="Shape 152"/>
          <p:cNvSpPr/>
          <p:nvPr/>
        </p:nvSpPr>
        <p:spPr>
          <a:xfrm>
            <a:off x="3877000" y="14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3" name="Text 153"/>
          <p:cNvSpPr txBox="1"/>
          <p:nvPr/>
        </p:nvSpPr>
        <p:spPr>
          <a:xfrm>
            <a:off x="3877000" y="14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54" name="Shape 154"/>
          <p:cNvSpPr/>
          <p:nvPr/>
        </p:nvSpPr>
        <p:spPr>
          <a:xfrm>
            <a:off x="3377000" y="170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5" name="Text 155"/>
          <p:cNvSpPr txBox="1"/>
          <p:nvPr/>
        </p:nvSpPr>
        <p:spPr>
          <a:xfrm>
            <a:off x="3377000" y="17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56" name="Shape 156"/>
          <p:cNvSpPr/>
          <p:nvPr/>
        </p:nvSpPr>
        <p:spPr>
          <a:xfrm>
            <a:off x="3627000" y="170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7" name="Text 157"/>
          <p:cNvSpPr txBox="1"/>
          <p:nvPr/>
        </p:nvSpPr>
        <p:spPr>
          <a:xfrm>
            <a:off x="3627000" y="17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58" name="Shape 158"/>
          <p:cNvSpPr/>
          <p:nvPr/>
        </p:nvSpPr>
        <p:spPr>
          <a:xfrm>
            <a:off x="3877000" y="170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9" name="Text 159"/>
          <p:cNvSpPr txBox="1"/>
          <p:nvPr/>
        </p:nvSpPr>
        <p:spPr>
          <a:xfrm>
            <a:off x="3877000" y="17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2</a:t>
            </a:r>
          </a:p>
        </p:txBody>
      </p:sp>
      <p:sp>
        <p:nvSpPr>
          <p:cNvPr id="160" name="Shape 160"/>
          <p:cNvSpPr/>
          <p:nvPr/>
        </p:nvSpPr>
        <p:spPr>
          <a:xfrm>
            <a:off x="3377000" y="19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1" name="Text 161"/>
          <p:cNvSpPr txBox="1"/>
          <p:nvPr/>
        </p:nvSpPr>
        <p:spPr>
          <a:xfrm>
            <a:off x="3377000" y="19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62" name="Shape 162"/>
          <p:cNvSpPr/>
          <p:nvPr/>
        </p:nvSpPr>
        <p:spPr>
          <a:xfrm>
            <a:off x="3627000" y="19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3" name="Text 163"/>
          <p:cNvSpPr txBox="1"/>
          <p:nvPr/>
        </p:nvSpPr>
        <p:spPr>
          <a:xfrm>
            <a:off x="3627000" y="19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64" name="Shape 164"/>
          <p:cNvSpPr/>
          <p:nvPr/>
        </p:nvSpPr>
        <p:spPr>
          <a:xfrm>
            <a:off x="3877000" y="19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5" name="Text 165"/>
          <p:cNvSpPr txBox="1"/>
          <p:nvPr/>
        </p:nvSpPr>
        <p:spPr>
          <a:xfrm>
            <a:off x="3877000" y="19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4167000" y="1650000"/>
            <a:ext cx="2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×</a:t>
            </a:r>
          </a:p>
        </p:txBody>
      </p:sp>
      <p:sp>
        <p:nvSpPr>
          <p:cNvPr id="167" name="Shape 167"/>
          <p:cNvSpPr/>
          <p:nvPr/>
        </p:nvSpPr>
        <p:spPr>
          <a:xfrm>
            <a:off x="4427000" y="14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8" name="Text 168"/>
          <p:cNvSpPr txBox="1"/>
          <p:nvPr/>
        </p:nvSpPr>
        <p:spPr>
          <a:xfrm>
            <a:off x="4427000" y="14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69" name="Shape 169"/>
          <p:cNvSpPr/>
          <p:nvPr/>
        </p:nvSpPr>
        <p:spPr>
          <a:xfrm>
            <a:off x="4677000" y="14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0" name="Text 170"/>
          <p:cNvSpPr txBox="1"/>
          <p:nvPr/>
        </p:nvSpPr>
        <p:spPr>
          <a:xfrm>
            <a:off x="4677000" y="14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171" name="Shape 171"/>
          <p:cNvSpPr/>
          <p:nvPr/>
        </p:nvSpPr>
        <p:spPr>
          <a:xfrm>
            <a:off x="4927000" y="14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2" name="Text 172"/>
          <p:cNvSpPr txBox="1"/>
          <p:nvPr/>
        </p:nvSpPr>
        <p:spPr>
          <a:xfrm>
            <a:off x="4927000" y="14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73" name="Shape 173"/>
          <p:cNvSpPr/>
          <p:nvPr/>
        </p:nvSpPr>
        <p:spPr>
          <a:xfrm>
            <a:off x="4427000" y="170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4" name="Text 174"/>
          <p:cNvSpPr txBox="1"/>
          <p:nvPr/>
        </p:nvSpPr>
        <p:spPr>
          <a:xfrm>
            <a:off x="4427000" y="17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75" name="Shape 175"/>
          <p:cNvSpPr/>
          <p:nvPr/>
        </p:nvSpPr>
        <p:spPr>
          <a:xfrm>
            <a:off x="4677000" y="170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6" name="Text 176"/>
          <p:cNvSpPr txBox="1"/>
          <p:nvPr/>
        </p:nvSpPr>
        <p:spPr>
          <a:xfrm>
            <a:off x="4677000" y="17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77" name="Shape 177"/>
          <p:cNvSpPr/>
          <p:nvPr/>
        </p:nvSpPr>
        <p:spPr>
          <a:xfrm>
            <a:off x="4927000" y="170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8" name="Text 178"/>
          <p:cNvSpPr txBox="1"/>
          <p:nvPr/>
        </p:nvSpPr>
        <p:spPr>
          <a:xfrm>
            <a:off x="4927000" y="17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79" name="Shape 179"/>
          <p:cNvSpPr/>
          <p:nvPr/>
        </p:nvSpPr>
        <p:spPr>
          <a:xfrm>
            <a:off x="4427000" y="19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0" name="Text 180"/>
          <p:cNvSpPr txBox="1"/>
          <p:nvPr/>
        </p:nvSpPr>
        <p:spPr>
          <a:xfrm>
            <a:off x="4427000" y="19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4</a:t>
            </a:r>
          </a:p>
        </p:txBody>
      </p:sp>
      <p:sp>
        <p:nvSpPr>
          <p:cNvPr id="181" name="Shape 181"/>
          <p:cNvSpPr/>
          <p:nvPr/>
        </p:nvSpPr>
        <p:spPr>
          <a:xfrm>
            <a:off x="4677000" y="19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2" name="Text 182"/>
          <p:cNvSpPr txBox="1"/>
          <p:nvPr/>
        </p:nvSpPr>
        <p:spPr>
          <a:xfrm>
            <a:off x="4677000" y="19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83" name="Shape 183"/>
          <p:cNvSpPr/>
          <p:nvPr/>
        </p:nvSpPr>
        <p:spPr>
          <a:xfrm>
            <a:off x="4927000" y="19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4" name="Text 184"/>
          <p:cNvSpPr txBox="1"/>
          <p:nvPr/>
        </p:nvSpPr>
        <p:spPr>
          <a:xfrm>
            <a:off x="4927000" y="19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5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5197000" y="1650000"/>
            <a:ext cx="2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4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=</a:t>
            </a:r>
          </a:p>
        </p:txBody>
      </p:sp>
      <p:sp>
        <p:nvSpPr>
          <p:cNvPr id="186" name="Shape 186"/>
          <p:cNvSpPr/>
          <p:nvPr/>
        </p:nvSpPr>
        <p:spPr>
          <a:xfrm>
            <a:off x="3377000" y="2400000"/>
            <a:ext cx="220000" cy="22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87" name="Text 187"/>
          <p:cNvSpPr txBox="1"/>
          <p:nvPr/>
        </p:nvSpPr>
        <p:spPr>
          <a:xfrm>
            <a:off x="3377000" y="24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88" name="Shape 188"/>
          <p:cNvSpPr/>
          <p:nvPr/>
        </p:nvSpPr>
        <p:spPr>
          <a:xfrm>
            <a:off x="3627000" y="240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9" name="Text 189"/>
          <p:cNvSpPr txBox="1"/>
          <p:nvPr/>
        </p:nvSpPr>
        <p:spPr>
          <a:xfrm>
            <a:off x="3627000" y="24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190" name="Shape 190"/>
          <p:cNvSpPr/>
          <p:nvPr/>
        </p:nvSpPr>
        <p:spPr>
          <a:xfrm>
            <a:off x="3877000" y="2400000"/>
            <a:ext cx="220000" cy="22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91" name="Text 191"/>
          <p:cNvSpPr txBox="1"/>
          <p:nvPr/>
        </p:nvSpPr>
        <p:spPr>
          <a:xfrm>
            <a:off x="3877000" y="24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92" name="Shape 192"/>
          <p:cNvSpPr/>
          <p:nvPr/>
        </p:nvSpPr>
        <p:spPr>
          <a:xfrm>
            <a:off x="3377000" y="26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3" name="Text 193"/>
          <p:cNvSpPr txBox="1"/>
          <p:nvPr/>
        </p:nvSpPr>
        <p:spPr>
          <a:xfrm>
            <a:off x="3377000" y="26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8</a:t>
            </a:r>
          </a:p>
        </p:txBody>
      </p:sp>
      <p:sp>
        <p:nvSpPr>
          <p:cNvPr id="194" name="Shape 194"/>
          <p:cNvSpPr/>
          <p:nvPr/>
        </p:nvSpPr>
        <p:spPr>
          <a:xfrm>
            <a:off x="3627000" y="2650000"/>
            <a:ext cx="220000" cy="22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95" name="Text 195"/>
          <p:cNvSpPr txBox="1"/>
          <p:nvPr/>
        </p:nvSpPr>
        <p:spPr>
          <a:xfrm>
            <a:off x="3627000" y="26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196" name="Shape 196"/>
          <p:cNvSpPr/>
          <p:nvPr/>
        </p:nvSpPr>
        <p:spPr>
          <a:xfrm>
            <a:off x="3877000" y="26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7" name="Text 197"/>
          <p:cNvSpPr txBox="1"/>
          <p:nvPr/>
        </p:nvSpPr>
        <p:spPr>
          <a:xfrm>
            <a:off x="3877000" y="26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10</a:t>
            </a:r>
          </a:p>
        </p:txBody>
      </p:sp>
      <p:sp>
        <p:nvSpPr>
          <p:cNvPr id="198" name="Shape 198"/>
          <p:cNvSpPr/>
          <p:nvPr/>
        </p:nvSpPr>
        <p:spPr>
          <a:xfrm>
            <a:off x="3377000" y="2900000"/>
            <a:ext cx="220000" cy="22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199" name="Text 199"/>
          <p:cNvSpPr txBox="1"/>
          <p:nvPr/>
        </p:nvSpPr>
        <p:spPr>
          <a:xfrm>
            <a:off x="3377000" y="29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00" name="Shape 200"/>
          <p:cNvSpPr/>
          <p:nvPr/>
        </p:nvSpPr>
        <p:spPr>
          <a:xfrm>
            <a:off x="3627000" y="2900000"/>
            <a:ext cx="220000" cy="22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201" name="Text 201"/>
          <p:cNvSpPr txBox="1"/>
          <p:nvPr/>
        </p:nvSpPr>
        <p:spPr>
          <a:xfrm>
            <a:off x="3627000" y="29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02" name="Shape 202"/>
          <p:cNvSpPr/>
          <p:nvPr/>
        </p:nvSpPr>
        <p:spPr>
          <a:xfrm>
            <a:off x="3877000" y="2900000"/>
            <a:ext cx="220000" cy="220000"/>
          </a:xfrm>
          <a:prstGeom prst="rect">
            <a:avLst/>
          </a:prstGeom>
          <a:solidFill>
            <a:srgbClr val="F1F4F2"/>
          </a:solidFill>
          <a:ln>
            <a:noFill/>
          </a:ln>
        </p:spPr>
      </p:sp>
      <p:sp>
        <p:nvSpPr>
          <p:cNvPr id="203" name="Text 203"/>
          <p:cNvSpPr txBox="1"/>
          <p:nvPr/>
        </p:nvSpPr>
        <p:spPr>
          <a:xfrm>
            <a:off x="3877000" y="29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3377000" y="3170000"/>
            <a:ext cx="75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3E7C68"/>
                </a:solidFill>
                <a:latin typeface="Microsoft YaHei"/>
                <a:ea typeface="Microsoft YaHei"/>
                <a:cs typeface="Microsoft YaHei"/>
              </a:rPr>
              <a:t xml:space="preserve">C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4297000" y="2400000"/>
            <a:ext cx="15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C 第 1 行 = 2 × B 第 2 行 = [8, 0, 10]</a:t>
            </a:r>
          </a:p>
        </p:txBody>
      </p:sp>
      <p:sp>
        <p:nvSpPr>
          <p:cNvPr id="206" name="Text 206"/>
          <p:cNvSpPr txBox="1"/>
          <p:nvPr/>
        </p:nvSpPr>
        <p:spPr>
          <a:xfrm>
            <a:off x="3377000" y="3600000"/>
            <a:ext cx="2390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就是第 12 页的 matmul(A, B)，不用改。</a:t>
            </a:r>
          </a:p>
        </p:txBody>
      </p:sp>
      <p:sp>
        <p:nvSpPr>
          <p:cNvPr id="207" name="Shape 207"/>
          <p:cNvSpPr/>
          <p:nvPr/>
        </p:nvSpPr>
        <p:spPr>
          <a:xfrm>
            <a:off x="6036800" y="960120"/>
            <a:ext cx="2650000" cy="37700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</p:sp>
      <p:sp>
        <p:nvSpPr>
          <p:cNvPr id="208" name="Text 208"/>
          <p:cNvSpPr txBox="1"/>
          <p:nvPr/>
        </p:nvSpPr>
        <p:spPr>
          <a:xfrm>
            <a:off x="6166800" y="1020120"/>
            <a:ext cx="239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 dirty="0">
                <a:solidFill>
                  <a:srgbClr val="A06A00"/>
                </a:solidFill>
                <a:latin typeface="Microsoft YaHei"/>
                <a:ea typeface="Microsoft YaHei"/>
                <a:cs typeface="Microsoft YaHei"/>
              </a:rPr>
              <a:t xml:space="preserve">③ 非零元 → 三元组</a:t>
            </a:r>
          </a:p>
        </p:txBody>
      </p:sp>
      <p:sp>
        <p:nvSpPr>
          <p:cNvPr id="209" name="Shape 209"/>
          <p:cNvSpPr/>
          <p:nvPr/>
        </p:nvSpPr>
        <p:spPr>
          <a:xfrm>
            <a:off x="6166800" y="14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0" name="Text 210"/>
          <p:cNvSpPr txBox="1"/>
          <p:nvPr/>
        </p:nvSpPr>
        <p:spPr>
          <a:xfrm>
            <a:off x="6166800" y="14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11" name="Shape 211"/>
          <p:cNvSpPr/>
          <p:nvPr/>
        </p:nvSpPr>
        <p:spPr>
          <a:xfrm>
            <a:off x="6416800" y="1450000"/>
            <a:ext cx="220000" cy="220000"/>
          </a:xfrm>
          <a:prstGeom prst="rect">
            <a:avLst/>
          </a:prstGeom>
          <a:solidFill>
            <a:srgbClr val="F2D98A"/>
          </a:solidFill>
          <a:ln>
            <a:noFill/>
          </a:ln>
        </p:spPr>
      </p:sp>
      <p:sp>
        <p:nvSpPr>
          <p:cNvPr id="212" name="Text 212"/>
          <p:cNvSpPr txBox="1"/>
          <p:nvPr/>
        </p:nvSpPr>
        <p:spPr>
          <a:xfrm>
            <a:off x="6416800" y="14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213" name="Shape 213"/>
          <p:cNvSpPr/>
          <p:nvPr/>
        </p:nvSpPr>
        <p:spPr>
          <a:xfrm>
            <a:off x="6666800" y="14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4" name="Text 214"/>
          <p:cNvSpPr txBox="1"/>
          <p:nvPr/>
        </p:nvSpPr>
        <p:spPr>
          <a:xfrm>
            <a:off x="6666800" y="14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15" name="Shape 215"/>
          <p:cNvSpPr/>
          <p:nvPr/>
        </p:nvSpPr>
        <p:spPr>
          <a:xfrm>
            <a:off x="6166800" y="1700000"/>
            <a:ext cx="220000" cy="220000"/>
          </a:xfrm>
          <a:prstGeom prst="rect">
            <a:avLst/>
          </a:prstGeom>
          <a:solidFill>
            <a:srgbClr val="F2D98A"/>
          </a:solidFill>
          <a:ln>
            <a:noFill/>
          </a:ln>
        </p:spPr>
      </p:sp>
      <p:sp>
        <p:nvSpPr>
          <p:cNvPr id="216" name="Text 216"/>
          <p:cNvSpPr txBox="1"/>
          <p:nvPr/>
        </p:nvSpPr>
        <p:spPr>
          <a:xfrm>
            <a:off x="6166800" y="17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8</a:t>
            </a:r>
          </a:p>
        </p:txBody>
      </p:sp>
      <p:sp>
        <p:nvSpPr>
          <p:cNvPr id="217" name="Shape 217"/>
          <p:cNvSpPr/>
          <p:nvPr/>
        </p:nvSpPr>
        <p:spPr>
          <a:xfrm>
            <a:off x="6416800" y="170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8" name="Text 218"/>
          <p:cNvSpPr txBox="1"/>
          <p:nvPr/>
        </p:nvSpPr>
        <p:spPr>
          <a:xfrm>
            <a:off x="6416800" y="17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19" name="Shape 219"/>
          <p:cNvSpPr/>
          <p:nvPr/>
        </p:nvSpPr>
        <p:spPr>
          <a:xfrm>
            <a:off x="6666800" y="1700000"/>
            <a:ext cx="220000" cy="220000"/>
          </a:xfrm>
          <a:prstGeom prst="rect">
            <a:avLst/>
          </a:prstGeom>
          <a:solidFill>
            <a:srgbClr val="F2D98A"/>
          </a:solidFill>
          <a:ln>
            <a:noFill/>
          </a:ln>
        </p:spPr>
      </p:sp>
      <p:sp>
        <p:nvSpPr>
          <p:cNvPr id="220" name="Text 220"/>
          <p:cNvSpPr txBox="1"/>
          <p:nvPr/>
        </p:nvSpPr>
        <p:spPr>
          <a:xfrm>
            <a:off x="6666800" y="170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10</a:t>
            </a:r>
          </a:p>
        </p:txBody>
      </p:sp>
      <p:sp>
        <p:nvSpPr>
          <p:cNvPr id="221" name="Shape 221"/>
          <p:cNvSpPr/>
          <p:nvPr/>
        </p:nvSpPr>
        <p:spPr>
          <a:xfrm>
            <a:off x="6166800" y="19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2" name="Text 222"/>
          <p:cNvSpPr txBox="1"/>
          <p:nvPr/>
        </p:nvSpPr>
        <p:spPr>
          <a:xfrm>
            <a:off x="6166800" y="19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23" name="Shape 223"/>
          <p:cNvSpPr/>
          <p:nvPr/>
        </p:nvSpPr>
        <p:spPr>
          <a:xfrm>
            <a:off x="6416800" y="19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4" name="Text 224"/>
          <p:cNvSpPr txBox="1"/>
          <p:nvPr/>
        </p:nvSpPr>
        <p:spPr>
          <a:xfrm>
            <a:off x="6416800" y="19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25" name="Shape 225"/>
          <p:cNvSpPr/>
          <p:nvPr/>
        </p:nvSpPr>
        <p:spPr>
          <a:xfrm>
            <a:off x="6666800" y="1950000"/>
            <a:ext cx="22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6" name="Text 226"/>
          <p:cNvSpPr txBox="1"/>
          <p:nvPr/>
        </p:nvSpPr>
        <p:spPr>
          <a:xfrm>
            <a:off x="6666800" y="195000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</a:p>
        </p:txBody>
      </p:sp>
      <p:sp>
        <p:nvSpPr>
          <p:cNvPr id="227" name="Text 227"/>
          <p:cNvSpPr txBox="1"/>
          <p:nvPr/>
        </p:nvSpPr>
        <p:spPr>
          <a:xfrm>
            <a:off x="7036800" y="1450000"/>
            <a:ext cx="155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按行、再按列扫一遍，遇到非 0 就记下 (行,列,值)</a:t>
            </a:r>
          </a:p>
        </p:txBody>
      </p:sp>
      <p:sp>
        <p:nvSpPr>
          <p:cNvPr id="228" name="Text 228"/>
          <p:cNvSpPr txBox="1"/>
          <p:nvPr/>
        </p:nvSpPr>
        <p:spPr>
          <a:xfrm>
            <a:off x="6166800" y="2400000"/>
            <a:ext cx="239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输出：</a:t>
            </a:r>
          </a:p>
          <a:p>
            <a:pPr algn="l" indent="0" marL="0">
              <a:spcAft>
                <a:spcPts val="10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(0,1,3)</a:t>
            </a:r>
          </a:p>
          <a:p>
            <a:pPr algn="l" indent="0" marL="0">
              <a:spcAft>
                <a:spcPts val="10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(1,0,8)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1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(1,2,10)</a:t>
            </a:r>
          </a:p>
        </p:txBody>
      </p:sp>
      <p:sp>
        <p:nvSpPr>
          <p:cNvPr id="229" name="Text 229"/>
          <p:cNvSpPr txBox="1"/>
          <p:nvPr/>
        </p:nvSpPr>
        <p:spPr>
          <a:xfrm>
            <a:off x="6166800" y="3600000"/>
            <a:ext cx="2390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顺序扫描，结果天然按 (行,列) 升序；值为 0 的不输出。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稀疏矩阵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E23555 的代码：三个函数连起来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230" name="Shape 230"/>
          <p:cNvSpPr/>
          <p:nvPr/>
        </p:nvSpPr>
        <p:spPr>
          <a:xfrm>
            <a:off x="457200" y="960120"/>
            <a:ext cx="5300000" cy="377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231" name="Text 231"/>
          <p:cNvSpPr txBox="1"/>
          <p:nvPr/>
        </p:nvSpPr>
        <p:spPr>
          <a:xfrm>
            <a:off x="587200" y="1010000"/>
            <a:ext cx="5040000" cy="3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def to_dense(n, items):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M = [[0] * n for _ in range(n)]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for r, c, v in items: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M[r][c] = v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return M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/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def to_sparse(M):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return [(i, j, x)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    for i, row in enumerate(M)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    for j, x in enumerate(row) if x != 0]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/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def sparse_matmul(n, a_items, b_items):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A = to_dense(n, a_items)       # ① 还原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B = to_dense(n, b_items)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C = matmul(A, B)               # ② 相乘（第 12 页）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return to_sparse(C)            # ③ 转回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/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print(sparse_matmul(3, [(0,0,1), (1,2,2)],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               [(0,1,3), (2,0,4), (2,2,5)]))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# [(0, 1, 3), (1, 0, 8), (1, 2, 10)]</a:t>
            </a:r>
          </a:p>
        </p:txBody>
      </p:sp>
      <p:sp>
        <p:nvSpPr>
          <p:cNvPr id="232" name="Shape 232"/>
          <p:cNvSpPr/>
          <p:nvPr/>
        </p:nvSpPr>
        <p:spPr>
          <a:xfrm>
            <a:off x="5940080" y="960120"/>
            <a:ext cx="2746720" cy="17500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>
            <a:noFill/>
          </a:ln>
        </p:spPr>
      </p:sp>
      <p:sp>
        <p:nvSpPr>
          <p:cNvPr id="233" name="Text 233"/>
          <p:cNvSpPr txBox="1"/>
          <p:nvPr/>
        </p:nvSpPr>
        <p:spPr>
          <a:xfrm>
            <a:off x="6060080" y="1020000"/>
            <a:ext cx="2506720" cy="1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zh-CN" sz="12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读代码</a:t>
            </a:r>
          </a:p>
          <a:p>
            <a:pPr algn="l" indent="0" marL="0">
              <a:spcAft>
                <a:spcPts val="30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to_dense：把三元组放回格子。</a:t>
            </a:r>
          </a:p>
          <a:p>
            <a:pPr algn="l" indent="0" marL="0">
              <a:spcAft>
                <a:spcPts val="30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to_sparse：行优先扫描，非 0 才记。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sparse_matmul 只是把三步连起来。</a:t>
            </a:r>
          </a:p>
        </p:txBody>
      </p:sp>
      <p:sp>
        <p:nvSpPr>
          <p:cNvPr id="234" name="Shape 234"/>
          <p:cNvSpPr/>
          <p:nvPr/>
        </p:nvSpPr>
        <p:spPr>
          <a:xfrm>
            <a:off x="5940080" y="2820000"/>
            <a:ext cx="2746720" cy="19100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</p:sp>
      <p:sp>
        <p:nvSpPr>
          <p:cNvPr id="235" name="Text 235"/>
          <p:cNvSpPr txBox="1"/>
          <p:nvPr/>
        </p:nvSpPr>
        <p:spPr>
          <a:xfrm>
            <a:off x="6060080" y="2880000"/>
            <a:ext cx="2506720" cy="1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zh-CN" sz="1200" b="1" dirty="0">
                <a:solidFill>
                  <a:srgbClr val="A06A00"/>
                </a:solidFill>
                <a:latin typeface="Microsoft YaHei"/>
                <a:ea typeface="Microsoft YaHei"/>
                <a:cs typeface="Microsoft YaHei"/>
              </a:rPr>
              <a:t xml:space="preserve">注意</a:t>
            </a:r>
          </a:p>
          <a:p>
            <a:pPr algn="l" indent="0" marL="0">
              <a:spcAft>
                <a:spcPts val="30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先 to_dense 要占 n² 空间；n 不大时最稳。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5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输入输出格式以题面为准：读入后组成 a_items、b_items，再按行、列升序输出三元组。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稀疏矩阵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进阶：直接在三元组上乘（省空间）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236" name="Shape 236"/>
          <p:cNvSpPr/>
          <p:nvPr/>
        </p:nvSpPr>
        <p:spPr>
          <a:xfrm>
            <a:off x="457200" y="960120"/>
            <a:ext cx="4700000" cy="37700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>
            <a:noFill/>
          </a:ln>
        </p:spPr>
      </p:sp>
      <p:sp>
        <p:nvSpPr>
          <p:cNvPr id="237" name="Text 237"/>
          <p:cNvSpPr txBox="1"/>
          <p:nvPr/>
        </p:nvSpPr>
        <p:spPr>
          <a:xfrm>
            <a:off x="587200" y="1010000"/>
            <a:ext cx="4440000" cy="3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def sparse_matmul(n, a_items, b_items):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brow = defaultdict(list)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for r, c, v in b_items: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brow[r].append((c, v))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acc = defaultdict(int)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for i, t, v in a_items: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for j, w in brow.get(t, ()):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    acc[(i, j)] += v * w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return [(i, j, v)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    for (i, j), v in sorted(acc.items())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95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 xml:space="preserve">            if v != 0]</a:t>
            </a:r>
          </a:p>
        </p:txBody>
      </p:sp>
      <p:sp>
        <p:nvSpPr>
          <p:cNvPr id="238" name="Shape 238"/>
          <p:cNvSpPr/>
          <p:nvPr/>
        </p:nvSpPr>
        <p:spPr>
          <a:xfrm>
            <a:off x="5340080" y="960120"/>
            <a:ext cx="3346720" cy="20000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>
            <a:noFill/>
          </a:ln>
        </p:spPr>
      </p:sp>
      <p:sp>
        <p:nvSpPr>
          <p:cNvPr id="239" name="Text 239"/>
          <p:cNvSpPr txBox="1"/>
          <p:nvPr/>
        </p:nvSpPr>
        <p:spPr>
          <a:xfrm>
            <a:off x="5460080" y="1020000"/>
            <a:ext cx="3106720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zh-CN" sz="115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进阶：不转换，直接在三元组上算</a:t>
            </a:r>
          </a:p>
          <a:p>
            <a:pPr algn="l" indent="0" marL="0">
              <a:spcAft>
                <a:spcPts val="30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brow[t]：B 第 t 行的非零元</a:t>
            </a:r>
          </a:p>
          <a:p>
            <a:pPr algn="l" indent="0" marL="0">
              <a:spcAft>
                <a:spcPts val="30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A 的每个非零元 (i,t,v) 配上 brow[t] 里的 (j,w)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acc[(i,j)] += v*w：字典当作 C，没出现的位置就是 0</a:t>
            </a:r>
          </a:p>
        </p:txBody>
      </p:sp>
      <p:sp>
        <p:nvSpPr>
          <p:cNvPr id="240" name="Shape 240"/>
          <p:cNvSpPr/>
          <p:nvPr/>
        </p:nvSpPr>
        <p:spPr>
          <a:xfrm>
            <a:off x="5340080" y="3070000"/>
            <a:ext cx="3346720" cy="16600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</p:sp>
      <p:sp>
        <p:nvSpPr>
          <p:cNvPr id="241" name="Text 241"/>
          <p:cNvSpPr txBox="1"/>
          <p:nvPr/>
        </p:nvSpPr>
        <p:spPr>
          <a:xfrm>
            <a:off x="5460080" y="3130000"/>
            <a:ext cx="3106720" cy="1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zh-CN" sz="1150" b="1" dirty="0">
                <a:solidFill>
                  <a:srgbClr val="A06A00"/>
                </a:solidFill>
                <a:latin typeface="Microsoft YaHei"/>
                <a:ea typeface="Microsoft YaHei"/>
                <a:cs typeface="Microsoft YaHei"/>
              </a:rPr>
              <a:t xml:space="preserve">两种写法怎么选</a:t>
            </a:r>
          </a:p>
          <a:p>
            <a:pPr algn="l" indent="0" marL="0">
              <a:spcAft>
                <a:spcPts val="30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转换法：好懂，占 n² 空间。</a:t>
            </a:r>
          </a:p>
          <a:p>
            <a:pPr algn="l" indent="0" marL="0">
              <a:spcAft>
                <a:spcPts val="300"/>
              </a:spcAft>
              <a:buNone/>
            </a:pPr>
            <a:r>
              <a:rPr lang="zh-CN" sz="1000" dirty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 xml:space="preserve">直接法：只和非零元个数有关，n 很大时用。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zh-CN" sz="1000" b="1" dirty="0">
                <a:solidFill>
                  <a:srgbClr val="1E3D34"/>
                </a:solidFill>
                <a:latin typeface="Microsoft YaHei"/>
                <a:ea typeface="Microsoft YaHei"/>
                <a:cs typeface="Microsoft YaHei"/>
              </a:rPr>
              <a:t xml:space="preserve">先保证做对，再考虑省空间。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矩阵 · 二维前缀和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 O(mn)，单次查询 O(1)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build_prefix(a):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len(a), len(a[0])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 = [[0] * (n + 1) for _ in range(m + 1)]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range(m):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range(n):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pre[i+1][j+1] = pre[i][j+1] + pre[i+1][j] - pre[i][j] + a[i][j]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pre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query(pre, r1, c1, r2, c2):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"""左上 (r1,c1) 到右下 (r2,c2) 闭区间的和（0-indexed）。"""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pre[r2+1][c2+1] - pre[r1][c2+1] - pre[r2+1][c1] + pre[r1][c1]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91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3000" y="3291840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3291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3291840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3291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75888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6758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43000" y="3675888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36758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0" y="3675888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45920" y="36758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0599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43000" y="4059936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43000" y="40599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45920" y="4059936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45920" y="40599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834640" y="3337560"/>
            <a:ext cx="3108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query(pre,0,0,1,1) = 1+2+4+5 = 12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query(pre,1,1,2,2) = 5+6+8+9 = 28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2918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容斥原理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36758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大矩形 − 上 − 左 + 左上（被减了两次要加回来）。第 11 周的「最大子矩阵」会直接用到它。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 sorted 只是起点；稳定性与复杂度才是重点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sorted 与 key · 稳定性 · 五种基础排序 · 归并求逆序对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排序 · sorted 与 key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多关键字排序：key 返回一个元组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[3, 1, 2]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print(sorted(a))  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2, 3]，返回新列表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a.sort(reverse=True)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原地降序 -&gt; [3, 2, 1]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 = [("bob", 20), ("amy", 20), ("cid", 18)]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print(sorted(people, key=lambda p: p[1]))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按年龄升序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print(sorted(people, key=lambda p: (p[1], p[0])))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年龄升序，同龄按名字升序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print(sorted(people, key=lambda p: (-p[1], p[0])))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年龄降序，同龄按名字升序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611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通用写法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90448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返回一个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元组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，元素按优先级排列；数值要降序就取负号，字符串要降序就分两次排（利用稳定性，见下一页）。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排序 · 稳定性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的 sort 是稳定的：相等元素保持原有相对顺序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[("a", 2), ("b", 1), ("c", 2)]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rows.sort(key=lambda r: r[0])        </a:t>
            </a:r>
            <a:r>
              <a:rPr lang="en-US" sz="1150" b="1" dirty="0">
                <a:solidFill>
                  <a:srgbClr val="A0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先按次关键字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rows.sort(key=lambda r: r[1])        </a:t>
            </a:r>
            <a:r>
              <a:rPr lang="en-US" sz="1150" b="1" dirty="0">
                <a:solidFill>
                  <a:srgbClr val="A0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再按主关键字，次关键字的顺序被保留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print(rows)                        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[('b', 1), ('a', 2), ('c', 2)]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697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「两次排序」技巧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99008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先按次关键字排一次，再按主关键字排一次——因为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，第二次排序不会打乱第一次已经排好的同分顺序。字符串要「降序 + 稳定」时特别好用。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 O(n log n)（Timsort），已排序数据接近 O(n)。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排序 · 五种基础排序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复杂度与稳定性一览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463040"/>
                <a:gridCol w="1005840"/>
                <a:gridCol w="82296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冒泡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O(n²)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O(n²)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教学用；可提前退出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O(n²)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O(n²)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交换次数最少（n−1 次）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O(n²)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O(n²)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近乎有序时接近 O(n)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 log n)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 log n)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分治；可顺带求逆序数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 log n)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O(n²)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O(log n)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常数最小；随机化避免最坏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947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考试里要不要手写排序？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17880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一般不要——直接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。但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归并排序的合并过程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要会写：求逆序对、合并有序序列都要用（下面两页）。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排序 · 冒泡与插入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 O(n²) 排序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387705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bubble_sort(a):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a[:]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len(a)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 - 1):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swapped = False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range(n - 1 - i):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a[j] &gt; a[j + 1]: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a[j], a[j + 1] = a[j + 1], a[j]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swapped = True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swapped:           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已有序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36592" y="1005840"/>
            <a:ext cx="387705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insertion_sort(a):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a[:]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len(a)):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key, j = a[i], i - 1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j &gt;= 0 and a[j] &gt; key: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a[j + 1] = a[j]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 -= 1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a[j + 1] = key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对照着看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04164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冒泡：相邻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，一趟把最大值「冒」到末尾。插入：把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a[i]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当作扑克牌，往前找位置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挪出空位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再插入。两者都是稳定排序。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排序 · 归并与快排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 O(n log n) 排序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3877056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merge_sort(a):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len(a) &lt;= 1: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a[:]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 = len(a) // 2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left, right = merge_sort(a[:mid]), merge_sort(a[mid:])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out, i, j = [], 0, 0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&lt; len(left) and j &lt; len(right):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left[i] &lt;= right[j]:      </a:t>
            </a:r>
            <a:r>
              <a:rPr lang="en-US" sz="880" b="1" dirty="0">
                <a:solidFill>
                  <a:srgbClr val="A0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&lt;= 保证稳定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out.append(left[i]); i += 1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out.append(right[j]); j += 1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out.extend(left[i:]); out.extend(right[j:])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out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36592" y="1005840"/>
            <a:ext cx="3877056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quick_sort(a):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len(a) &lt;= 1: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a[:]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pivot = a[len(a) // 2]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less = [x for x in a if x &lt; pivot]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equal = [x for x in a if x == pivot]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greater = [x for x in a if x &gt; pivot]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quick_sort(less) + equal + quick_sort(greater)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保证稳定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1330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合并时左边相等就先取左边，保持原有相对顺序——这一个符号就是归并「稳定」的全部原因。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7490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060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快排不稳定的原因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41330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段是一次性收集的，原有的相对顺序在这一步已经丢了。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排序 · 对拍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四种手写排序 + 内建 sorted：结果必须一致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[random.randint(0, 100) for _ in range(200)]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bubble_sort(t) == insertion_sort(t) == merge_sort(t) == quick_sort(t) == sorted(t)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print("四种排序与内建 sorted 一致")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4780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679192"/>
            <a:ext cx="8010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四种排序与内建 sorted 一致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2461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写完手写算法，第一件事是对拍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5387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小规模随机数据 +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，比对着标准答案看半天更快找出 bug——这个习惯本周后面的贪心也会反复用到。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排序 · 归并求逆序对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合并的同时顺手数「谁比谁靠前还更大」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88036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count_inversions(a):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"""返回 (排序后的列表, 逆序对个数)。O(n log n)。"""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len(a) &lt;= 1: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a[:], 0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 = len(a) // 2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left, x = count_inversions(a[:mid])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right, y = count_inversions(a[mid:])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out, i, j, cnt = [], 0, 0, x + y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&lt; len(left) and j &lt; len(right):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left[i] &lt;= right[j]: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out.append(left[i]); i +=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out.append(right[j]); j +=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cnt += len(left) - i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left 中剩下的都比 right[j] 大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out.extend(left[i:]); out.extend(right[j:])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out, cnt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57200" y="3950208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005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206240"/>
            <a:ext cx="80101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count_inversions([3, 1, 2])[1]        -&gt;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count_inversions([5, 4, 3, 2, 1])[1]  -&gt; 10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排序 · 归并求逆序对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</a:t>
            </a:r>
            <a:r>
              <a:rPr lang="en-US" sz="2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cnt += len(left) - i</a:t>
            </a: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 </a:t>
            </a:r>
            <a:r>
              <a:rPr lang="en-US" sz="2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 1</a:t>
            </a: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[3, 1, 2] 为例：左半 left=[3]，右半排序后 right=[1, 2]。合并时：</a:t>
            </a:r>
            <a:endParaRPr lang="en-US" sz="1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53035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为什么是 len(left)-i 个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 right[0]=1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&lt; 3，逆序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left 剩下的 [3] 全部比 1 大 -&gt; 一次记 1 个逆序对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 right[1]=2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&lt; 3，逆序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left 剩下的 [3] 全部比 2 大 -&gt; 再记 1 个逆序对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2461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337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630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right[j]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一旦比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left[i]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小，它就比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left 里从 i 到末尾的所有元素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都小（left 已经有序）——这些都是逆序对，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记上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len(left) - i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个，而不是留到以后一个一个数。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每一步都选眼前最好的，且不回头——但不总是对的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 · 排序型贪心 · 交换论证 · 常见形状速查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贪心 · 是什么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每一步都选当前看起来最好的，且不回头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25880"/>
            <a:ext cx="402336" cy="402336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贪心策略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每一步具体怎么选。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325880"/>
            <a:ext cx="402336" cy="402336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正确性证明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为什么局部最优能拼成全局最优。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1887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325880"/>
            <a:ext cx="402336" cy="402336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反例检验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想不出证明，就努力构造反例。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本周的落点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81304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三要素里最难的从来不是「怎么选」，而是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正确性证明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——3.4 节的交换论证就是专门补这一块的通用方法。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贪心 · 不总是对的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找零问题：面额不同，贪心可能不是最优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面额 [1,5,10,25] 凑 30 → 贪心 25+5，2 枚，正确。面额 [1,3,4] 凑 6 → 贪心 4+1+1，3 枚；最优 3+3，2 枚。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822960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618488"/>
            <a:ext cx="808329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greedy_coins(coins, amount):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coins = sorted(coins, reverse=True)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cnt, rest = 0, amount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 in coins: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take = rest // c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cnt += take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rest -= take * c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cnt if rest == 0 else -1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print(greedy_coins([1, 5, 10, 25], 30))  </a:t>
            </a:r>
            <a:r>
              <a:rPr lang="en-US" sz="10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 正确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print(greedy_coins([1, 3, 4], 6))  </a:t>
            </a:r>
            <a:r>
              <a:rPr lang="en-US" sz="10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 贪心错了，最优是 2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贪心错在哪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041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凑 6 时贪心先拿最大的 4，剩下 2 只能 1+1，共 3 枚；而 3+3 只要 2 枚。局部最优不等于全局最优——下一页用 dp_coins 求真正的最优解。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贪心 · 排序型贪心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最常见的套路：先按某个键排序，再一遍扫过去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94360" y="1188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难点全在「按什么排」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4813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绝大多数入门贪心题的形状都是：先排序，再扫一遍累加/比较。下面四道例题，排序键一道比一道不直观。</a:t>
            </a:r>
            <a:endParaRPr lang="en-US" sz="13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小节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01017 装箱问题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从大到小放规格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本页下方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12559 最大最小整数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a+b</a:t>
                      </a: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与 </a:t>
                      </a:r>
                      <a:r>
                        <a:rPr lang="en-US" sz="125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b+a</a:t>
                      </a: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比较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下一页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19948 因材施教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排序后切最大间隙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下下页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18211 军备竞赛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排序后左右双指针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再下一页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贪心 · 01017 装箱问题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1×1 到 6×6 六种产品，每箱 6×6，求最少箱子数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策略：从大到小放。6×6 独占一箱；5×5 剩 11 个 1×1 空位；4×4 剩 5 个 2×2；3×3 四个一箱，余数按表补。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8229600" cy="2423160"/>
          </a:xfrm>
          <a:prstGeom prst="roundRect">
            <a:avLst>
              <a:gd name="adj" fmla="val 3019"/>
            </a:avLst>
          </a:prstGeom>
          <a:solidFill>
            <a:srgbClr val="F1F4F2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30352" y="1581912"/>
            <a:ext cx="8083296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一个 3x3 之后剩余的 2x2 空位数：余 1 -&gt; 5, 余 2 -&gt; 3, 余 3 -&gt;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REST_2 = [0, 5, 3, 1]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b, c, d, e, f = nums              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1x1..6x6 各自的数量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boxes = d + e + f + (c + 3) // 4     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6x6 5x5 4x4 和 3x3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space2 = d * 5 + REST_2[c % 4]       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可容纳的 2x2 空位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b &gt; space2: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boxes += (b - space2 + 8) // 9   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一箱放 9 个 2x2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space1 = boxes * 36 - (f*36 + e*25 + d*16 + c*9 + b*4)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 &gt; space1: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boxes += (a - space1 + 35) // 36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57200" y="404164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94360" y="41330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REST_2 这张表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42569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3×3 的产品每箱放 4 个，剩下的空间能塞多少个 2×2 不是线性的，必须打表。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贪心题的细节往往就藏在这种小表里。</a:t>
            </a:r>
            <a:endParaRPr lang="en-US" sz="10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贪心 · 12559 最大最小整数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拼接数字串成整数，求能拼出的最大值与最小值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关键：不能按字典序排，也不能按数值排。正确的比较是「a+b 和 b+a 哪个大」。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76072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30352" y="1463040"/>
            <a:ext cx="5614416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functools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largest_concat(strs):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cmp = lambda x, y: -1 if x + y &gt; y + x else (1 if x + y &lt; y + x else 0)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''.join(sorted(strs, key=functools.cmp_to_key(cmp)))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["7", "13", "2"]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print(largest_concat(nums))          </a:t>
            </a:r>
            <a:r>
              <a:rPr lang="en-US" sz="10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7213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2286000" cy="3108960"/>
          </a:xfrm>
          <a:prstGeom prst="roundRect">
            <a:avLst>
              <a:gd name="adj" fmla="val 3200"/>
            </a:avLst>
          </a:prstGeom>
          <a:solidFill>
            <a:srgbClr val="CFE0D8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3796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为什么字典序、数值序都错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1801368"/>
            <a:ext cx="2011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字典序把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"9"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排在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"13"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后面；数值序完全不管拼接后的长度关系。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a+b &gt; b+a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这个比较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可以证明满足传递性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，才能拿来当排序键（§3.4）。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5760720" cy="685800"/>
          </a:xfrm>
          <a:prstGeom prst="roundRect">
            <a:avLst>
              <a:gd name="adj" fmla="val 10667"/>
            </a:avLst>
          </a:prstGeom>
          <a:solidFill>
            <a:srgbClr val="1B2B24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66928" y="3392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593592"/>
            <a:ext cx="5541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largest_concat(['7','13','2'])  -&gt; 7213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smallest_concat(['7','13','2']) -&gt; 1327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14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smallest_concat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是同一个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，把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互换。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贪心 · 19948 因材施教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个学生分 k 组，组内最高分减最低分之和最小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策略：先排序（同组学生排序后一定连续），总差异 = (最大−最小) − (被切开的 k−1 个相邻差)；要总差异最小，就切最大的 k−1 个相邻差。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30352" y="1645920"/>
            <a:ext cx="8083296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 k = 7, 3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[1, 3, 5, 5, 6, 9, 15]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scores.sort()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gaps = sorted((scores[i+1] - scores[i] for i in range(n - 1)), reverse=True)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scores[-1] - scores[0] - sum(gaps[:k - 1])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print(total)          </a:t>
            </a:r>
            <a:r>
              <a:rPr lang="en-US" sz="10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14 - (6 + 3) = 5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2606040" y="3383280"/>
            <a:ext cx="566928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606040" y="338328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72968" y="3383280"/>
            <a:ext cx="566928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172968" y="338328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39896" y="3383280"/>
            <a:ext cx="566928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3739896" y="338328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06824" y="3383280"/>
            <a:ext cx="566928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306824" y="338328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73752" y="3383280"/>
            <a:ext cx="566928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873752" y="338328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0680" y="3383280"/>
            <a:ext cx="566928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440680" y="338328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07608" y="3383280"/>
            <a:ext cx="566928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007608" y="338328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相邻差：2 2 0 1 3 6 → 排序后切最大的 2 个（6、3）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贪心 · 18211 军备竞赛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排序后双指针：钱不够就把最贵的卖掉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30352" y="1005840"/>
            <a:ext cx="808329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arms_race(p, prices):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prices.sort()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hi, adv = 0, len(prices) - 1,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lo &lt;= hi: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 &gt;= prices[lo]: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 -= prices[lo]; lo += 1; adv +=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lo &lt; hi and adv &gt; 0: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必须还有优势才敢卖，且不能卖掉正要造的那份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 += prices[hi]; hi -= 1; adv -=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adv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DF0EE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94360" y="31089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 &gt; 0</a:t>
            </a: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为什么关键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4015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优势为 0 时卖出会变成负优势，题目不允许——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贪心题的边界条件往往就是它的全部难度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arms_race(10, [3, 4, 5, 6]) 逐步执行 → 见下页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贪心 · 18211 逐步执行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arms_race(10, [3, 4, 5, 6])，排序后 [3,4,5,6]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822960"/>
                <a:gridCol w="822960"/>
                <a:gridCol w="822960"/>
                <a:gridCol w="37490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adv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造 3（钱够，造最便宜的）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造 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钱不够造 5，卖掉最贵的 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造 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 &gt; hi，循环结束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8862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B2B24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66928" y="39410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142232"/>
            <a:ext cx="8010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arms_race(10, [3, 4, 5, 6])  -&gt;  2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贪心 · 交换论证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把排序键推出来，而不是猜出来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要证「按规则 R 排出来的解是最优的」，走三步：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1F4F2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504" y="1444752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03504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4081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取任意一个最优解 OPT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1719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不假设它长什么样。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2139696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1F4F2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504" y="2231136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03504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1945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若相邻两项顺序与 R 相反，就交换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5054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证明目标函数不会变差。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504" y="3017520"/>
            <a:ext cx="329184" cy="329184"/>
          </a:xfrm>
          <a:prstGeom prst="ellipse">
            <a:avLst/>
          </a:prstGeom>
          <a:solidFill>
            <a:srgbClr val="A06A00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0350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8094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每交换一次，逆序对数至少减 1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291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有限步后 OPT 变成 R 序，全程没变差——R 序也是最优解。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59436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看清第 3 步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1788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它没说「R 序是唯一的最优解」，只说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最优值能被 R 序取到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——贪心需要的恰好就是这一句。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贪心 · 交换论证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为什么必须是「相邻」两项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94360" y="1188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只有相邻交换，其余各项贡献完全不变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4813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两种摆法的差才会只剩下 a、b 互相之间的那一项。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94360" y="2286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隔着第三项交换会怎样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5786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如果隔着第三项去交换，中间那项的处境也变了，差值里会混进与 a、b 无关的量，就化简不出干净的不等式。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94360" y="3383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6758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「相邻」不是为了省事，是这套推导能成立的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贪心 · 交换论证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反过来用：以 12559 为例，把排序键推出来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把第 2 步倒过来读：设相邻两项 a、b，分别写出「a 在前」与「b 在前」的代价，令前者 ≤ 后者，化简出来的不等式就是 key。</a:t>
            </a:r>
            <a:endParaRPr lang="en-US" sz="12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42062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谁在前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这一段拼接串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在前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+ b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在前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 + 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288036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94360" y="2971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 等长，比较直接退化成两段本身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26440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a+b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b+a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等长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 a 应排在 b 前面 ⟺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a+b &gt; b+a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——排序键就这么推出来了，不是试出来的。字典序、数值序都不满足这个条件，所以都错。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贪心 · 交换论证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推完之后，一定要和暴力对拍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functools, itertools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by_rule(strs):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"""按交换论证推出的规则排：a 在 b 前 ⟺ a+b &gt; b+a"""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cmp = lambda x, y: -1 if x + y &gt; y + x else (1 if x + y &lt; y + x else 0)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''.join(sorted(strs, key=functools.cmp_to_key(cmp)))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by_brute(strs):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max(''.join(p) for p in itertools.permutations(strs))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["3", "30", "34", "5", "9"]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print(by_rule(nums))                     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9534330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print(''.join(sorted(nums, reverse=True)))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9534303  字典序，错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print(''.join(sorted(nums, key=int, reverse=True)))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3430953  数值序，错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B2B24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66928" y="3666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867912"/>
            <a:ext cx="8010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 组随机数据：规则排序的结果 == 全排列暴力的最大值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推导会出错，对拍不会——300 组随机字符串跑一遍 by_rule 与 by_brute，逐一断言相等。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贪心 · 交换论证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两种形态，别混；两个前提必须自己检查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用在哪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交换什么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相邻交换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排序型贪心（本节 12559）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OPT 里相邻的两项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首元素替换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选择型贪心（第 10 周区间问题）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OPT 的第一个选择换成贪心的选择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743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9436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前提一：R 必须是全序（满足传递性）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1272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否则 </a:t>
            </a:r>
            <a:r>
              <a:rPr lang="en-US" sz="108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排出来的结果依赖比较的先后，「R 序」根本没有定义。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用浮点数当排序键最容易翻车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——本该相等的键因误差变得一大一小。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663440" y="2743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CFE0D8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80060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前提二：交换只影响这两项要真的成立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31272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如果代价依赖全局的某个量，而不只是前后关系，这一步必须重算，不能照抄。</a:t>
            </a:r>
            <a:endParaRPr lang="en-US" sz="10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贪心 · 常见形状速查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拿到贪心题，先往这张表上对一对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拼接最大 / 最小数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a+b vs b+a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12559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分组最小差异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排序后切最大间隙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19948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用最少的箱子 / 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从大到小放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01017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双指针取两端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排序后左右夹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18211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区间问题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按右端点排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10 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会议室 / 活动选择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按结束时间排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10 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复杂度实战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同一道题，三种写法，看到 n 就该知道写哪一版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最大连续子数组和：O(n³) → O(n²) → O(n)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复杂度实战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最大连续子数组和（第 11 周会作为 DP 重讲）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30352" y="1005840"/>
            <a:ext cx="5614416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brute(a):        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O(n^3)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n, best = len(a), a[0]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range(i, n):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best = max(best, sum(a[i:j + 1]))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kadane(a):       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O(n)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= cur = a[0]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v in a[1:]: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max(v, cur + v)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要么接上前面，要么另起一段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 = max(best, cur)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96012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37960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还有一个 O(n²) 版本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34416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先建前缀和数组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sum(a[i:j+1])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变成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pre[j+1]-pre[i]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——省掉重复求和，但双重循环还在。完整代码见讲义 §4。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29718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B2B24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510528" y="3026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3227832"/>
            <a:ext cx="2066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brute(t) == prefix(t) == kadane(t)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三种写法结果一致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5760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kadane 的核心决策：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</a:t>
            </a: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要么接上前面的段，要么放弃前面、从当前值另起一段。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复杂度实战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n，三个不同的可解规模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O(n³)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O(n²)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10³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10⁹ 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10⁶ 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10³ 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10¹⁰ 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10⁵ 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10⁷ 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1089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94360" y="3200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49300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同一道题，三种复杂度对应三个不同的可解规模。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 n 就该知道自己要写哪一版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——这是本周最该带走的习惯。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834640"/>
                <a:gridCol w="1737360"/>
                <a:gridCol w="3017520"/>
              </a:tblGrid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 / 编号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矩阵运算（先乘再加）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E18161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矩阵乘法、维度判断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计算矩阵边缘元素之和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E07743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二维遍历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矩阵交换行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02899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二维列表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二维矩阵上的卷积运算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E19942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保护圈、邻域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装箱问题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01017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贪心 + 打表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最大最小整数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12559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自定义比较、交换论证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因材施教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19948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排序型贪心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军备竞赛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18211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双指针贪心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9*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节省存储的矩阵乘法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E23555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稀疏矩阵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10*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螺旋矩阵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M18106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模拟、方向数组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选做。E/M 开头与纯数字编号：cs101.openjudge.cn。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 · 思考题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1F4F2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1124712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1124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10972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交换论证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146304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§3.4 三步骨架，把「按 a+b &gt; b+a 排序得到的拼接结果最大」写成完整证明；再补上传递性那一步。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809744" y="1124712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809744" y="1124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30368" y="10972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打表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828032" y="146304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装箱问题里 </a:t>
            </a:r>
            <a:r>
              <a:rPr lang="en-US" sz="96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REST_2 = [0, 5, 3, 1]</a:t>
            </a:r>
            <a:r>
              <a:rPr lang="en-US" sz="9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是怎么算出来的？画图验证 </a:t>
            </a:r>
            <a:r>
              <a:rPr lang="en-US" sz="96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% 4 == 2</a:t>
            </a:r>
            <a:r>
              <a:rPr lang="en-US" sz="9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时为什么是 3。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57200" y="2212848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1F4F2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03504" y="2331720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03504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23042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逆序对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267004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归并排序求逆序对时，</a:t>
            </a:r>
            <a:r>
              <a:rPr lang="en-US" sz="96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cnt += len(left) - i</a:t>
            </a:r>
            <a:r>
              <a:rPr lang="en-US" sz="9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为什么不是 </a:t>
            </a:r>
            <a:r>
              <a:rPr lang="en-US" sz="96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cnt += 1</a:t>
            </a:r>
            <a:r>
              <a:rPr lang="en-US" sz="9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663440" y="2212848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809744" y="2331720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4809744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230368" y="23042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前缀和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828032" y="267004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二维前缀和的容斥公式里，为什么 </a:t>
            </a:r>
            <a:r>
              <a:rPr lang="en-US" sz="96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pre[r1][c1]</a:t>
            </a:r>
            <a:r>
              <a:rPr lang="en-US" sz="9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要加回来？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57200" y="3419856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1F4F2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03504" y="3538728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03504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35112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交换论证的边界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21792" y="387705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01017 装箱问题用的是「从大到小放」。它能用 §3.4 的三步骨架证明吗？如果不能，卡在哪一步？</a:t>
            </a:r>
            <a:endParaRPr lang="en-US" sz="96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二维列表一律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[[0]*n for _ in range(m)]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；边界多时用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保护圈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，方向用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方向数组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；矩阵乘法 O(mkn)，二维前缀和靠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容斥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做到 O(1) 查询。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key=lambda x: (主, 次)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就够；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让「两次排序」成为可能。归并的合并过程要能默写。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 =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 + 一遍扫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，难在选排序键；不会证明就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构造反例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。找零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[1,3,4]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凑 6 是标准反例。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交换论证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排序键要用交换论证推，不要猜：设相邻两项 a、b，令「a 在前」不劣，化简出的不等式就是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。推完必须和暴力对拍。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复杂度直觉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 n 的范围就知道该写哪个复杂度的版本——这是本周最该带走的习惯。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下周预告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矩阵、队列、栈与贪心练习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继续矩阵与贪心的练习，并引入两种最基本的线性结构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栈与队列 · 单调栈 · 单调队列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贪心 · 不总是对的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找零问题：dp_coins 给出真正的最优解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dp[i] 表示凑出金额 i 的最少枚数：对每个面额 c，dp[i] = min(dp[i], dp[i-c] + 1)。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822960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618488"/>
            <a:ext cx="808329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dp_coins(coins, amount):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 = float('inf')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+ [INF] * amount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amount + 1):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 in coins: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 &lt;= i and dp[i - c] + 1 &lt; dp[i]: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 = dp[i - c] + 1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dp[amount] if dp[amount] &lt; INF else -1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print(greedy_coins([1, 3, 4], 6), dp_coins([1, 3, 4], 6))  </a:t>
            </a:r>
            <a:r>
              <a:rPr lang="en-US" sz="10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2  贪心错了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print(greedy_coins([1, 5, 10, 25], 30), dp_coins([1, 5, 10, 25], 30))  </a:t>
            </a:r>
            <a:r>
              <a:rPr lang="en-US" sz="10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2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周动态规划的动机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041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贪心失效的地方，DP 用「枚举所有子问题的最优值」接管；这里先看效果（greedy_coins 见上一页），DP 的完整方法第 11 周细讲。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计算概论（B）第 6 周 矩阵、排序与贪心</dc:title>
  <dc:subject>PptxGenJS Presentation</dc:subject>
  <dc:creator>Hongfei Yan</dc:creator>
  <cp:lastModifiedBy>Hongfei Yan</cp:lastModifiedBy>
  <cp:revision>1</cp:revision>
  <dcterms:created xsi:type="dcterms:W3CDTF">2026-09-22T06:14:58Z</dcterms:created>
  <dcterms:modified xsi:type="dcterms:W3CDTF">2026-09-22T06:14:58Z</dcterms:modified>
</cp:coreProperties>
</file>