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310" r:id="rId61"/>
    <p:sldId id="311" r:id="rId62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2" r:id="rId63"/>
    <p:sldId id="282" r:id="rId28"/>
    <p:sldId id="283" r:id="rId29"/>
    <p:sldId id="284" r:id="rId30"/>
    <p:sldId id="285" r:id="rId31"/>
    <p:sldId id="286" r:id="rId32"/>
    <p:sldId id="287" r:id="rId33"/>
    <p:sldId id="313" r:id="rId64"/>
    <p:sldId id="314" r:id="rId65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22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4.xml"/><Relationship Id="rId25" Type="http://schemas.openxmlformats.org/officeDocument/2006/relationships/slide" Target="slides/slide35.xml"/><Relationship Id="rId26" Type="http://schemas.openxmlformats.org/officeDocument/2006/relationships/slide" Target="slides/slide36.xml"/><Relationship Id="rId27" Type="http://schemas.openxmlformats.org/officeDocument/2006/relationships/slide" Target="slides/slide37.xml"/><Relationship Id="rId28" Type="http://schemas.openxmlformats.org/officeDocument/2006/relationships/slide" Target="slides/slide39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7.xml"/><Relationship Id="rId35" Type="http://schemas.openxmlformats.org/officeDocument/2006/relationships/slide" Target="slides/slide48.xml"/><Relationship Id="rId36" Type="http://schemas.openxmlformats.org/officeDocument/2006/relationships/slide" Target="slides/slide49.xml"/><Relationship Id="rId37" Type="http://schemas.openxmlformats.org/officeDocument/2006/relationships/slide" Target="slides/slide50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53.xml"/><Relationship Id="rId41" Type="http://schemas.openxmlformats.org/officeDocument/2006/relationships/slide" Target="slides/slide54.xml"/><Relationship Id="rId42" Type="http://schemas.openxmlformats.org/officeDocument/2006/relationships/slide" Target="slides/slide55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4.xml"/><Relationship Id="rId63" Type="http://schemas.openxmlformats.org/officeDocument/2006/relationships/slide" Target="slides/slide38.xml"/><Relationship Id="rId64" Type="http://schemas.openxmlformats.org/officeDocument/2006/relationships/slide" Target="slides/slide45.xml"/><Relationship Id="rId65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这页把稀疏矩阵乘法拆成三步，先不管怎么省空间，先保证好理解：</a:t>
            </a:r>
          </a:p>
          <a:p>
            <a:r>
              <a:rPr lang="zh-CN" dirty="0"/>
              <a:t>① 把三元组还原成普通矩阵：(行,列,值) 放进 M[行][列]，其余全是 0。</a:t>
            </a:r>
          </a:p>
          <a:p>
            <a:r>
              <a:rPr lang="zh-CN" dirty="0"/>
              <a:t>② 用第 12 页学过的 matmul 做普通矩阵乘法，一行都不用改。例：C 的第 1 行 = 2 × B 的第 2 行 = [8,0,10]。</a:t>
            </a:r>
          </a:p>
          <a:p>
            <a:r>
              <a:rPr lang="zh-CN" dirty="0"/>
              <a:t>③ 把结果里的非零元扫出来转回三元组：按行、再按列顺序扫，输出天然有序，值为 0 的不输出。</a:t>
            </a:r>
          </a:p>
          <a:p>
            <a:r>
              <a:rPr lang="zh-CN" dirty="0"/>
              <a:t>结果：(0,1,3) (1,0,8) (1,2,10)。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这一页是把前两页的故事换成通用语言，对照着讲：任意一个最优解 OPT = 任意一个最优排法；相邻反了的就交换 = 长的在前短的在后就互换；逆序对 = 反了的对数。最后一句要强调：只证明了规则的排法能取到最优值，不是说它唯一，贪心需要的就是这一句。</a:t>
            </a:r>
          </a:p>
          <a:p>
            <a:r>
              <a:t>术语：OPT 是 optimal 的缩写，指任意一个最优解；R 是你提出的贪心规则，R 序就是按它排出来的顺序。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回到前面的故事：为什么只能换相邻的人？因为相邻互换时，只有这两人的位置变了，其他人前面的总时间不变。若隔着一个人去换，中间那个人的等待也变了，算式里会混进无关的量，就推不出干净的结论。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这一页是反过来用：不是先猜规则再证明，而是用交换直接算出规则。设相邻两段 a、b，写出 a 在前、b 在前各自的结果，令前者不差于后者，不等式就是排序键。12559 里是 a+b 与 b+a。注意 a、b 本身长度可以不同，但 a+b 和 b+a 长度一样，所以按字符串比较就是按数值比较。</a:t>
            </a:r>
          </a:p>
          <a:p>
            <a:r>
              <a:t>推导补充：相邻互换只改变整串里这一段，a 在前是 a+b，b 在前是 b+a，二者等长、位权相同，所以整串的大小就由这一段决定。要最大，就让 a+b ≥ b+a 的那个在前。例子：3 和 30，330 比 303 大，所以 3 在前。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推出规则后一定要对拍。用全排列暴力的最大值和规则排序的结果比较，随机 300 组都要相等。强调：推导会出错，对拍不会。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最后两个提醒。一是规则要满足传递性，浮点数当键最容易翻车；二是交换只能影响这两项，如果代价依赖全局量就要重算。表格里的两种形态：排序型贪心用相邻交换，选择型贪心（第 10 周区间问题）用首元素替换。</a:t>
            </a:r>
          </a:p>
          <a:p>
            <a:r>
              <a:t>术语：全序 = 任意两项都能比较、结果前后一致、满足传递。反例是石头剪刀布：a 胜 b、b 胜 c、c 胜 a，排不出唯一顺序。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先不要讲证明，讲故事。两个人打水，张三 5 分钟，李四 1 分钟。让同学自己猜谁先。算一下：张三先，总等待 5；李四先，总等待 1。所以短的先更好。再问一句：队伍里其他人会受影响吗？不会——这两个人合起来占用的时间不变，后面的人等的时间一样。强调：这就是「交换」，把相邻两个人换个位置，只影响这两个人，别人不动。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一次交换升级成证明。关键思想：不要试遍所有排法，而是证明「任何最优排法都能一步步改成短的先，而且改的过程中不会变差」。反问同学：如果一个排法不是短的先，一定能找到相邻的一对反了的吗？是的（否则整队就已经是短的先了）。每换一次反了的对数少一，所以一定会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代码就是把上页三步写成三个函数。to_dense 还原，to_sparse 用推导式按行优先扫描非零元，sparse_matmul 把它们连起来，中间调用第 12 页的 matmul。</a:t>
            </a:r>
          </a:p>
          <a:p>
            <a:r>
              <a:rPr lang="zh-CN" dirty="0"/>
              <a:t>注意：to_dense 要开 n×n 的空间，n 不大时最稳；输入输出格式以题面为准，读入后组成 a_items、b_items，再按行列升序输出。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这是进阶写法，不转换成普通矩阵，直接在三元组上乘。思路还是“A 的一个数乘 B 的一整行”，只是只乘非零元。</a:t>
            </a:r>
          </a:p>
          <a:p>
            <a:r>
              <a:rPr lang="zh-CN" dirty="0"/>
              <a:t>brow[t] 存 B 第 t 行的非零元；A 的每个非零元 (i,t,v) 配上 brow[t] 里的 (j,w)，把 v*w 累加到 acc[(i,j)]，字典代替 C。</a:t>
            </a:r>
          </a:p>
          <a:p>
            <a:r>
              <a:rPr lang="zh-CN" dirty="0"/>
              <a:t>怎么选：转换法好懂但占 n² 空间；直接法只和非零元个数有关，n 很大时用。先保证做对，再考虑省空间。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节省存储的矩阵乘法：稀疏 → 普通矩阵 → 稀疏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① 三元组 → 普通矩阵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A：(0,0,1) (1,2,2)</a:t>
            </a:r>
          </a:p>
        </p:txBody>
      </p:sp>
      <p:sp>
        <p:nvSpPr>
          <p:cNvPr id="104" name="Shape 104"/>
          <p:cNvSpPr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6" name="Shape 106"/>
          <p:cNvSpPr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08" name="Shape 108"/>
          <p:cNvSpPr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0" name="Shape 110"/>
          <p:cNvSpPr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2" name="Shape 112"/>
          <p:cNvSpPr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4" name="Shape 114"/>
          <p:cNvSpPr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8" name="Shape 118"/>
          <p:cNvSpPr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0" name="Shape 120"/>
          <p:cNvSpPr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1457200" y="17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(行,列,值) 放进 M[行][列]，其余格子全是 0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87200" y="25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B：(0,1,3) (2,0,4) (2,2,5)</a:t>
            </a:r>
          </a:p>
        </p:txBody>
      </p:sp>
      <p:sp>
        <p:nvSpPr>
          <p:cNvPr id="124" name="Shape 124"/>
          <p:cNvSpPr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6" name="Shape 126"/>
          <p:cNvSpPr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8" name="Shape 128"/>
          <p:cNvSpPr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0" name="Shape 130"/>
          <p:cNvSpPr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2" name="Shape 132"/>
          <p:cNvSpPr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4" name="Shape 134"/>
          <p:cNvSpPr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6" name="Shape 136"/>
          <p:cNvSpPr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38" name="Shape 138"/>
          <p:cNvSpPr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40" name="Shape 140"/>
          <p:cNvSpPr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1457200" y="29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黄色格 = 三元组里的非零元</a:t>
            </a:r>
          </a:p>
        </p:txBody>
      </p:sp>
      <p:sp>
        <p:nvSpPr>
          <p:cNvPr id="143" name="Text 143"/>
          <p:cNvSpPr txBox="1"/>
          <p:nvPr/>
        </p:nvSpPr>
        <p:spPr>
          <a:xfrm>
            <a:off x="587200" y="3750000"/>
            <a:ext cx="239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n×n 的二维列表，用 to_dense 函数完成。</a:t>
            </a:r>
          </a:p>
        </p:txBody>
      </p:sp>
      <p:sp>
        <p:nvSpPr>
          <p:cNvPr id="144" name="Shape 144"/>
          <p:cNvSpPr/>
          <p:nvPr/>
        </p:nvSpPr>
        <p:spPr>
          <a:xfrm>
            <a:off x="32470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33770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② 按普通矩阵相乘</a:t>
            </a:r>
          </a:p>
        </p:txBody>
      </p:sp>
      <p:sp>
        <p:nvSpPr>
          <p:cNvPr id="146" name="Text 146"/>
          <p:cNvSpPr txBox="1"/>
          <p:nvPr/>
        </p:nvSpPr>
        <p:spPr>
          <a:xfrm>
            <a:off x="337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47" name="Text 147"/>
          <p:cNvSpPr txBox="1"/>
          <p:nvPr/>
        </p:nvSpPr>
        <p:spPr>
          <a:xfrm>
            <a:off x="442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48" name="Shape 148"/>
          <p:cNvSpPr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50" name="Shape 150"/>
          <p:cNvSpPr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2" name="Shape 152"/>
          <p:cNvSpPr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4" name="Shape 154"/>
          <p:cNvSpPr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5" name="Text 155"/>
          <p:cNvSpPr txBox="1"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6" name="Shape 156"/>
          <p:cNvSpPr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8" name="Shape 158"/>
          <p:cNvSpPr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60" name="Shape 160"/>
          <p:cNvSpPr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2" name="Shape 162"/>
          <p:cNvSpPr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4" name="Shape 164"/>
          <p:cNvSpPr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6" name="Text 166"/>
          <p:cNvSpPr txBox="1"/>
          <p:nvPr/>
        </p:nvSpPr>
        <p:spPr>
          <a:xfrm>
            <a:off x="416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67" name="Shape 167"/>
          <p:cNvSpPr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71" name="Shape 171"/>
          <p:cNvSpPr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3" name="Shape 173"/>
          <p:cNvSpPr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5" name="Shape 175"/>
          <p:cNvSpPr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7" name="Shape 177"/>
          <p:cNvSpPr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9" name="Shape 179"/>
          <p:cNvSpPr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1" name="Shape 181"/>
          <p:cNvSpPr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Text 185"/>
          <p:cNvSpPr txBox="1"/>
          <p:nvPr/>
        </p:nvSpPr>
        <p:spPr>
          <a:xfrm>
            <a:off x="519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86" name="Shape 186"/>
          <p:cNvSpPr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7" name="Text 187"/>
          <p:cNvSpPr txBox="1"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8" name="Shape 188"/>
          <p:cNvSpPr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9" name="Text 189"/>
          <p:cNvSpPr txBox="1"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0" name="Shape 190"/>
          <p:cNvSpPr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2" name="Shape 192"/>
          <p:cNvSpPr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94" name="Shape 194"/>
          <p:cNvSpPr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5" name="Text 195"/>
          <p:cNvSpPr txBox="1"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6" name="Shape 196"/>
          <p:cNvSpPr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7" name="Text 197"/>
          <p:cNvSpPr txBox="1"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198" name="Shape 198"/>
          <p:cNvSpPr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9" name="Text 199"/>
          <p:cNvSpPr txBox="1"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0" name="Shape 200"/>
          <p:cNvSpPr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1" name="Text 201"/>
          <p:cNvSpPr txBox="1"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2" name="Shape 202"/>
          <p:cNvSpPr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3377000" y="317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4297000" y="2400000"/>
            <a:ext cx="1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 第 1 行 = 2 × B 第 2 行 = [8, 0, 10]</a:t>
            </a:r>
          </a:p>
        </p:txBody>
      </p:sp>
      <p:sp>
        <p:nvSpPr>
          <p:cNvPr id="206" name="Text 206"/>
          <p:cNvSpPr txBox="1"/>
          <p:nvPr/>
        </p:nvSpPr>
        <p:spPr>
          <a:xfrm>
            <a:off x="33770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就是第 12 页的 matmul(A, B)，不用改。</a:t>
            </a:r>
          </a:p>
        </p:txBody>
      </p:sp>
      <p:sp>
        <p:nvSpPr>
          <p:cNvPr id="207" name="Shape 207"/>
          <p:cNvSpPr/>
          <p:nvPr/>
        </p:nvSpPr>
        <p:spPr>
          <a:xfrm>
            <a:off x="60368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1668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③ 非零元 → 三元组</a:t>
            </a:r>
          </a:p>
        </p:txBody>
      </p:sp>
      <p:sp>
        <p:nvSpPr>
          <p:cNvPr id="209" name="Shape 209"/>
          <p:cNvSpPr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3" name="Shape 213"/>
          <p:cNvSpPr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5" name="Shape 215"/>
          <p:cNvSpPr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17" name="Shape 217"/>
          <p:cNvSpPr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Shape 219"/>
          <p:cNvSpPr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20" name="Text 220"/>
          <p:cNvSpPr txBox="1"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21" name="Shape 221"/>
          <p:cNvSpPr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3" name="Shape 223"/>
          <p:cNvSpPr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5" name="Shape 225"/>
          <p:cNvSpPr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7" name="Text 227"/>
          <p:cNvSpPr txBox="1"/>
          <p:nvPr/>
        </p:nvSpPr>
        <p:spPr>
          <a:xfrm>
            <a:off x="7036800" y="1450000"/>
            <a:ext cx="15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按行、再按列扫一遍，遇到非 0 就记下 (行,列,值)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6166800" y="2400000"/>
            <a:ext cx="239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输出：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(0,1,3)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(1,0,8)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(1,2,10)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61668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顺序扫描，结果天然按 (行,列) 升序；值为 0 的不输出。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的代码：三个函数连起来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230" name="Shape 230"/>
          <p:cNvSpPr/>
          <p:nvPr/>
        </p:nvSpPr>
        <p:spPr>
          <a:xfrm>
            <a:off x="457200" y="960120"/>
            <a:ext cx="53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587200" y="1010000"/>
            <a:ext cx="50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to_dense(n, 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M = [[0] * n for _ in range(n)]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M[r][c] = v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M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to_sparse(M):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x)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i, row in enumerate(M)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j, x in enumerate(row) if x != 0]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 = to_dense(n, a_items)       # ① 还原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 = to_dense(n, b_items)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C = matmul(A, B)               # ② 相乘（第 12 页）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to_sparse(C)            # ③ 转回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print(sparse_matmul(3, [(0,0,1), (1,2,2)],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       [(0,1,3), (2,0,4), (2,2,5)]))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# [(0, 1, 3), (1, 0, 8), (1, 2, 10)]</a:t>
            </a:r>
          </a:p>
        </p:txBody>
      </p:sp>
      <p:sp>
        <p:nvSpPr>
          <p:cNvPr id="232" name="Shape 232"/>
          <p:cNvSpPr/>
          <p:nvPr/>
        </p:nvSpPr>
        <p:spPr>
          <a:xfrm>
            <a:off x="5940080" y="960120"/>
            <a:ext cx="2746720" cy="17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6060080" y="1020000"/>
            <a:ext cx="2506720" cy="1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读代码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to_dense：把三元组放回格子。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to_sparse：行优先扫描，非 0 才记。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sparse_matmul 只是把三步连起来。</a:t>
            </a:r>
          </a:p>
        </p:txBody>
      </p:sp>
      <p:sp>
        <p:nvSpPr>
          <p:cNvPr id="234" name="Shape 234"/>
          <p:cNvSpPr/>
          <p:nvPr/>
        </p:nvSpPr>
        <p:spPr>
          <a:xfrm>
            <a:off x="5940080" y="2820000"/>
            <a:ext cx="2746720" cy="191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35" name="Text 235"/>
          <p:cNvSpPr txBox="1"/>
          <p:nvPr/>
        </p:nvSpPr>
        <p:spPr>
          <a:xfrm>
            <a:off x="6060080" y="2880000"/>
            <a:ext cx="2506720" cy="1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注意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先 to_dense 要占 n² 空间；n 不大时最稳。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输入输出格式以题面为准：读入后组成 a_items、b_items，再按行、列升序输出三元组。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进阶：直接在三元组上乘（省空间）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36" name="Shape 236"/>
          <p:cNvSpPr/>
          <p:nvPr/>
        </p:nvSpPr>
        <p:spPr>
          <a:xfrm>
            <a:off x="457200" y="960120"/>
            <a:ext cx="47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587200" y="1010000"/>
            <a:ext cx="44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brow = defaultdict(list)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b_items: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brow[r].append((c, v))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acc = defaultdict(int)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i, t, v in a_items: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j, w in brow.get(t, ()):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acc[(i, j)] += v * w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v)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(i, j), v in sorted(acc.items())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if v != 0]</a:t>
            </a:r>
          </a:p>
        </p:txBody>
      </p:sp>
      <p:sp>
        <p:nvSpPr>
          <p:cNvPr id="238" name="Shape 238"/>
          <p:cNvSpPr/>
          <p:nvPr/>
        </p:nvSpPr>
        <p:spPr>
          <a:xfrm>
            <a:off x="5340080" y="960120"/>
            <a:ext cx="3346720" cy="20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9" name="Text 239"/>
          <p:cNvSpPr txBox="1"/>
          <p:nvPr/>
        </p:nvSpPr>
        <p:spPr>
          <a:xfrm>
            <a:off x="5460080" y="1020000"/>
            <a:ext cx="310672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进阶：不转换，直接在三元组上算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brow[t]：B 第 t 行的非零元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的每个非零元 (i,t,v) 配上 brow[t] 里的 (j,w)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acc[(i,j)] += v*w：字典当作 C，没出现的位置就是 0</a:t>
            </a:r>
          </a:p>
        </p:txBody>
      </p:sp>
      <p:sp>
        <p:nvSpPr>
          <p:cNvPr id="240" name="Shape 240"/>
          <p:cNvSpPr/>
          <p:nvPr/>
        </p:nvSpPr>
        <p:spPr>
          <a:xfrm>
            <a:off x="5340080" y="3070000"/>
            <a:ext cx="3346720" cy="166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5460080" y="3130000"/>
            <a:ext cx="310672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两种写法怎么选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转换法：好懂，占 n² 空间。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直接法：只和非零元个数有关，n 很大时用。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先保证做对，再考虑省空间。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正确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 贪心错了，最优是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贪心错在哪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凑 6 时贪心先拿最大的 4，剩下 2 只能 1+1，共 3 枚；而 3+3 只要 2 枚。局部最优不等于全局最优——下一页用 dp_coins 求真正的最优解。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找零问题：dp_coins 给出真正的最优解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dp[i] 表示凑出金额 i 的最少枚数：对每个面额 c，dp[i] = min(dp[i], dp[i-c] + 1)。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dp_coins(coins,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+ [INF] *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amount + 1):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&lt;= i and dp[i - c] + 1 &lt; dp[i]: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 = dp[i - c] + 1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dp[amount] if dp[amount] &lt; INF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用「枚举所有子问题的最优值」接管；这里先看效果（greedy_coins 见上一页），DP 的完整方法第 11 周细讲。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先看一个排队打水的故事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两个人排队打水：张三要 5 分钟，李四只要 1 分钟。谁排前面，大家「等待的总时间」更短？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张三在前，李四在后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李四要等 5 分钟，张三不用等：总等待 0 + 5 = 5 分钟。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李四在前，张三在后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张三只等 1 分钟，李四不用等：总等待 0 + 1 = 1 分钟。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队伍里其他人受影响吗？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不受影响：这两人合计占用的时间不变，后面的人等待的时间一样。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相邻两人「长的在前、短的在后」，互换一下，总等待只会变少、别人不受影响。这次互换就是「交换论证」里的「交换」。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从一次交换到一个证明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我们想证明「短的先」是最优排法，但不用把所有排法试一遍。换个思路：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假设有一个最优排法，但它不是「短的先」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那队伍里一定有相邻的一对：长的在前、短的在后。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把这一对互换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上一页算过：互换不会让总等待变多。所以换完仍然是最优。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反复互换，直到全队「短的先」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每换一次，「反了的」少一对，不会换个没完；而且全程没变差。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任何最优排法都能一步步「掰」成短的先，而且越掰越不差——所以「短的先」本身就是最优。这就是交换论证。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把故事写成标准三步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把刚才的故事换成通用说法。要证「按规则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不假设它长什么样（故事里：任意一个最优排法）。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证明目标函数不会变差（故事里：总等待不会变多）。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每交换一次，「反了的」至少少一对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注：OPT = optimal，指「任意一个最优解」；R = 你提出的贪心规则（如「短的先」），按它排出来的顺序叫「R 序」。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结论（令前者不差于后者）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a+b ≥ b+a 时，a 应排在前面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b+a ≥ a+b 时，b 应排在前面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017520"/>
            <a:ext cx="8229600" cy="14173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 与 b+a 等长，只需比较这两段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401568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与 b+a 长度相同，位权一样，整串谁大就取决于这一段谁大。所以 a 应排在 b 前面 ⟺ a+b &gt; b+a，排序键就这么推出来了。例：a=3、b=30，330 &gt; 303，所以 3 排在 30 前；字典序会把更长的 30 排前面，得 303，错。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  <p:sp>
        <p:nvSpPr>
          <p:cNvPr id="39" name="TextBox 38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注：全序 = 任意两项都能比较、结果前后一致且可传递（a 在 b 前、b 在 c 前，则 a 在 c 前）；若出现「石头剪刀布」式循环，就不是全序。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