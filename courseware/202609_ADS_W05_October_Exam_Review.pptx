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5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月月考与阶段复习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 · 月考样卷 6 题 · 考后订正方法 · 考场策略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周知识清单自检（语法容器 · 计算机基础 · 复杂度）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月考样卷：6 题，含题面 / 样例 / 思路 / C++ 与 Python 参考代码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 · 考后订正的三分类方法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机房考试流程与考场策略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月考不是筛人，是体检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它要在 11 月的核心内容（DP、搜索）开始之前，把三件事暴露出来：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AI、没有搜索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的情况下，写出正确的循环、分支、字符串处理？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342900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速度关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同样的思路，112 分钟能写完 6 题还是 2 题？打字与编辑速度够不够？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9659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21214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700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调试关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WA 能不能自己造数据定位？有没有独立排错的能力？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8862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考砸了不要紧，考完不订正才要紧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7024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本周讲义第 5 节给了订正的具体方法——分类、关题解重写、记录错误类型。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自检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月考的定位：体检的三件事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考试形式：112 分钟 / 6 题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第 1–4 周知识清单（逐条打勾）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常用模板（写进 cheat sheet）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样卷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月考样卷：难度梯度 T1→T6（C++ / Python 双解）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每题：题面 · 思路 · C++ 与 Python 代码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备选题库（可替换样卷任意一题）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之后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考后订正：三分类 + 重写规则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建立自己的错题类型表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考场策略：112 分钟时间预算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本周作业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月考的定位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题，与期末机考同规格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 · 三件要暴露的事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月考的定位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考试形式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机房（具体安排以通知为准）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112 分钟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OpenJudge（cs101 小组）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3 为主，允许 C++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十页 A4，双面，手写或打印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AI 工具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（含本地模型）、联网查询、任何形式的交流。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3767328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858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415137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，按学术不端处理。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1–4 周知识清单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逐条打勾，打不了勾的就是这周要补的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语法与容器 · 计算机基础 · 复杂度 · 常用模板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语法与容器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逐条打勾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三种输入形态：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int(input())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map(int, input().split())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list(map(...))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不定行输入：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try/except EOFError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print(*a)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f"{x:.2f}"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sep=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end=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swapcase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列表：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sorted(key=)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切片、列表推导式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二维列表正确建法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（不能用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defaultdict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的基本用法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enumerate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range(start, stop, step)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计算机基础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进制转换：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bin/oct/hex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int(s, base)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、除基取余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补码：负数 = 取反加一；n 位范围 −2ⁿ⁻¹ ~ 2ⁿ⁻¹−1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位运算：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&lt;&lt;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(n-1)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1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ASCII：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'0'=48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'A'=65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'a'=97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</a:t>
            </a:r>
            <a:endParaRPr lang="en-US" sz="14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浮点：不能用 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比较；</a:t>
            </a: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要校正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自检打不了勾？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回第 3 周讲义《计算机原理（1/2）》对应小节重看一遍，本周样卷的 T3（C++ 64 位整数溢出）、T4（筛法）直接考这些。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周内容自检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能说出 list / set / dict 各操作的复杂度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能从 n 的范围倒推可用的复杂度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 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lst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lst.pop(0)</a:t>
            </a: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、循环内字符串拼接是 O(n) 的坑</a:t>
            </a:r>
            <a:endParaRPr lang="en-US" sz="145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会写埃氏筛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本周样卷怎么用到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84448"/>
            <a:ext cx="8010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T4：T 组询问若每次现场试除会 TLE，要先筛一次、再查表。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 / T5：先排序（O(n log n)）再贪心，不要两两枚举（O(n²)）。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T6：每批警员只入队、出队一次，用队列而不是每次扫全体。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sheet（1/3）：快速输入与最大公约数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快速输入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多组数据直到 EOF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sys.stdin: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 = line.strip()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line: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最大公约数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b: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% b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是本课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推荐的大数据量读入方式；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gcd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是数论题最常见的子过程，第 6 周开始会反复用到。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sheet（2/3）：素数筛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97280"/>
            <a:ext cx="80832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4) 素数筛（埃拉托斯特尼筛法）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sieve(n):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[True] * (n + 1)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p[0] = p[1]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= 2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* i &lt;=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p[i]: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j in range(i * i, n + 1, i):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p[j] = False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 += 1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i*i 开始标记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小于 i*i 的 i 的倍数（如 2i、3i、…）已经被更小的质因子标记过了；从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i*i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开始能省掉大量重复标记，这是埃氏筛复杂度 O(n log log n) 的关键。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知识清单 · 常用模板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 cheat sheet（3/3）：排序与前缀和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5) 按多关键字排序（先按第 2 项升序，再按第 1 项降序）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(r[1], -r[0]))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6) 二维前缀和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 = [[0] * (n + 1) for _ in range(m + 1)]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pre[i + 1][j + 1] = pre[i][j + 1] + pre[i + 1][j] - pre[i][j] + a[i][j]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1868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-kv[1]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让「按次数降序」也能用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的默认升序实现——数值取负，字符串没法取负，所以字典序仍升序、次数用负号降序，两个方向一次搞定。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是矩阵左上角 (0,0) 到 (i-1,j-1) 的和；查询任意子矩阵和只需 O(1)。第 6 周会展开讲。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月考样卷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三次月考与期末上机考试同一规格：6 题 / 112 分钟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 T1 → T6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难度梯度：从签到到综合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E31295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0515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★☆☆☆☆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05156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宿舍的空调 · 公共区间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069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1069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81912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58191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E31294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15819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15819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大肥鱼卖白饭 · 找零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0" y="16002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0" y="1600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112264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11226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E31293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211226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211226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双十一凑单大作战 · 买三免一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0" y="2130552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0" y="21305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2642616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264261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M31297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2642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2642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恒星共振裂变 · 质数拆分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83680" y="2660904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266090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172968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31729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M31296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31729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743200" y="31729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“淹园”救援 · 救援小艇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83680" y="3191256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0" y="319125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703320"/>
            <a:ext cx="64008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" y="37033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T31298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234440" y="37033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743200" y="370332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警察招募又来了 · 警员招募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83680" y="372160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83680" y="37216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每题均给出 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两份参考代码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。月考的意义就在于：提前把机考的题量与时间压力演练一遍——</a:t>
            </a:r>
            <a:r>
              <a:rPr lang="en-US" sz="11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T1 E31295 宿舍的空调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取交集：最大的 l 与最小的 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位同学，第 i 位能接受闭区间 [lᵢ, rᵢ] 内的任意整数温度（n ≤ 10⁵，|l|,|r| ≤ 10⁹）。空调只能设一个整数温度，求所有人都接受的最低温度；不存在输出 -1。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1261872"/>
          </a:xfrm>
          <a:prstGeom prst="roundRect">
            <a:avLst>
              <a:gd name="adj" fmla="val 5797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18 25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20 30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16 22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1261872"/>
          </a:xfrm>
          <a:prstGeom prst="roundRect">
            <a:avLst>
              <a:gd name="adj" fmla="val 579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278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3192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交集 = [max l, min r]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611880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所有区间的公共部分就是 [max(lᵢ), min(rᵢ)]。若 max l ≤ min r，最低可行温度就是 max l；否则无解。一遍扫描 O(n)，不用存数组。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题目：cs101.openjudge.cn/practice/31295/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T1 E31295 宿舍的空调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long lo = -1e9, hi = 1e9, l, r;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(n--)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cin &gt;&gt; l &gt;&gt; r;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 = max(lo, l);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hi = min(hi, r);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(lo &lt;= hi ? lo : -1)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lo, hi = -10**9, 10**9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l, r = map(int, input().split())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max(lo, l), min(hi, r)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 if lo &lt;= hi else -1)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T2 E31294 大肥鱼卖白饭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贪心找零：20 元优先用 10+5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 5 元，n 位顾客依次付 5 / 10 / 20 元的一张纸币，开始时没有零钱，不能赊账、不能换序。判断能否依次正确找零（n ≤ 10⁵）。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5 5 10 5 20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5 10 20 5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98648"/>
            <a:ext cx="8229600" cy="1536192"/>
          </a:xfrm>
          <a:prstGeom prst="roundRect">
            <a:avLst>
              <a:gd name="adj" fmla="val 47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90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只需记 5 元、10 元的张数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7955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 5 元：不用找；付 10 元：找一张 5；付 20 元：优先找 10+5，没有再找 5+5+5。5 元比 10 元更万能，所以要把 5 元留到最后用。一旦失败，该人及之后的找零都不再成立，答案为 NO。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题目：cs101.openjudge.cn/practice/31294/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T2 E31294 大肥鱼卖白饭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n, b, c5 = 0, c10 = 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bool ok = true;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(n--)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cin &gt;&gt; b;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(b == 5) c5++;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(b == 10)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(c5 &gt; 0) c5--, c10++;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ok = false;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 else {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20：优先找 10+5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(c10 &gt; 0 &amp;&amp; c5 &gt; 0) c10--, c5--;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if (c5 &gt;= 3) c5 -= 3;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ok = false;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(ok ? "YES" : "NO")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c5 = c10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=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b in map(int, input().split()):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== 5: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c5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b == 10: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c5 &gt;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c5 -=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c10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ok = False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20：优先找 10+5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c10 &gt; 0 and c5 &gt;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c10 -=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c5 -=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c5 &gt;= 3: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c5 -= 3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ok = False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print("YES" if ok else "NO")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T3 E31293 双十一凑单大作战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从大到小排序，免第 3、6、9… 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件商品价格 pᵢ（n ≤ 10⁵，pᵢ ≤ 10⁹）。可任选恰好 3 件成一组，组内最便宜的免费；每件至多属于一组。求买下全部商品的最少支付金额。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3 2 1 10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6 5 5 5 2 1 1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98648"/>
            <a:ext cx="8229600" cy="1536192"/>
          </a:xfrm>
          <a:prstGeom prst="roundRect">
            <a:avLst>
              <a:gd name="adj" fmla="val 47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90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相邻的三件价格最接近，免掉的最多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7955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从大到小排序后每 3 件一组，免掉每组最小的一件，即第 3、6、9… 件。总价最大 10¹⁴，超过 32 位：C++ 必须用 long long，Python 无需担心。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题目：cs101.openjudge.cn/practice/31293/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T3 E31293 双十一凑单大作战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vector&lt;long long&gt; p(n);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long sum = 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(auto &amp;x : p) cin &gt;&gt; x, sum += x;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sort(p.rbegin(), p.rend());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降序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2; i &lt; n; i += 3)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免单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sum -= p[i];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sum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sorted(map(int, input().split()), reverse=True)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降序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print(sum(p) - sum(p[2::3]))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 3、6、9… 件免单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T4 M31297 恒星共振裂变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先筛后查：从 N/2 向下找第一对质数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组数据（T ≤ 10⁴），每组给偶数 N（4 ≤ N ≤ 10⁶），把 N 拆成两个质数 p₁ + p₂（p₁ ≤ p₂），使乘积最大。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1591056"/>
          </a:xfrm>
          <a:prstGeom prst="roundRect">
            <a:avLst>
              <a:gd name="adj" fmla="val 459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8083296" cy="1499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5 11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557016"/>
            <a:ext cx="8229600" cy="877824"/>
          </a:xfrm>
          <a:prstGeom prst="roundRect">
            <a:avLst>
              <a:gd name="adj" fmla="val 8333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64845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和一定时，两数越接近乘积越大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941064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10⁶ 以内的素数筛（每组数据现场试除会 TLE）。对每个 N 从 N/2 开始向下找第一个 p，使 p 和 N−p 都是质数——质数分布密，通常只需试很少几步。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题目：cs101.openjudge.cn/practice/31297/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T4 M31297 恒星共振裂变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N = 1000000;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comp[N + 1];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true 表示合数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comp[0] = comp[1] = true;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2; i * i &lt;= N; i++)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(!comp[i])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(int j = i * i; j &lt;= N; j += i)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comp[j] = true;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t,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(t--)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cin &gt;&gt; n;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 p = n / 2;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两数越接近乘积越大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(comp[p] || comp[n - p]) p--;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cout &lt;&lt; p &lt;&lt; " " &lt;&lt; n - p &lt;&lt; "\n";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10**6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= bytearray([1]) * (N + 1)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表示质数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ok[0] = ok[1]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range(2, int(N**0.5) + 1):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ok[i]: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ok[i * i::i] = bytes(len(ok[i * i::i]))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range(int(input())):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n // 2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两数越接近乘积越大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not (ok[p] and ok[n - p]):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print(p, n - p)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T5 M31296 “淹园”救援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双指针：最轻配最重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名学生体重 wᵢ，小艇载重上限 C，每艘最多 2 人且体重和 ≤ C，保证 wᵢ ≤ C（n ≤ 10⁵）。求转移所有学生最少需要的小艇数。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3 2 2 1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5 3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3 2 2 1 1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98648"/>
            <a:ext cx="8229600" cy="1536192"/>
          </a:xfrm>
          <a:prstGeom prst="roundRect">
            <a:avLst>
              <a:gd name="adj" fmla="val 47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90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最重的人必占一艘艇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7955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 l 指最轻、r 指最重。最重的人无论如何要占一艘；若最轻的能和他同乘就一起走（l 前进），否则他单独走。每轮 r 前进、艇数 +1，O(n log n)。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题目：cs101.openjudge.cn/practice/31296/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T5 M31296 “淹园”救援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n, c;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 &gt;&gt; c;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vector&lt;int&gt; w(n);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(auto &amp;x : w) cin &gt;&gt; x;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sort(w.begin(), w.end());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l = 0, r = n - 1, boats = 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(l &lt;= r)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(l &lt; r &amp;&amp; w[l] + w[r] &lt;= c)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l++;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最轻的搭最重的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r--;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最重的必占一艘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boats++;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boats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c = map(int, input().split())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sorted(map(int, input().split()))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l, r, boats = 0, n - 1,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l &lt;= r: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 &lt; r and w[l] + w[r] &lt;= c: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 += 1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最轻的搭最重的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-= 1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最重的必占一艘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boats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print(boats)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T6 T31298 警察招募又来了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队列存「过期时刻 + 人数」，按入伍先后派出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1…n 分钟各发生一个事件：aᵢ = x（1 ≤ x ≤ 10）表示招募 x 名警员，aᵢ = -1 表示一起犯罪。警员第 t 分钟入伍，只能处理 [t, t+k−1] 内的犯罪，且至多处理一起；有空闲警员时派最早入伍者。求无法处理的犯罪数。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6 2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1 -1 -1 -1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627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4023360" cy="932688"/>
          </a:xfrm>
          <a:prstGeom prst="roundRect">
            <a:avLst>
              <a:gd name="adj" fmla="val 784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36592" y="1874520"/>
            <a:ext cx="3877056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5 -1 3 -1 -1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98648"/>
            <a:ext cx="8229600" cy="1536192"/>
          </a:xfrm>
          <a:prstGeom prst="roundRect">
            <a:avLst>
              <a:gd name="adj" fmla="val 47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990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批次入队，队首优先、过期弹出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282696"/>
            <a:ext cx="7955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每批警员记为 (过期时刻 = t+k−1, 人数) 入队。遇到犯罪时先把队首已过期的批次弹出；队列空则 +1 计数，否则队首人数 −1，减到 0 就弹出。每批最多入队、出队各一次，O(n)。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题目：cs101.openjudge.cn/practice/31298/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月考样卷 · T6 T31298 警察招募又来了 · 参考代码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与 Python 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8961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43000"/>
            <a:ext cx="41148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188720"/>
            <a:ext cx="39684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&lt;bits/stdc++.h&gt;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std;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n, k, a, bad = 0;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n &gt;&gt; k;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queue&lt;pair&lt;int, int&gt;&gt; q;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过期时刻,人数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1; i &lt;= n; i++)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cin &gt;&gt; a;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(a &gt; 0)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q.push({i + k - 1, a});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continue;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(!q.empty() &amp;&amp;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q.front().first &lt; i)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q.pop();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(q.empty()) bad++;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(--q.front().second == 0)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q.pop();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bad &lt;&lt; endl;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188720"/>
            <a:ext cx="387705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deque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map(int, input().split())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deque()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[过期时刻, 人数]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bad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a in enumerate(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map(int, input().split()), 1):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 &gt;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q.append([i + k - 1, a])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q and q[0][0] &lt; i: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q.popleft()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q: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bad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q[0][1]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q[0][1] == 0: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q.popleft()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print(bad)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备选题库与考后订正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可替换样卷任意一题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 · 重写规则 · 错题类型表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可替换样卷中的任意一题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1920240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输入输出 / 分支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鸡兔同笼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 / 读题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判断闰年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取模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7 无关的数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02701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 / 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 / 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生日相同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素数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验证「歌德巴赫猜想」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E03143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数学 / 枚举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2050 年成绩计算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E18176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唯一有效的方法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考完试，按下面的流程走一遍。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只看题解不重写，等于没订正。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  <a:gridCol w="41148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看完题解才懂思路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重做同类题 3 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2B13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会但写错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思路对，代码有 bug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找出 bug 的</a:t>
                      </a: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，写进 cheat sheet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会但没时间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 10 分钟才开始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练打字 + 练模板默写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重写规则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959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关掉题解，从空文件重写，一次通过。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做不到就再来一遍。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考后订正 · 建立错题类型表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记类型，不记题目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不要记「第 3 题错了」，要记「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我在多关键字排序时容易只写一个 key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」。类型是可迁移的，具体题目不是。</a:t>
            </a:r>
            <a:endParaRPr lang="en-US" sz="12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286000"/>
                <a:gridCol w="3474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我的高频错误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触发场景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读入统一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.strip()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二维数组别名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建网格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一律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[[0]*n for _ in range(m)]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查 list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判存在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浮点比较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开方 / 除法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转整数或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isclose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边界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 / 切片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提交前手测 n=1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考场策略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112 分钟 / 6 题的时间预算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5760" cy="594360"/>
          </a:xfrm>
          <a:prstGeom prst="rect">
            <a:avLst/>
          </a:prstGeom>
          <a:solidFill>
            <a:srgbClr val="6B7B7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207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13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0–5 min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731520" cy="594360"/>
          </a:xfrm>
          <a:prstGeom prst="rect">
            <a:avLst/>
          </a:prstGeom>
          <a:solidFill>
            <a:srgbClr val="2E9E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5–15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54480" y="1188720"/>
            <a:ext cx="1828800" cy="594360"/>
          </a:xfrm>
          <a:prstGeom prst="rect">
            <a:avLst/>
          </a:prstGeom>
          <a:solidFill>
            <a:srgbClr val="3E7C6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54480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T2·T3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1481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15–40 min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188720"/>
            <a:ext cx="2194560" cy="594360"/>
          </a:xfrm>
          <a:prstGeom prst="rect">
            <a:avLst/>
          </a:prstGeom>
          <a:solidFill>
            <a:srgbClr val="F2B1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83280" y="1207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1481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40–70 min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77840" y="1188720"/>
            <a:ext cx="2377440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77840" y="1207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T5·T6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1481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70–102 min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955280" y="1188720"/>
            <a:ext cx="731520" cy="594360"/>
          </a:xfrm>
          <a:prstGeom prst="rect">
            <a:avLst/>
          </a:prstGeom>
          <a:solidFill>
            <a:srgbClr val="1E3D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0" y="12070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14813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102–112 min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5 分钟通读全部题目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，按预估难度排序，先做有把握的。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看数据范围定复杂度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，再动手（第 4 周 3.4 节）。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样例过了先交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——OJ 反馈比自己盯屏幕快。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 就造数据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：n=1、全相同、最大值、最小值。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卡满 15 分钟换题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，回头再看；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 10 分钟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检查输出格式：多余空格、换行、精度。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47548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完成月考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机房，112 分钟，6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订正全部未 AC 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按第 5 节的三分类 + 重写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提交一份错题类型表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至少 5 条，格式见 5.3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更新自己的 cheat sheet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十页 A4，双面，手写或打印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完美立方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M02810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细菌繁殖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02712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月考是体检：暴露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语法关、速度关、调试关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三处短板。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自检清单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打不了勾的地方，就是本周的复习重点。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取交集 → 找零模拟 → 排序贪心 → 筛法 → 双指针 → 队列模拟，规格与期末机考一致：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订正方法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唯一有效的方法：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 → 关题解重写 → 记录错误类型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考场六条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通读、看范围、早提交、造数据、按时换题、查格式。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 10 月的「上强度」阶段，第一次系统地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认识时间复杂度在实战中的作用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5 周 10 月月考与阶段复习</dc:title>
  <dc:subject>PptxGenJS Presentation</dc:subject>
  <dc:creator>Hongfei Yan</dc:creator>
  <cp:lastModifiedBy>Hongfei Yan</cp:lastModifiedBy>
  <cp:revision>1</cp:revision>
  <dcterms:created xsi:type="dcterms:W3CDTF">2026-10-13T02:40:36Z</dcterms:created>
  <dcterms:modified xsi:type="dcterms:W3CDTF">2026-10-13T02:40:36Z</dcterms:modified>
</cp:coreProperties>
</file>