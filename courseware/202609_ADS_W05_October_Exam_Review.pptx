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5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月月考与阶段复习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1–4 周知识清单自检 · 月考样卷 6 题 · 考后订正方法 · 考场策略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1–4 周知识清单自检（语法容器 · 计算机基础 · 复杂度）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月考样卷：6 题，含题面 / 样例 / 参考解答 / 评分要点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备选题库 · 考后订正的三分类方法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机房考试流程与考场策略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月考不是筛人，是体检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0058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它要在 11 月的核心内容（DP、搜索）开始之前，把三件事暴露出来：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21214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6700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语法关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017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AI、没有搜索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的情况下，写出正确的循环、分支、字符串处理？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19659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3429000" y="21214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6700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速度关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3017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同样的思路，112 分钟能写完 6 题还是 2 题？打字与编辑速度够不够？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9659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6217920" y="21214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792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6700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调试关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017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WA 能不能自己造数据定位？有没有独立排错的能力？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88620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考砸了不要紧，考完不订正才要紧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27024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本周讲义第 5 节给了订正的具体方法——分类、关题解重写、记录错误类型。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自检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月考的定位：体检的三件事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考试形式：112 分钟 / 6 题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第 1–4 周知识清单（逐条打勾）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常用模板（写进 cheat sheet）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样卷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月考样卷：难度梯度 T1→T6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每题：题面 · 参考解答 · 评分要点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备选题库（可替换样卷任意一题）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之后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考后订正：三分类 + 重写规则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建立自己的错题类型表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考场策略：112 分钟时间预算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本周作业 · 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月考的定位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112 分钟 / 6 题，与期末机考同规格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考试形式 · 三件要暴露的事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月考的定位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考试形式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7665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地点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机房（具体安排以通知为准）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112 分钟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OpenJudge（cs101 小组）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 3 为主，允许 C++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允许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一页 A4 手写 cheat sheet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67328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858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禁止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15137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AI 工具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（含本地模型、IDE 智能补全插件）、联网查询、任何形式的交流。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09160" y="3767328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46320" y="3858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学术诚信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415137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无法解释自己提交的代码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，按学术不端处理。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1–4 周知识清单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逐条打勾，打不了勾的就是这周要补的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语法与容器 · 计算机基础 · 复杂度 · 常用模板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语法与容器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逐条打勾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三种输入形态：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int(input())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map(int, input().split())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list(map(...))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不定行输入：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line in sys.stdin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try/except EOFError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输出格式：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print(*a)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f"{x:.2f}"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sep=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end=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strip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replace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[::-1]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swapcase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列表：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sorted(key=)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切片、列表推导式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二维列表正确建法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 for _ in range(m)]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（不能用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[[0]*n]*m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defaultdict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的基本用法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enumerate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range(start, stop, step)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计算机基础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周内容自检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进制转换：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bin/oct/hex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int(s, base)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、除基取余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补码：负数 = 取反加一；n 位范围 −2ⁿ⁻¹ ~ 2ⁿ⁻¹−1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位运算：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&lt;&lt;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&amp; (n-1)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&amp; 1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ASCII：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'0'=48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'A'=65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'a'=97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chr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浮点：不能用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比较；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int(x**0.5)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要校正（本周 T4 会用到）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自检打不了勾？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回第 3 周讲义《计算机原理（1/2）》对应小节重看一遍，本周样卷的 T4、T6 直接考这些。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复杂度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周内容自检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能说出 list / set / dict 各操作的复杂度</a:t>
            </a:r>
            <a:endParaRPr lang="en-US" sz="145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能从 n 的范围倒推可用的复杂度</a:t>
            </a:r>
            <a:endParaRPr lang="en-US" sz="145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知道 </a:t>
            </a:r>
            <a:r>
              <a:rPr lang="en-US" sz="14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in lst</a:t>
            </a: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4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lst.pop(0)</a:t>
            </a: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、循环内字符串拼接是 O(n) 的坑</a:t>
            </a:r>
            <a:endParaRPr lang="en-US" sz="145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会写埃氏筛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291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本周样卷怎么用到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584448"/>
            <a:ext cx="801014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T3：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in lst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逐个统计会稳定 TLE，要用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T4：现场试除到 √x 会 TLE，要先筛。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T2：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拼接字符串是 O(n²)，要用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''.join()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常用模板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 cheat sheet（1/3）：快速输入与最大公约数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97280"/>
            <a:ext cx="808329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1) 快速输入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sys.stdin.read().split()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2) 多组数据直到 EOF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line in sys.stdin: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line = line.strip()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line: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continue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3) 最大公约数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gcd(a, b):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b: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a, b = b, a % b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sys.stdin.read().split()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是本课</a:t>
            </a:r>
            <a:r>
              <a:rPr lang="en-US" sz="11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推荐的大数据量读入方式；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gcd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是数论题最常见的子过程，第 6 周开始会反复用到。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常用模板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 cheat sheet（2/3）：素数筛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97280"/>
            <a:ext cx="808329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4) 素数筛（埃拉托斯特尼筛法）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sieve(n):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[True] * (n + 1)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p[0] = p[1] = False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 = 2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* i &lt;= n: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p[i]: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j in range(i * i, n + 1, i):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p[j] = False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 += 1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为什么从 i*i 开始标记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0448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小于 i*i 的 i 的倍数（如 2i、3i、…）已经被更小的质因子标记过了；从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i*i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开始能省掉大量重复标记，这是埃氏筛复杂度 O(n log log n) 的关键。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常用模板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 cheat sheet（3/3）：排序与前缀和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5) 按多关键字排序（先按第 2 项升序，再按第 1 项降序）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(r[1], -r[0]))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6) 二维前缀和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 = [[0] * (n + 1) for _ in range(m + 1)]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pre[i + 1][j + 1] = pre[i][j + 1] + pre[i + 1][j] - pre[i][j] + a[i][j]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926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排序键为什么这么写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21868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-kv[1]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让「按次数降序」也能用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sort()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的默认升序实现——数值取负，字符串没法取负，所以字典序仍升序、次数用负号降序，两个方向一次搞定。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前缀和的含义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361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是矩阵左上角 (0,0) 到 (i-1,j-1) 的和；查询任意子矩阵和只需 O(1)。第 6 周会展开讲。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月考样卷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三次月考与期末上机考试同一规格：6 题 / 112 分钟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 T1 → T6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难度梯度：从签到到综合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5156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E29895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0515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★☆☆☆☆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105156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分解因数 · 试除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0" y="1069848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106984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581912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158191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E29940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15819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★★☆☆☆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15819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机器猫斗恶龙 · 贪心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0" y="16002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0" y="1600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112264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211226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M29917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211226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★★★☆☆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2743200" y="2112264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牛顿迭代法 · 浮点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0" y="2130552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83680" y="21305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2642616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" y="264261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M29918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26426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★★★☆☆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2743200" y="264261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求亲和数 · 数论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83680" y="2660904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0" y="266090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172968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200" y="317296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M29949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234440" y="317296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★★★★☆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2743200" y="317296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贪婪的哥布林 · 分数背包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83680" y="3191256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0" y="319125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3703320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7200" y="37033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T29947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234440" y="370332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★★★★☆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743200" y="370332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校门外的树又来了 · 区间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583680" y="3721608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83680" y="372160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月考的意义就在于：提前把机考的题量与时间压力演练一遍——三次月考与期末上机考试</a:t>
            </a:r>
            <a:r>
              <a:rPr lang="en-US" sz="11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同一规格</a:t>
            </a: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</a:t>
            </a: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T1 成绩转换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签到题：输入输出、分支、格式化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读入 n 个百分制成绩，输出等级：≥90→A，≥80→B，≥70→C，≥60→D，否则 E；最后一行输出通过（≥60）人数占比，保留两位小数。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00200"/>
            <a:ext cx="8083296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int(input())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list(map(int, input().split()))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 = lambda s: 'A' if s &gt;= 90 else 'B' if s &gt;= 80 else 'C' if s &gt;= 70 else 'D' if s &gt;= 60 else 'E'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print('\n'.join(grade(s) for s in scores))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print(f"{sum(1 for s in scores if s &gt;= 60) * 100 / n:.2f}")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880360"/>
            <a:ext cx="3977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样例输入：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95 83 71 60 40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182112"/>
            <a:ext cx="3977640" cy="1298448"/>
          </a:xfrm>
          <a:prstGeom prst="roundRect">
            <a:avLst>
              <a:gd name="adj" fmla="val 5634"/>
            </a:avLst>
          </a:prstGeom>
          <a:solidFill>
            <a:srgbClr val="1B2B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23697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438144"/>
            <a:ext cx="375818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80.00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29718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30632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评分要点 / 常见失分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818888" y="3355848"/>
            <a:ext cx="3758184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等级全对 10 分；百分比格式正确（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80.00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而非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80.0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）5 分。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常见失分：用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导致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80.0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；边界 90/80/70/60 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而非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T2 单词首字母大写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字符串处理、ASCII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把每个单词（连续英文字母）首字母改大写、其余小写；其他字符原样保留。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497433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sys.stdin.readline().rstrip('\n')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out, start_of_word = [], True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ch in s: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ch.isalpha():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out.append(ch.upper() if start_of_word else ch.lower())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start_of_word = False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out.append(ch)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start_of_word = True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print(''.join(out))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4747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5295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730752"/>
            <a:ext cx="49011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hello WORLD, this is cs101!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 World, This Is Cs101!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760720" y="1371600"/>
            <a:ext cx="292608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97880" y="1463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不能用 s.title()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175564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'don\'t'.title()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会变成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"Don'T"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——内建函数的边界行为要自己验证过再用。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760720" y="2560320"/>
            <a:ext cx="292608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97880" y="2651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评分要点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870448" y="2944368"/>
            <a:ext cx="270662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状态机写法正确 12 分；用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''.join()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而非循环拼接 3 分。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常见失分：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拼接字符串 O(n²) TLE；把数字也当单词起点。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T3 图书借阅排行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字典计数、多关键字排序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条借阅记录，按借阅次数从多到少输出；次数相同按书名字典序升序，只输出前 k 名。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808329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collections import Counter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sys.stdin.read().split()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 k = int(data[0]), int(data[1])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= Counter(data[2:2 + n])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rank = sorted(cnt.items(), key=lambda kv: (-kv[1], kv[0]))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print('\n'.join(f"{name} {c}" for name, c in rank[:k]))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9352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36392"/>
            <a:ext cx="375818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6 2 / python algorithm python math algorithm python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algorithm 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411480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09160" y="2971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数据构造建议 / 评分要点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3264408"/>
            <a:ext cx="389534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 O(n²)：n=2×10⁵ 只用 500 个不同书名，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list.count()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逐个统计会 TLE。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卡排序键：大量次数相同的书名，检验字典序是否升序。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常见失分：只按次数排序；用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reverse=True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导致书名也降序。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T4 区间内的 T-数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素数筛、复杂度意识、浮点陷阱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T-数：恰好有 3 个正约数的正整数。q 次询问，每次给出 x（≤ 10¹²），判断是否为 T-数。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4813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为什么「恰好 3 个约数」⟺「素数的平方」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83080"/>
            <a:ext cx="78638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= p₁^a₁·p₂^a₂··· 的约数个数 = (a₁+1)(a₂+1)···。要等于 3（素数），只能是单个因子且 a₁+1=3，即 x = p²。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0352" y="2560320"/>
            <a:ext cx="4974336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 = 10 ** 6 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sqrt(10^12)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int(x ** 0.5)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r * r &gt; x: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浮点开方可能偏大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 -=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(r + 1) * (r + 1) &lt;= x: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也可能偏小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 +=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 = "YES" if r * r == x and is_prime[r] else "NO"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760720" y="2514600"/>
            <a:ext cx="292608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97880" y="2606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评分要点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70448" y="2898648"/>
            <a:ext cx="270662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想到「素数的平方」6 分；筛法预处理 5 分；浮点开方校正 4 分。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常见失分：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int(x**0.5)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不校正，10¹² 量级偶发错 1。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T4 完整解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筛法预处理 + 浮点校正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sieve(n):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bytearray([1]) * (n + 1)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p[0] = p[1]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 = 2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* i &lt;= n: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p[i]: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p[i * i::i] = bytearray(len(p[i * i::i]))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is_prime = sieve(LIMIT)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 in data[1:1 + q]: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 = int(s)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 = int(x ** 0.5)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r * r &gt; x: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 -=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(r + 1) * (r + 1) &lt;= x: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out.append("YES" if r * r == x and is_prime[r] else "NO")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60120"/>
            <a:ext cx="28803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样例输入：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4 5 9 12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806440" y="1280160"/>
            <a:ext cx="288036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16168" y="13350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916168" y="1536192"/>
            <a:ext cx="26609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806440" y="2468880"/>
            <a:ext cx="288036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0" y="25603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数据构造建议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852928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卡浮点：取 999999937²（LIMIT 内最大素数的平方）附近及 ±1；卡超时：q=10⁵ 且每次试除到 √x（约 10⁶ 次）→ 10¹¹ 次必 TLE。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T5 电梯调度模拟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模拟、边界处理（综合）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电梯按请求顺序依次服务：移动到 fᵢ 接人（等到 tᵢ 才开门）→ 送到 gᵢ。移动 1 层耗时 1，开关门每次 2。求最后一人被送达（不含最后一次开关门）的时刻。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73152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5087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t=0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508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 1 号 (1→5)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150876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now=0，到 1 层无需移动，等到 0，开关门 +2 → 2；移动 4 → 6；开关门 +2 → 8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73152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2860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t=3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286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 2 号 (5→2)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228600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已在 5 层且 t=3 已到 → 开关门 +2 → 10；移动 3 → 13；开关门 +2 → 15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200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送达时刻 = 13（不含最后一次开关门；样例答案是 13 而非 15）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DF0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定义要写死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41788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「被送达」= 到达目标层的时刻，不含最后一次开关门。命题时这类定义必须写死，否则大批「逻辑对但差 2」的 WA。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T5 参考解答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四步：移动 / 等待 / 开门 / 送达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now, pos, ans = 0, 1, 0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 in range(n):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t, f, g = int(data[idx]), int(data[idx+1]), int(data[idx+2]); idx += 3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now += abs(pos - f)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移动到接人层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now = max(now, t)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人还没到就等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now += 2         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开关门接人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now += abs(f - g)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送到目标层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ans = now        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送达时刻（不含最后开关门）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now += 2         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开关门放人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pos = 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print(ans)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24612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337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数据构造建议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30168"/>
            <a:ext cx="375818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n=10⁵、坐标 10⁹：验证是否用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（Python 无溢出，C++ 需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long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tᵢ=0：检验「等待」分支是否被跳过。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相邻请求 fᵢ = 上一个 gᵢ：移动距离为 0 时仍要加开关门时间。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24612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337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评分要点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630168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主循环四步齐全 12 分；送达时刻定义正确 4 分；快速输入通过 n=10⁵ 得 4 分。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T6 补码计算器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进制转换、补码、位运算、边界判定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位补码计算器（2 ≤ n ≤ 64）：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200400"/>
                <a:gridCol w="3749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 n 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十进制 x 写成 n 位补码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 n 的二进制串；越界输出 OVERFLOW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FROM n b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位二进制串 b 按补码解释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它表示的十进制值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 n a b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位补码下 a+b（按 n 位回绕）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结果；有符号溢出则加空格 + OVERFLOW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24612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1B2B2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66928" y="3300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02152"/>
            <a:ext cx="801014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8 -5 → 11111011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4 8 → OVERFLOW（4 位范围 −8~7）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8 11111011 → -5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8 100 100 → -56 OVERFLOW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8 -100 -100 → 56 OVERFLOW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4 3 4 → 7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T6 参考解答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三行核心，全部来自第 3 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op == 'TO':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-(1 &lt;&lt; (n-1)), (1 &lt;&lt; (n-1)) - 1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 = 'OVERFLOW' if not lo &lt;= x &lt;= hi else format(x &amp; ((1 &lt;&lt; n) - 1), f'0{n}b')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op == 'FROM':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 = int(b, 2)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 = str(v - (1 &lt;&lt; n) if v &gt;&gt; (n - 1) else v)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ADD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 = (a + b) &amp; ((1 &lt;&lt; n) - 1)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先按 n 位回绕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r &gt;&gt; (n - 1): r -= 1 &lt;&lt; n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再按补码解释成有符号数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 = str(r) if r == a + b else f'{r} OVERFLOW'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无符号进位 ≠ 有符号溢出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0156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n=8, a=-1, b=1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硬件上有进位输出，但结果 0 完全正确，不算溢出。把进位当溢出是最常见的错法——用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!= a+b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判溢出就不会错。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评分要点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3616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TO/FROM 都正确 8 分；ADD 的 n 位回绕正确 6 分；有符号溢出判定正确（没把无符号进位当溢出）6 分。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备选题库与考后订正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可替换样卷任意一题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三分类 · 重写规则 · 错题类型表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可替换样卷中的任意一题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1920240"/>
              </a:tblGrid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输入输出 / 分支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鸡兔同笼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分支 / 读题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判断闰年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02733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循环 / 取模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 7 无关的数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02701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大小写字母互换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E02689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 / 模拟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文字排版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E06374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字典 / 排序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生日相同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E02724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素数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验证「歌德巴赫猜想」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E03143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数学 / 枚举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完美立方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M02810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2050 年成绩计算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E18176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十进制到八进制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E02734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考后订正 · 唯一有效的方法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考完试，按下面的流程走一遍。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只看题解不重写，等于没订正。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560320"/>
                <a:gridCol w="4114800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看完题解才懂思路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重做同类题 3 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B13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会但写错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思路对，代码有 bug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找出 bug 的</a:t>
                      </a: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，写进 cheat sheet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会但没时间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剩 10 分钟才开始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练打字 + 练模板默写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6118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重写规则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99592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关掉题解，从空文件重写，一次通过。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做不到就再来一遍。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考后订正 · 建立错题类型表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记类型，不记题目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不要记「第 3 题错了」，要记「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我在多关键字排序时容易只写一个 key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」。类型是可迁移的，具体题目不是。</a:t>
            </a:r>
            <a:endParaRPr lang="en-US" sz="12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286000"/>
                <a:gridCol w="347472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我的高频错误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触发场景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忘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strip()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字符串比较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读入统一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.strip()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二维数组别名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建网格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一律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[[0]*n for _ in range(m)]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查 list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判存在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浮点比较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开方 / 除法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转整数或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isclose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边界 n=1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循环 / 切片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提交前手测 n=1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考场策略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112 分钟 / 6 题的时间预算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5760" cy="594360"/>
          </a:xfrm>
          <a:prstGeom prst="rect">
            <a:avLst/>
          </a:prstGeom>
          <a:solidFill>
            <a:srgbClr val="6B7B7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207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通读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48132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0–5 min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2960" y="1188720"/>
            <a:ext cx="731520" cy="594360"/>
          </a:xfrm>
          <a:prstGeom prst="rect">
            <a:avLst/>
          </a:prstGeom>
          <a:solidFill>
            <a:srgbClr val="2E9E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12070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813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5–15 min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554480" y="1188720"/>
            <a:ext cx="1828800" cy="594360"/>
          </a:xfrm>
          <a:prstGeom prst="rect">
            <a:avLst/>
          </a:prstGeom>
          <a:solidFill>
            <a:srgbClr val="3E7C6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554480" y="1207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T2·T3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1481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15–40 min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83280" y="1188720"/>
            <a:ext cx="2194560" cy="594360"/>
          </a:xfrm>
          <a:prstGeom prst="rect">
            <a:avLst/>
          </a:prstGeom>
          <a:solidFill>
            <a:srgbClr val="F2B1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383280" y="1207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1481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40–70 min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577840" y="1188720"/>
            <a:ext cx="2377440" cy="594360"/>
          </a:xfrm>
          <a:prstGeom prst="rect">
            <a:avLst/>
          </a:prstGeom>
          <a:solidFill>
            <a:srgbClr val="C039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77840" y="12070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T5·T6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1481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70–102 min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955280" y="1188720"/>
            <a:ext cx="731520" cy="594360"/>
          </a:xfrm>
          <a:prstGeom prst="rect">
            <a:avLst/>
          </a:prstGeom>
          <a:solidFill>
            <a:srgbClr val="1E3D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0" y="12070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14813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102–112 min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5 分钟通读全部题目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，按预估难度排序，先做有把握的。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看数据范围定复杂度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，再动手（第 4 周 3.4 节）。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样例过了先交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——OJ 反馈比自己盯屏幕快。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 就造数据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：n=1、全相同、最大值、最小值。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卡满 15 分钟换题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，回头再看；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 10 分钟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检查输出格式：多余空格、换行、精度。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47548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完成月考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机房，112 分钟，6 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订正全部未 AC 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按第 5 节的三分类 + 重写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提交一份错题类型表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至少 5 条，格式见 5.3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更新自己的 cheat sheet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一页 A4，双面，手写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完美立方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M02810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细菌繁殖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02712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文字排版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E06374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体检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月考是体检：暴露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语法关、速度关、调试关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三处短板。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自检清单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打不了勾的地方，就是本周的复习重点。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签到 → 字符串 → 字典排序 → 复杂度意识 → 综合模拟 → 补码位运算，规格与期末机考一致：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订正方法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唯一有效的方法：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 → 关题解重写 → 记录错误类型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考场六条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通读、看范围、早提交、造数据、按时换题、查格式。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矩阵、排序与贪心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 10 月的「上强度」阶段，第一次系统地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认识时间复杂度在实战中的作用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5 周 10 月月考与阶段复习</dc:title>
  <dc:subject>PptxGenJS Presentation</dc:subject>
  <dc:creator>Hongfei Yan</dc:creator>
  <cp:lastModifiedBy>Hongfei Yan</cp:lastModifiedBy>
  <cp:revision>1</cp:revision>
  <dcterms:created xsi:type="dcterms:W3CDTF">2026-09-22T11:26:23Z</dcterms:created>
  <dcterms:modified xsi:type="dcterms:W3CDTF">2026-09-22T11:26:23Z</dcterms:modified>
</cp:coreProperties>
</file>