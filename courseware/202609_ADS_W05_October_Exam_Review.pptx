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2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96012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计算概论（B） · 第 5 周 · 2026 Fall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325880"/>
            <a:ext cx="640080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 月月考与阶段复习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103120"/>
            <a:ext cx="640080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1–4 周知识清单自检 · 月考样卷 6 题 · 考后订正方法 · 考场策略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697480"/>
            <a:ext cx="6035040" cy="12344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1–4 周知识清单自检（语法容器 · 计算机基础 · 复杂度）</a:t>
            </a:r>
            <a:endParaRPr lang="en-US" sz="11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月考样卷：6 题，含题面 / 样例 / 参考解答 / 评分要点</a:t>
            </a:r>
            <a:endParaRPr lang="en-US" sz="11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备选题库 · 考后订正的三分类方法</a:t>
            </a:r>
            <a:endParaRPr lang="en-US" sz="11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机房考试流程与考场策略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4343400"/>
            <a:ext cx="64008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Compiled by Hongfei Yan · 2026 Fall · github.com/GMyhf/2026fall-cs101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?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本周导引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月考不是筛人，是体检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8229600" cy="777240"/>
          </a:xfrm>
          <a:prstGeom prst="roundRect">
            <a:avLst>
              <a:gd name="adj" fmla="val 9412"/>
            </a:avLst>
          </a:prstGeom>
          <a:solidFill>
            <a:srgbClr val="1E3D3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85800" y="1005840"/>
            <a:ext cx="7772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它要在 11 月的核心内容（DP、搜索）开始之前，把三件事暴露出来：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57200" y="1965960"/>
            <a:ext cx="2606040" cy="1737360"/>
          </a:xfrm>
          <a:prstGeom prst="roundRect">
            <a:avLst>
              <a:gd name="adj" fmla="val 4211"/>
            </a:avLst>
          </a:prstGeom>
          <a:solidFill>
            <a:srgbClr val="F1F4F2"/>
          </a:solidFill>
          <a:ln/>
        </p:spPr>
      </p:sp>
      <p:sp>
        <p:nvSpPr>
          <p:cNvPr id="10" name="Shape 8"/>
          <p:cNvSpPr/>
          <p:nvPr/>
        </p:nvSpPr>
        <p:spPr>
          <a:xfrm>
            <a:off x="640080" y="2121408"/>
            <a:ext cx="420624" cy="42062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40080" y="21214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267004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语法关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301752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能不能在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没有 AI、没有搜索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的情况下，写出正确的循环、分支、字符串处理？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246120" y="1965960"/>
            <a:ext cx="2606040" cy="1737360"/>
          </a:xfrm>
          <a:prstGeom prst="roundRect">
            <a:avLst>
              <a:gd name="adj" fmla="val 4211"/>
            </a:avLst>
          </a:prstGeom>
          <a:solidFill>
            <a:srgbClr val="F1F4F2"/>
          </a:solidFill>
          <a:ln/>
        </p:spPr>
      </p:sp>
      <p:sp>
        <p:nvSpPr>
          <p:cNvPr id="15" name="Shape 13"/>
          <p:cNvSpPr/>
          <p:nvPr/>
        </p:nvSpPr>
        <p:spPr>
          <a:xfrm>
            <a:off x="3429000" y="2121408"/>
            <a:ext cx="420624" cy="42062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3429000" y="21214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3429000" y="267004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速度关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3429000" y="301752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同样的思路，112 分钟能写完 6 题还是 2 题？打字与编辑速度够不够？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035040" y="1965960"/>
            <a:ext cx="2606040" cy="1737360"/>
          </a:xfrm>
          <a:prstGeom prst="roundRect">
            <a:avLst>
              <a:gd name="adj" fmla="val 4211"/>
            </a:avLst>
          </a:prstGeom>
          <a:solidFill>
            <a:srgbClr val="F1F4F2"/>
          </a:solidFill>
          <a:ln/>
        </p:spPr>
      </p:sp>
      <p:sp>
        <p:nvSpPr>
          <p:cNvPr id="20" name="Shape 18"/>
          <p:cNvSpPr/>
          <p:nvPr/>
        </p:nvSpPr>
        <p:spPr>
          <a:xfrm>
            <a:off x="6217920" y="2121408"/>
            <a:ext cx="420624" cy="42062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217920" y="21214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6217920" y="267004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调试关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6217920" y="301752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看到 WA 能不能自己造数据定位？有没有独立排错的能力？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57200" y="3886200"/>
            <a:ext cx="8229600" cy="822960"/>
          </a:xfrm>
          <a:prstGeom prst="roundRect">
            <a:avLst>
              <a:gd name="adj" fmla="val 8889"/>
            </a:avLst>
          </a:prstGeom>
          <a:solidFill>
            <a:srgbClr val="CFE0D8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94360" y="397764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考砸了不要紧，考完不订正才要紧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594360" y="4270248"/>
            <a:ext cx="7955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本周讲义第 5 节给了订正的具体方法——分类、关题解重写、记录错误类型。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≡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本周导引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内容地图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2606040" cy="3566160"/>
          </a:xfrm>
          <a:prstGeom prst="roundRect">
            <a:avLst>
              <a:gd name="adj" fmla="val 2807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1887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 自检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1737360"/>
            <a:ext cx="2377440" cy="2743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月考的定位：体检的三件事</a:t>
            </a:r>
            <a:endParaRPr lang="en-US" sz="12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1.1 考试形式：112 分钟 / 6 题</a:t>
            </a:r>
            <a:endParaRPr lang="en-US" sz="12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第 1–4 周知识清单（逐条打勾）</a:t>
            </a:r>
            <a:endParaRPr lang="en-US" sz="12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2.4 常用模板（写进 cheat sheet）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46120" y="1051560"/>
            <a:ext cx="2606040" cy="3566160"/>
          </a:xfrm>
          <a:prstGeom prst="roundRect">
            <a:avLst>
              <a:gd name="adj" fmla="val 2807"/>
            </a:avLst>
          </a:prstGeom>
          <a:solidFill>
            <a:srgbClr val="FFF6E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429000" y="11887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 样卷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3383280" y="1737360"/>
            <a:ext cx="2377440" cy="2743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月考样卷：难度梯度 T1→T6</a:t>
            </a:r>
            <a:endParaRPr lang="en-US" sz="12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每题：题面 · 参考解答 · 评分要点</a:t>
            </a:r>
            <a:endParaRPr lang="en-US" sz="12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备选题库（可替换样卷任意一题）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035040" y="1051560"/>
            <a:ext cx="2606040" cy="3566160"/>
          </a:xfrm>
          <a:prstGeom prst="roundRect">
            <a:avLst>
              <a:gd name="adj" fmla="val 2807"/>
            </a:avLst>
          </a:prstGeom>
          <a:solidFill>
            <a:srgbClr val="F1F4F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217920" y="11887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 之后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6172200" y="1737360"/>
            <a:ext cx="2377440" cy="2743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考后订正：三分类 + 重写规则</a:t>
            </a:r>
            <a:endParaRPr lang="en-US" sz="12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5.3 建立自己的错题类型表</a:t>
            </a:r>
            <a:endParaRPr lang="en-US" sz="12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 考场策略：112 分钟时间预算</a:t>
            </a:r>
            <a:endParaRPr lang="en-US" sz="12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 本周作业 · 小结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月考的定位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112 分钟 / 6 题，与期末机考同规格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考试形式 · 三件要暴露的事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月考的定位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考试形式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9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676656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项目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说明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地点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机房（具体安排以通知为准）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时长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112 分钟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题量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 题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平台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OpenJudge（cs101 小组）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语言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Python 3 为主，允许 C++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允许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一页 A4 手写 cheat sheet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457200" y="3767328"/>
            <a:ext cx="3977640" cy="777240"/>
          </a:xfrm>
          <a:prstGeom prst="roundRect">
            <a:avLst>
              <a:gd name="adj" fmla="val 9412"/>
            </a:avLst>
          </a:prstGeom>
          <a:solidFill>
            <a:srgbClr val="FDF0EE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94360" y="3858768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禁止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594360" y="4151376"/>
            <a:ext cx="3703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任何 AI 工具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（含本地模型、IDE 智能补全插件）、联网查询、任何形式的交流。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4709160" y="3767328"/>
            <a:ext cx="3977640" cy="777240"/>
          </a:xfrm>
          <a:prstGeom prst="roundRect">
            <a:avLst>
              <a:gd name="adj" fmla="val 9412"/>
            </a:avLst>
          </a:prstGeom>
          <a:solidFill>
            <a:srgbClr val="FDF0EE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846320" y="3858768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学术诚信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4846320" y="4151376"/>
            <a:ext cx="3703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无法解释自己提交的代码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，按学术不端处理。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2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1–4 周知识清单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逐条打勾，打不了勾的就是这周要补的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语法与容器 · 计算机基础 · 复杂度 · 常用模板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知识清单 · 语法与容器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逐条打勾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005840"/>
            <a:ext cx="8229600" cy="35661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三种输入形态：</a:t>
            </a:r>
            <a:r>
              <a:rPr lang="en-US" sz="13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int(input())</a:t>
            </a:r>
            <a:r>
              <a:rPr lang="en-US" sz="13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</a:t>
            </a:r>
            <a:r>
              <a:rPr lang="en-US" sz="13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map(int, input().split())</a:t>
            </a:r>
            <a:r>
              <a:rPr lang="en-US" sz="13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</a:t>
            </a:r>
            <a:r>
              <a:rPr lang="en-US" sz="13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list(map(...))</a:t>
            </a:r>
            <a:endParaRPr lang="en-US" sz="13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不定行输入：</a:t>
            </a:r>
            <a:r>
              <a:rPr lang="en-US" sz="13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line in sys.stdin</a:t>
            </a:r>
            <a:r>
              <a:rPr lang="en-US" sz="13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与 </a:t>
            </a:r>
            <a:r>
              <a:rPr lang="en-US" sz="13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try/except EOFError</a:t>
            </a:r>
            <a:endParaRPr lang="en-US" sz="13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输出格式：</a:t>
            </a:r>
            <a:r>
              <a:rPr lang="en-US" sz="13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print(*a)</a:t>
            </a:r>
            <a:r>
              <a:rPr lang="en-US" sz="13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</a:t>
            </a:r>
            <a:r>
              <a:rPr lang="en-US" sz="13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f"{x:.2f}"</a:t>
            </a:r>
            <a:r>
              <a:rPr lang="en-US" sz="13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</a:t>
            </a:r>
            <a:r>
              <a:rPr lang="en-US" sz="13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sep=</a:t>
            </a:r>
            <a:r>
              <a:rPr lang="en-US" sz="13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</a:t>
            </a:r>
            <a:r>
              <a:rPr lang="en-US" sz="13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end=</a:t>
            </a:r>
            <a:endParaRPr lang="en-US" sz="13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字符串：</a:t>
            </a:r>
            <a:r>
              <a:rPr lang="en-US" sz="13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strip</a:t>
            </a:r>
            <a:r>
              <a:rPr lang="en-US" sz="13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sz="13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split</a:t>
            </a:r>
            <a:r>
              <a:rPr lang="en-US" sz="13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sz="13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join</a:t>
            </a:r>
            <a:r>
              <a:rPr lang="en-US" sz="13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sz="13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replace</a:t>
            </a:r>
            <a:r>
              <a:rPr lang="en-US" sz="13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sz="13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find</a:t>
            </a:r>
            <a:r>
              <a:rPr lang="en-US" sz="13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sz="13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[::-1]</a:t>
            </a:r>
            <a:r>
              <a:rPr lang="en-US" sz="13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sz="13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swapcase</a:t>
            </a:r>
            <a:endParaRPr lang="en-US" sz="13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列表：</a:t>
            </a:r>
            <a:r>
              <a:rPr lang="en-US" sz="13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append</a:t>
            </a:r>
            <a:r>
              <a:rPr lang="en-US" sz="13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sz="13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pop</a:t>
            </a:r>
            <a:r>
              <a:rPr lang="en-US" sz="13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sz="13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sort</a:t>
            </a:r>
            <a:r>
              <a:rPr lang="en-US" sz="13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sz="13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sorted(key=)</a:t>
            </a:r>
            <a:r>
              <a:rPr lang="en-US" sz="13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切片、列表推导式</a:t>
            </a:r>
            <a:endParaRPr lang="en-US" sz="13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二维列表正确建法 </a:t>
            </a:r>
            <a:r>
              <a:rPr lang="en-US" sz="13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[[0]*n for _ in range(m)]</a:t>
            </a:r>
            <a:r>
              <a:rPr lang="en-US" sz="13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（不能用 </a:t>
            </a:r>
            <a:r>
              <a:rPr lang="en-US" sz="13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[[0]*n]*m</a:t>
            </a:r>
            <a:r>
              <a:rPr lang="en-US" sz="13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</a:t>
            </a:r>
            <a:endParaRPr lang="en-US" sz="13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dict</a:t>
            </a:r>
            <a:r>
              <a:rPr lang="en-US" sz="13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</a:t>
            </a:r>
            <a:r>
              <a:rPr lang="en-US" sz="13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set</a:t>
            </a:r>
            <a:r>
              <a:rPr lang="en-US" sz="13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</a:t>
            </a:r>
            <a:r>
              <a:rPr lang="en-US" sz="13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Counter</a:t>
            </a:r>
            <a:r>
              <a:rPr lang="en-US" sz="13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</a:t>
            </a:r>
            <a:r>
              <a:rPr lang="en-US" sz="13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defaultdict</a:t>
            </a:r>
            <a:r>
              <a:rPr lang="en-US" sz="13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的基本用法</a:t>
            </a:r>
            <a:endParaRPr lang="en-US" sz="13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enumerate</a:t>
            </a:r>
            <a:r>
              <a:rPr lang="en-US" sz="13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</a:t>
            </a:r>
            <a:r>
              <a:rPr lang="en-US" sz="13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zip</a:t>
            </a:r>
            <a:r>
              <a:rPr lang="en-US" sz="13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</a:t>
            </a:r>
            <a:r>
              <a:rPr lang="en-US" sz="13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range(start, stop, step)</a:t>
            </a:r>
            <a:endParaRPr lang="en-US" sz="13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知识清单 · 计算机基础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3 周内容自检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005840"/>
            <a:ext cx="8229600" cy="23774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进制转换：</a:t>
            </a:r>
            <a:r>
              <a:rPr lang="en-US" sz="14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bin/oct/hex</a:t>
            </a:r>
            <a:r>
              <a:rPr lang="en-US" sz="14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</a:t>
            </a:r>
            <a:r>
              <a:rPr lang="en-US" sz="14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int(s, base)</a:t>
            </a:r>
            <a:r>
              <a:rPr lang="en-US" sz="14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、除基取余</a:t>
            </a:r>
            <a:endParaRPr lang="en-US" sz="1400" dirty="0"/>
          </a:p>
          <a:p>
            <a:pPr marL="177800" indent="-177800"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补码：负数 = 取反加一；n 位范围 −2ⁿ⁻¹ ~ 2ⁿ⁻¹−1</a:t>
            </a:r>
            <a:endParaRPr lang="en-US" sz="1400" dirty="0"/>
          </a:p>
          <a:p>
            <a:pPr marL="177800" indent="-177800"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位运算：</a:t>
            </a:r>
            <a:r>
              <a:rPr lang="en-US" sz="14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&amp;</a:t>
            </a:r>
            <a:r>
              <a:rPr lang="en-US" sz="14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sz="14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</a:t>
            </a:r>
            <a:r>
              <a:rPr lang="en-US" sz="14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sz="14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^</a:t>
            </a:r>
            <a:r>
              <a:rPr lang="en-US" sz="14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sz="14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&lt;&lt;</a:t>
            </a:r>
            <a:r>
              <a:rPr lang="en-US" sz="14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sz="14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&gt;&gt;</a:t>
            </a:r>
            <a:r>
              <a:rPr lang="en-US" sz="14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</a:t>
            </a:r>
            <a:r>
              <a:rPr lang="en-US" sz="14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 &amp; (n-1)</a:t>
            </a:r>
            <a:r>
              <a:rPr lang="en-US" sz="14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</a:t>
            </a:r>
            <a:r>
              <a:rPr lang="en-US" sz="14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 &amp; 1</a:t>
            </a:r>
            <a:endParaRPr lang="en-US" sz="1400" dirty="0"/>
          </a:p>
          <a:p>
            <a:pPr marL="177800" indent="-177800"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ASCII：</a:t>
            </a:r>
            <a:r>
              <a:rPr lang="en-US" sz="14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'0'=48</a:t>
            </a:r>
            <a:r>
              <a:rPr lang="en-US" sz="14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sz="14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'A'=65</a:t>
            </a:r>
            <a:r>
              <a:rPr lang="en-US" sz="14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sz="14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'a'=97</a:t>
            </a:r>
            <a:r>
              <a:rPr lang="en-US" sz="14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</a:t>
            </a:r>
            <a:r>
              <a:rPr lang="en-US" sz="14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ord</a:t>
            </a:r>
            <a:r>
              <a:rPr lang="en-US" sz="14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</a:t>
            </a:r>
            <a:r>
              <a:rPr lang="en-US" sz="14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chr</a:t>
            </a:r>
            <a:endParaRPr lang="en-US" sz="1400" dirty="0"/>
          </a:p>
          <a:p>
            <a:pPr marL="177800" indent="-177800"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浮点：不能用 </a:t>
            </a:r>
            <a:r>
              <a:rPr lang="en-US" sz="14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==</a:t>
            </a:r>
            <a:r>
              <a:rPr lang="en-US" sz="14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比较；</a:t>
            </a:r>
            <a:r>
              <a:rPr lang="en-US" sz="14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int(x**0.5)</a:t>
            </a:r>
            <a:r>
              <a:rPr lang="en-US" sz="14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要校正（本周 T4 会用到）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3657600"/>
            <a:ext cx="8229600" cy="868680"/>
          </a:xfrm>
          <a:prstGeom prst="roundRect">
            <a:avLst>
              <a:gd name="adj" fmla="val 8421"/>
            </a:avLst>
          </a:prstGeom>
          <a:solidFill>
            <a:srgbClr val="CFE0D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94360" y="374904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自检打不了勾？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94360" y="4041648"/>
            <a:ext cx="7955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回第 3 周讲义《计算机原理（1/2）》对应小节重看一遍，本周样卷的 T4、T6 直接考这些。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知识清单 · 复杂度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4 周内容自检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005840"/>
            <a:ext cx="8229600" cy="20116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1600"/>
              </a:spcAft>
              <a:buSzPct val="100000"/>
              <a:buChar char="•"/>
            </a:pPr>
            <a:r>
              <a:rPr lang="en-US" sz="14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能说出 list / set / dict 各操作的复杂度</a:t>
            </a:r>
            <a:endParaRPr lang="en-US" sz="1450" dirty="0"/>
          </a:p>
          <a:p>
            <a:pPr marL="177800" indent="-177800">
              <a:spcAft>
                <a:spcPts val="1600"/>
              </a:spcAft>
              <a:buSzPct val="100000"/>
              <a:buChar char="•"/>
            </a:pPr>
            <a:r>
              <a:rPr lang="en-US" sz="14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能从 n 的范围倒推可用的复杂度</a:t>
            </a:r>
            <a:endParaRPr lang="en-US" sz="1450" dirty="0"/>
          </a:p>
          <a:p>
            <a:pPr marL="177800" indent="-177800">
              <a:spcAft>
                <a:spcPts val="1600"/>
              </a:spcAft>
              <a:buSzPct val="100000"/>
              <a:buChar char="•"/>
            </a:pPr>
            <a:r>
              <a:rPr lang="en-US" sz="14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知道 </a:t>
            </a:r>
            <a:r>
              <a:rPr lang="en-US" sz="14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 in lst</a:t>
            </a:r>
            <a:r>
              <a:rPr lang="en-US" sz="14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</a:t>
            </a:r>
            <a:r>
              <a:rPr lang="en-US" sz="14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lst.pop(0)</a:t>
            </a:r>
            <a:r>
              <a:rPr lang="en-US" sz="14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、循环内字符串拼接是 O(n) 的坑</a:t>
            </a:r>
            <a:endParaRPr lang="en-US" sz="1450" dirty="0"/>
          </a:p>
          <a:p>
            <a:pPr marL="177800" indent="-177800">
              <a:spcAft>
                <a:spcPts val="1600"/>
              </a:spcAft>
              <a:buSzPct val="100000"/>
              <a:buChar char="•"/>
            </a:pPr>
            <a:r>
              <a:rPr lang="en-US" sz="14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会写埃氏筛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457200" y="3200400"/>
            <a:ext cx="8229600" cy="1325880"/>
          </a:xfrm>
          <a:prstGeom prst="roundRect">
            <a:avLst>
              <a:gd name="adj" fmla="val 5517"/>
            </a:avLst>
          </a:prstGeom>
          <a:solidFill>
            <a:srgbClr val="FFF6E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94360" y="329184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本周样卷怎么用到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66928" y="3584448"/>
            <a:ext cx="8010144" cy="8686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T3：</a:t>
            </a:r>
            <a:r>
              <a:rPr lang="en-US" sz="12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 in lst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逐个统计会稳定 TLE，要用 </a:t>
            </a:r>
            <a:r>
              <a:rPr lang="en-US" sz="12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Counter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T4：现场试除到 √x 会 TLE，要先筛。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T2：</a:t>
            </a:r>
            <a:r>
              <a:rPr lang="en-US" sz="12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+=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拼接字符串是 O(n²)，要用 </a:t>
            </a:r>
            <a:r>
              <a:rPr lang="en-US" sz="12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''.join()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知识清单 · 常用模板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写进 cheat sheet（1/3）：快速输入与最大公约数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8229600" cy="3063240"/>
          </a:xfrm>
          <a:prstGeom prst="roundRect">
            <a:avLst>
              <a:gd name="adj" fmla="val 2388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97280"/>
            <a:ext cx="8083296" cy="29718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1) 快速输入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sys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 = sys.stdin.read().split()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2) 多组数据直到 EOF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line in sys.stdin: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line = line.strip()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not line: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continue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3) 最大公约数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gcd(a, b):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while b: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a, b = b, a % b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a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4206240"/>
            <a:ext cx="822960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sys.stdin.read().split()</a:t>
            </a:r>
            <a:r>
              <a:rPr lang="en-US" sz="11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是本课</a:t>
            </a:r>
            <a:r>
              <a:rPr lang="en-US" sz="1100" b="1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唯一</a:t>
            </a:r>
            <a:r>
              <a:rPr lang="en-US" sz="11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推荐的大数据量读入方式；</a:t>
            </a:r>
            <a:r>
              <a:rPr lang="en-US" sz="11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gcd</a:t>
            </a:r>
            <a:r>
              <a:rPr lang="en-US" sz="11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是数论题最常见的子过程，第 6 周开始会反复用到。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知识清单 · 常用模板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写进 cheat sheet（2/3）：素数筛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8229600" cy="2331720"/>
          </a:xfrm>
          <a:prstGeom prst="roundRect">
            <a:avLst>
              <a:gd name="adj" fmla="val 3137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97280"/>
            <a:ext cx="8083296" cy="22402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4) 素数筛（埃拉托斯特尼筛法）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sieve(n):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 = [True] * (n + 1)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p[0] = p[1] = False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 = 2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while i * i &lt;= n: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if p[i]: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for j in range(i * i, n + 1, i):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p[j] = False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 += 1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p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3520440"/>
            <a:ext cx="8229600" cy="1097280"/>
          </a:xfrm>
          <a:prstGeom prst="roundRect">
            <a:avLst>
              <a:gd name="adj" fmla="val 6667"/>
            </a:avLst>
          </a:prstGeom>
          <a:solidFill>
            <a:srgbClr val="CFE0D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4360" y="361188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为什么从 i*i 开始标记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3904488"/>
            <a:ext cx="7955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小于 i*i 的 i 的倍数（如 2i、3i、…）已经被更小的质因子标记过了；从 </a:t>
            </a:r>
            <a:r>
              <a:rPr lang="en-US" sz="12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i*i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开始能省掉大量重复标记，这是埃氏筛复杂度 O(n log log n) 的关键。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知识清单 · 常用模板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写进 cheat sheet（3/3）：排序与前缀和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8229600" cy="1600200"/>
          </a:xfrm>
          <a:prstGeom prst="roundRect">
            <a:avLst>
              <a:gd name="adj" fmla="val 4571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51560"/>
            <a:ext cx="8083296" cy="1508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5) 按多关键字排序（先按第 2 项升序，再按第 1 项降序）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rows.sort(key=lambda r: (r[1], -r[0]))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6) 二维前缀和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 = [[0] * (n + 1) for _ in range(m + 1)]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i in range(m):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j in range(n):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pre[i + 1][j + 1] = pre[i][j + 1] + pre[i + 1][j] - pre[i][j] + a[i][j]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2834640"/>
            <a:ext cx="8229600" cy="1005840"/>
          </a:xfrm>
          <a:prstGeom prst="roundRect">
            <a:avLst>
              <a:gd name="adj" fmla="val 7273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4360" y="292608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排序键为什么这么写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3218688"/>
            <a:ext cx="7955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-kv[1]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让「按次数降序」也能用 </a:t>
            </a:r>
            <a:r>
              <a:rPr lang="en-US" sz="12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sort()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的默认升序实现——数值取负，字符串没法取负，所以字典序仍升序、次数用负号降序，两个方向一次搞定。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3977640"/>
            <a:ext cx="8229600" cy="777240"/>
          </a:xfrm>
          <a:prstGeom prst="roundRect">
            <a:avLst>
              <a:gd name="adj" fmla="val 9412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94360" y="406908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前缀和的含义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94360" y="4361688"/>
            <a:ext cx="7955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pre[i][j]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是矩阵左上角 (0,0) 到 (i-1,j-1) 的和；查询任意子矩阵和只需 O(1)。第 6 周会展开讲。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3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月考样卷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三次月考与期末上机考试同一规格：6 题 / 112 分钟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难度梯度 T1 → T6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3.0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月考样卷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难度梯度：从签到到综合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640080" cy="402336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57200" y="1051560"/>
            <a:ext cx="640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E29895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1051560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★☆☆☆☆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2743200" y="1051560"/>
            <a:ext cx="3657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分解因数 · 试除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583680" y="1069848"/>
            <a:ext cx="1600200" cy="365760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583680" y="1069848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真实题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1581912"/>
            <a:ext cx="640080" cy="402336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57200" y="1581912"/>
            <a:ext cx="640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E29940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1234440" y="1581912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★★☆☆☆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2743200" y="1581912"/>
            <a:ext cx="3657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机器猫斗恶龙 · 贪心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583680" y="1600200"/>
            <a:ext cx="1600200" cy="365760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583680" y="160020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真实题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7200" y="2112264"/>
            <a:ext cx="640080" cy="402336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57200" y="2112264"/>
            <a:ext cx="640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M29917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1234440" y="2112264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★★★☆☆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2743200" y="2112264"/>
            <a:ext cx="3657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牛顿迭代法 · 浮点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6583680" y="2130552"/>
            <a:ext cx="1600200" cy="365760"/>
          </a:xfrm>
          <a:prstGeom prst="roundRect">
            <a:avLst>
              <a:gd name="adj" fmla="val 50000"/>
            </a:avLst>
          </a:prstGeom>
          <a:solidFill>
            <a:srgbClr val="F2B134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583680" y="2130552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真实题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57200" y="2642616"/>
            <a:ext cx="640080" cy="402336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57200" y="2642616"/>
            <a:ext cx="640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M29918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1234440" y="2642616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★★★☆☆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2743200" y="2642616"/>
            <a:ext cx="3657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求亲和数 · 数论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6583680" y="2660904"/>
            <a:ext cx="1600200" cy="365760"/>
          </a:xfrm>
          <a:prstGeom prst="roundRect">
            <a:avLst>
              <a:gd name="adj" fmla="val 50000"/>
            </a:avLst>
          </a:prstGeom>
          <a:solidFill>
            <a:srgbClr val="F2B134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6583680" y="2660904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真实题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457200" y="3172968"/>
            <a:ext cx="640080" cy="402336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457200" y="3172968"/>
            <a:ext cx="640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M29949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1234440" y="3172968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★★★★☆</a:t>
            </a:r>
            <a:endParaRPr lang="en-US" sz="1500" dirty="0"/>
          </a:p>
        </p:txBody>
      </p:sp>
      <p:sp>
        <p:nvSpPr>
          <p:cNvPr id="34" name="Text 32"/>
          <p:cNvSpPr txBox="1"/>
          <p:nvPr/>
        </p:nvSpPr>
        <p:spPr>
          <a:xfrm>
            <a:off x="2743200" y="3172968"/>
            <a:ext cx="3657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贪婪的哥布林 · 分数背包</a:t>
            </a:r>
            <a:endParaRPr lang="en-US" sz="1250" dirty="0"/>
          </a:p>
        </p:txBody>
      </p:sp>
      <p:sp>
        <p:nvSpPr>
          <p:cNvPr id="35" name="Shape 33"/>
          <p:cNvSpPr/>
          <p:nvPr/>
        </p:nvSpPr>
        <p:spPr>
          <a:xfrm>
            <a:off x="6583680" y="3191256"/>
            <a:ext cx="1600200" cy="365760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583680" y="3191256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真实题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457200" y="3703320"/>
            <a:ext cx="640080" cy="402336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457200" y="3703320"/>
            <a:ext cx="640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T29947</a:t>
            </a:r>
            <a:endParaRPr lang="en-US" sz="1300" dirty="0"/>
          </a:p>
        </p:txBody>
      </p:sp>
      <p:sp>
        <p:nvSpPr>
          <p:cNvPr id="39" name="Text 37"/>
          <p:cNvSpPr txBox="1"/>
          <p:nvPr/>
        </p:nvSpPr>
        <p:spPr>
          <a:xfrm>
            <a:off x="1234440" y="3703320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★★★★☆</a:t>
            </a:r>
            <a:endParaRPr lang="en-US" sz="1500" dirty="0"/>
          </a:p>
        </p:txBody>
      </p:sp>
      <p:sp>
        <p:nvSpPr>
          <p:cNvPr id="40" name="Text 38"/>
          <p:cNvSpPr txBox="1"/>
          <p:nvPr/>
        </p:nvSpPr>
        <p:spPr>
          <a:xfrm>
            <a:off x="2743200" y="3703320"/>
            <a:ext cx="3657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校门外的树又来了 · 区间</a:t>
            </a:r>
            <a:endParaRPr lang="en-US" sz="1250" dirty="0"/>
          </a:p>
        </p:txBody>
      </p:sp>
      <p:sp>
        <p:nvSpPr>
          <p:cNvPr id="41" name="Shape 39"/>
          <p:cNvSpPr/>
          <p:nvPr/>
        </p:nvSpPr>
        <p:spPr>
          <a:xfrm>
            <a:off x="6583680" y="3721608"/>
            <a:ext cx="1600200" cy="365760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6583680" y="3721608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真实题</a:t>
            </a:r>
            <a:endParaRPr lang="en-US" sz="1100" dirty="0"/>
          </a:p>
        </p:txBody>
      </p:sp>
      <p:sp>
        <p:nvSpPr>
          <p:cNvPr id="43" name="Text 41"/>
          <p:cNvSpPr txBox="1"/>
          <p:nvPr/>
        </p:nvSpPr>
        <p:spPr>
          <a:xfrm>
            <a:off x="457200" y="4297680"/>
            <a:ext cx="822960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月考的意义就在于：提前把机考的题量与时间压力演练一遍——三次月考与期末上机考试</a:t>
            </a:r>
            <a:r>
              <a:rPr lang="en-US" sz="1150" b="1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同一规格</a:t>
            </a:r>
            <a:r>
              <a:rPr lang="en-US" sz="11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</a:t>
            </a:r>
            <a:r>
              <a:rPr lang="en-US" sz="1150" b="1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 题 / 112 分钟</a:t>
            </a:r>
            <a:r>
              <a:rPr lang="en-US" sz="11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月考样卷 · T1 E29895 分解因数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签到题：试除找最小因子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给定合数 n（1 ≤ n ≤ 10¹⁰），求它的最大真因数（除 1、n 本身外的最大因数）。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57200" y="1417320"/>
            <a:ext cx="5120640" cy="1371600"/>
          </a:xfrm>
          <a:prstGeom prst="roundRect">
            <a:avLst>
              <a:gd name="adj" fmla="val 5333"/>
            </a:avLst>
          </a:prstGeom>
          <a:solidFill>
            <a:srgbClr val="F1F4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30352" y="1463040"/>
            <a:ext cx="4974336" cy="12801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 = int(input())</a:t>
            </a:r>
            <a:endParaRPr lang="en-US" sz="13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 = 2</a:t>
            </a:r>
            <a:endParaRPr lang="en-US" sz="13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while n % p:</a:t>
            </a:r>
            <a:endParaRPr lang="en-US" sz="13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 += 1</a:t>
            </a:r>
            <a:endParaRPr lang="en-US" sz="13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print(n // p)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2926080"/>
            <a:ext cx="5120640" cy="777240"/>
          </a:xfrm>
          <a:prstGeom prst="roundRect">
            <a:avLst>
              <a:gd name="adj" fmla="val 9412"/>
            </a:avLst>
          </a:prstGeom>
          <a:solidFill>
            <a:srgbClr val="1B2B2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66928" y="298094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2" name="Text 10"/>
          <p:cNvSpPr txBox="1"/>
          <p:nvPr/>
        </p:nvSpPr>
        <p:spPr>
          <a:xfrm>
            <a:off x="566928" y="3182112"/>
            <a:ext cx="4901184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输入: 21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输出: 7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760720" y="1417320"/>
            <a:ext cx="2926080" cy="2286000"/>
          </a:xfrm>
          <a:prstGeom prst="roundRect">
            <a:avLst>
              <a:gd name="adj" fmla="val 3200"/>
            </a:avLst>
          </a:prstGeom>
          <a:solidFill>
            <a:srgbClr val="FFF6E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897880" y="150876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 n // p 就是最大因子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897880" y="1801368"/>
            <a:ext cx="26517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 从 2 开始逐个试除，第一个整除 n 的 p 就是 n 的最小因子；因数成对出现，最小因子对应的另一半就是最大真因子 n/p。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3886200"/>
            <a:ext cx="82296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题目：cs101.openjudge.cn/practice/29895/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月考样卷 · T2 E29940 机器猫斗恶龙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前缀和：血量全程为正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822960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依次经过 n 个关卡，正数回血、负数扣血；任何时刻血量必须为正数。求最小的正整数初始血量（n ≤ 10⁵）。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554480"/>
            <a:ext cx="5120640" cy="1737360"/>
          </a:xfrm>
          <a:prstGeom prst="roundRect">
            <a:avLst>
              <a:gd name="adj" fmla="val 4211"/>
            </a:avLst>
          </a:prstGeom>
          <a:solidFill>
            <a:srgbClr val="F1F4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30352" y="1600200"/>
            <a:ext cx="4974336" cy="1645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sys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= list(map(int, sys.stdin.buffer.read().split()))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cur = mn = 0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x in a[1:1 + a[0]]: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cur += x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mn = min(mn, cur)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print(1 - mn)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429000"/>
            <a:ext cx="5120640" cy="777240"/>
          </a:xfrm>
          <a:prstGeom prst="roundRect">
            <a:avLst>
              <a:gd name="adj" fmla="val 9412"/>
            </a:avLst>
          </a:prstGeom>
          <a:solidFill>
            <a:srgbClr val="1B2B2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66928" y="34838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2" name="Text 10"/>
          <p:cNvSpPr txBox="1"/>
          <p:nvPr/>
        </p:nvSpPr>
        <p:spPr>
          <a:xfrm>
            <a:off x="566928" y="3685032"/>
            <a:ext cx="4901184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输入: 5 / -200 -300 1000 -100 -100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输出: 501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760720" y="1554480"/>
            <a:ext cx="2926080" cy="2651760"/>
          </a:xfrm>
          <a:prstGeom prst="roundRect">
            <a:avLst>
              <a:gd name="adj" fmla="val 2759"/>
            </a:avLst>
          </a:prstGeom>
          <a:solidFill>
            <a:srgbClr val="FFF6E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897880" y="164592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前缀和的最小值就是最大跌幅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897880" y="1938528"/>
            <a:ext cx="26517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cur 是相对初始血量的累计变化，mn 是过程中最深的一次跌幅（负数）。初始血量只要 ≥ 1 - mn，全程血量就能保持 &gt; 0。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月考样卷 · T3 M29917 牛顿迭代法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迭代逼近、浮点终止条件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822960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对每个正数 a（读到 EOF 为止），用初值 x=1 和迭代式 x = (x + a/x) / 2 求平方根；相邻两次近似值之差 ≤ 1e-6 时停止，输出迭代次数与两位小数结果。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57200" y="1554480"/>
            <a:ext cx="8229600" cy="1965960"/>
          </a:xfrm>
          <a:prstGeom prst="roundRect">
            <a:avLst>
              <a:gd name="adj" fmla="val 3721"/>
            </a:avLst>
          </a:prstGeom>
          <a:solidFill>
            <a:srgbClr val="F1F4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30352" y="1600200"/>
            <a:ext cx="8083296" cy="18745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sys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token in sys.stdin.read().split():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a, x, cnt = float(token), 1.0, 0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while True: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y = (x + a / x) / 2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cnt += 1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if abs(y - x) &lt;= 1e-6: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print(cnt, f'{y:.2f}')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break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x = y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3611880"/>
            <a:ext cx="4434840" cy="2560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样例输入：</a:t>
            </a:r>
            <a:r>
              <a:rPr lang="en-US" sz="10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</a:t>
            </a:r>
            <a:r>
              <a:rPr lang="en-US" sz="10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</a:t>
            </a:r>
            <a:r>
              <a:rPr lang="en-US" sz="10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</a:t>
            </a:r>
            <a:r>
              <a:rPr lang="en-US" sz="10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</a:t>
            </a:r>
            <a:r>
              <a:rPr lang="en-US" sz="10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144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57200" y="3886200"/>
            <a:ext cx="4434840" cy="502920"/>
          </a:xfrm>
          <a:prstGeom prst="roundRect">
            <a:avLst>
              <a:gd name="adj" fmla="val 14545"/>
            </a:avLst>
          </a:prstGeom>
          <a:solidFill>
            <a:srgbClr val="1B2B2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66928" y="39410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3" name="Text 11"/>
          <p:cNvSpPr txBox="1"/>
          <p:nvPr/>
        </p:nvSpPr>
        <p:spPr>
          <a:xfrm>
            <a:off x="566928" y="4142232"/>
            <a:ext cx="421538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 3.46 / 7 5.00 / 8 12.00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074920" y="3611880"/>
            <a:ext cx="3611880" cy="777240"/>
          </a:xfrm>
          <a:prstGeom prst="roundRect">
            <a:avLst>
              <a:gd name="adj" fmla="val 9412"/>
            </a:avLst>
          </a:prstGeom>
          <a:solidFill>
            <a:srgbClr val="FFF6E0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212080" y="3703320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不定行输入用 sys.stdin.read().split()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5212080" y="3995928"/>
            <a:ext cx="3337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题目没给数据组数，逐个 token 处理到 EOF；每个数独立跑一次牛顿迭代，互不影响。</a:t>
            </a:r>
            <a:endParaRPr lang="en-US" sz="9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月考样卷 · T4 M29918 求亲和数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倍数筛：真因数和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822960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若 a 的真因数和 = b、b 的真因数和 = a（a ≠ b），称 (a, b) 为亲和数对。给定 n（≤ 100000），按较小数递增输出所有 a ≤ n 的亲和数对。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57200" y="1554480"/>
            <a:ext cx="5212080" cy="2240280"/>
          </a:xfrm>
          <a:prstGeom prst="roundRect">
            <a:avLst>
              <a:gd name="adj" fmla="val 3265"/>
            </a:avLst>
          </a:prstGeom>
          <a:solidFill>
            <a:srgbClr val="F1F4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30352" y="1600200"/>
            <a:ext cx="5065776" cy="21488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sys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 = int(sys.stdin.buffer.read())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 = [0] * (n + 1)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d in range(1, n // 2 + 1):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x in range(2 * d, n + 1, d):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s[x] += d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a in range(2, n + 1):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b = s[a]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a &lt; b &lt;= n and s[b] == a: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print(a, b)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5806440" y="1554480"/>
            <a:ext cx="288036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样例输入：</a:t>
            </a:r>
            <a:r>
              <a:rPr lang="en-US" sz="10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1500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806440" y="1847088"/>
            <a:ext cx="2880360" cy="822960"/>
          </a:xfrm>
          <a:prstGeom prst="roundRect">
            <a:avLst>
              <a:gd name="adj" fmla="val 8889"/>
            </a:avLst>
          </a:prstGeom>
          <a:solidFill>
            <a:srgbClr val="1B2B2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916168" y="1901952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3" name="Text 11"/>
          <p:cNvSpPr txBox="1"/>
          <p:nvPr/>
        </p:nvSpPr>
        <p:spPr>
          <a:xfrm>
            <a:off x="5916168" y="2103120"/>
            <a:ext cx="266090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220 284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1184 1210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806440" y="2743200"/>
            <a:ext cx="2880360" cy="1965960"/>
          </a:xfrm>
          <a:prstGeom prst="roundRect">
            <a:avLst>
              <a:gd name="adj" fmla="val 3721"/>
            </a:avLst>
          </a:prstGeom>
          <a:solidFill>
            <a:srgbClr val="FFF6E0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943600" y="283464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倍数筛，不是逐个试除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5943600" y="3127248"/>
            <a:ext cx="26060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对每个因子 d，把它加到所有 d 的倍数（除自身外）的累加器上——s[x] 最终就是 x 的真因数和，是 O(n log n)，比逐个试除到 √x 快得多。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月考样卷 · T5 M29949 贪婪的哥布林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分数背包：按单位价值贪心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 堆矿石，每堆价值 v、重量 w，可任意分割；背包承重 M。求能装下的最大总价值。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371600"/>
            <a:ext cx="8229600" cy="2103120"/>
          </a:xfrm>
          <a:prstGeom prst="roundRect">
            <a:avLst>
              <a:gd name="adj" fmla="val 3478"/>
            </a:avLst>
          </a:prstGeom>
          <a:solidFill>
            <a:srgbClr val="F1F4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30352" y="1417320"/>
            <a:ext cx="8083296" cy="2011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sys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 = list(map(int, sys.stdin.buffer.read().split()))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n, cap = d[:2]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items = sorted([(d[i] / d[i + 1], d[i], d[i + 1])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for i in range(2, 2 * n + 2, 2)], reverse=True)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ans = 0.0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ratio, value, weight in items: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take = min(cap, weight)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ans += ratio * take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cap -= take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cap == 0: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break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print(f'{ans:.2f}')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57200" y="3611880"/>
            <a:ext cx="3977640" cy="777240"/>
          </a:xfrm>
          <a:prstGeom prst="roundRect">
            <a:avLst>
              <a:gd name="adj" fmla="val 9412"/>
            </a:avLst>
          </a:prstGeom>
          <a:solidFill>
            <a:srgbClr val="1B2B2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66928" y="366674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2" name="Text 10"/>
          <p:cNvSpPr txBox="1"/>
          <p:nvPr/>
        </p:nvSpPr>
        <p:spPr>
          <a:xfrm>
            <a:off x="566928" y="3867912"/>
            <a:ext cx="3758184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输入: 3 50 / 60 10 / 100 20 / 120 30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输出: 240.00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572000" y="3611880"/>
            <a:ext cx="4114800" cy="868680"/>
          </a:xfrm>
          <a:prstGeom prst="roundRect">
            <a:avLst>
              <a:gd name="adj" fmla="val 8421"/>
            </a:avLst>
          </a:prstGeom>
          <a:solidFill>
            <a:srgbClr val="FFF6E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709160" y="370332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可分割背包：贪心一定最优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709160" y="3995928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按单位重量价值 v/w 从高到低取，能整堆拿就整堆拿，拿不下就切一部分——矿石可分割，不存在 0-1 背包那种「拿了就放不下别的」的取舍。</a:t>
            </a:r>
            <a:endParaRPr lang="en-US" sz="9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月考样卷 · T6 T29947 校门外的树又来了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区间合并、边界计数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822960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0..L 共 L+1 棵树，给出 M 个闭区间并移除区间内的树，求剩余树的数量。排序后合并重叠 / 相邻区间，区间长度按 r-l+1 计算。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57200" y="1554480"/>
            <a:ext cx="5212080" cy="2560320"/>
          </a:xfrm>
          <a:prstGeom prst="roundRect">
            <a:avLst>
              <a:gd name="adj" fmla="val 2857"/>
            </a:avLst>
          </a:prstGeom>
          <a:solidFill>
            <a:srgbClr val="F1F4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30352" y="1600200"/>
            <a:ext cx="5065776" cy="2468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sys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 = list(map(int, sys.stdin.buffer.read().split()))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L, m = d[:2]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seg = sorted(tuple(sorted(d[i:i + 2])) for i in range(2, 2 * m + 2, 2))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removed = 0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left = right = None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l, r in seg + [(10**18, 10**18)]: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left is None: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left, right = l, r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elif l &lt;= right + 1: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right = max(right, r)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else: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removed += right - left + 1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left, right = l, r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print(L + 1 - removed)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5806440" y="1554480"/>
            <a:ext cx="288036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样例输入：</a:t>
            </a:r>
            <a:r>
              <a:rPr lang="en-US" sz="10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500 3</a:t>
            </a: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</a:t>
            </a:r>
            <a:r>
              <a:rPr lang="en-US" sz="10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150 300</a:t>
            </a: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</a:t>
            </a:r>
            <a:r>
              <a:rPr lang="en-US" sz="10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100 200</a:t>
            </a: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</a:t>
            </a:r>
            <a:r>
              <a:rPr lang="en-US" sz="10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470 471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806440" y="2148840"/>
            <a:ext cx="2880360" cy="594360"/>
          </a:xfrm>
          <a:prstGeom prst="roundRect">
            <a:avLst>
              <a:gd name="adj" fmla="val 12308"/>
            </a:avLst>
          </a:prstGeom>
          <a:solidFill>
            <a:srgbClr val="1B2B2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916168" y="220370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3" name="Text 11"/>
          <p:cNvSpPr txBox="1"/>
          <p:nvPr/>
        </p:nvSpPr>
        <p:spPr>
          <a:xfrm>
            <a:off x="5916168" y="2404872"/>
            <a:ext cx="266090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298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806440" y="2834640"/>
            <a:ext cx="2880360" cy="1828800"/>
          </a:xfrm>
          <a:prstGeom prst="roundRect">
            <a:avLst>
              <a:gd name="adj" fmla="val 4000"/>
            </a:avLst>
          </a:prstGeom>
          <a:solidFill>
            <a:srgbClr val="FFF6E0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943600" y="292608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 ≤ right + 1 才算相邻要合并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5943600" y="3218688"/>
            <a:ext cx="2606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两个区间即使不重叠，只要端点相邻（中间没有树），也要合并成一段一起统计，否则会重复扣同一棵树，或漏掉紧挨着的区间。</a:t>
            </a:r>
            <a:endParaRPr lang="en-US" sz="9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4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备选题库与考后订正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可替换样卷任意一题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三分类 · 重写规则 · 错题类型表</a:t>
            </a:r>
            <a:endParaRPr lang="en-US" sz="13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备选题库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可替换样卷中的任意一题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</a:t>
            </a:r>
            <a:endParaRPr lang="en-US" sz="9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3931920"/>
                <a:gridCol w="1920240"/>
              </a:tblGrid>
              <a:tr h="3337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考点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题目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编号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输入输出 / 分支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鸡兔同笼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E02750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分支 / 读题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判断闰年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02733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循环 / 取模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与 7 无关的数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02701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字符串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大小写字母互换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E02689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字符串 / 模拟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文字排版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E06374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字典 / 排序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生日相同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E02724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素数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验证「歌德巴赫猜想」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E03143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数学 / 枚举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完美立方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M02810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模拟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2050 年成绩计算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E18176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进制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十进制到八进制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E02734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考后订正 · 唯一有效的方法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三分类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23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考完试，按下面的流程走一遍。</a:t>
            </a:r>
            <a:r>
              <a:rPr lang="en-US" sz="13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只看题解不重写，等于没订正。</a:t>
            </a:r>
            <a:endParaRPr lang="en-US" sz="13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822960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2560320"/>
                <a:gridCol w="4114800"/>
              </a:tblGrid>
              <a:tr h="5943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类别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表现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处理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不会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看完题解才懂思路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重做同类题 3 道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2B13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会但写错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思路对，代码有 bug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找出 bug 的</a:t>
                      </a:r>
                      <a:r>
                        <a:rPr lang="en-US" sz="12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类型</a:t>
                      </a: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，写进 cheat sheet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3E7C6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会但没时间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剩 10 分钟才开始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练打字 + 练模板默写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457200" y="3611880"/>
            <a:ext cx="8229600" cy="777240"/>
          </a:xfrm>
          <a:prstGeom prst="roundRect">
            <a:avLst>
              <a:gd name="adj" fmla="val 9412"/>
            </a:avLst>
          </a:prstGeom>
          <a:solidFill>
            <a:srgbClr val="CFE0D8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594360" y="370332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 重写规则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594360" y="3995928"/>
            <a:ext cx="7955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关掉题解，从空文件重写，一次通过。</a:t>
            </a: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做不到就再来一遍。</a:t>
            </a:r>
            <a:endParaRPr lang="en-US" sz="13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考后订正 · 建立错题类型表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记类型，不记题目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24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822960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不要记「第 3 题错了」，要记「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我在多关键字排序时容易只写一个 key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」。类型是可迁移的，具体题目不是。</a:t>
            </a:r>
            <a:endParaRPr lang="en-US" sz="125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00200"/>
          <a:ext cx="822960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2286000"/>
                <a:gridCol w="3474720"/>
              </a:tblGrid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我的高频错误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触发场景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对策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忘 </a:t>
                      </a:r>
                      <a:r>
                        <a:rPr lang="en-US" sz="1200" b="1" dirty="0">
                          <a:solidFill>
                            <a:srgbClr val="3E7C6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strip()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字符串比较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读入统一 </a:t>
                      </a:r>
                      <a:r>
                        <a:rPr lang="en-US" sz="1200" b="1" dirty="0">
                          <a:solidFill>
                            <a:srgbClr val="3E7C6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.strip()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二维数组别名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建网格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一律 </a:t>
                      </a:r>
                      <a:r>
                        <a:rPr lang="en-US" sz="1200" b="1" dirty="0">
                          <a:solidFill>
                            <a:srgbClr val="3E7C6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[[0]*n for _ in range(m)]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用 </a:t>
                      </a:r>
                      <a:r>
                        <a:rPr lang="en-US" sz="1200" b="1" dirty="0">
                          <a:solidFill>
                            <a:srgbClr val="3E7C6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in</a:t>
                      </a: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查 list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判存在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建 </a:t>
                      </a:r>
                      <a:r>
                        <a:rPr lang="en-US" sz="1200" b="1" dirty="0">
                          <a:solidFill>
                            <a:srgbClr val="3E7C6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set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浮点比较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开方 / 除法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转整数或 </a:t>
                      </a:r>
                      <a:r>
                        <a:rPr lang="en-US" sz="1200" b="1" dirty="0">
                          <a:solidFill>
                            <a:srgbClr val="3E7C6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isclose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边界 n=1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循环 / 切片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提交前手测 n=1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 考场策略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112 分钟 / 6 题的时间预算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188720"/>
            <a:ext cx="365760" cy="594360"/>
          </a:xfrm>
          <a:prstGeom prst="rect">
            <a:avLst/>
          </a:prstGeom>
          <a:solidFill>
            <a:srgbClr val="6B7B7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7200" y="120700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通读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1481328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0–5 min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822960" y="1188720"/>
            <a:ext cx="731520" cy="594360"/>
          </a:xfrm>
          <a:prstGeom prst="rect">
            <a:avLst/>
          </a:prstGeom>
          <a:solidFill>
            <a:srgbClr val="2E9E6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2960" y="1207008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14813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5–15 min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1554480" y="1188720"/>
            <a:ext cx="1828800" cy="594360"/>
          </a:xfrm>
          <a:prstGeom prst="rect">
            <a:avLst/>
          </a:prstGeom>
          <a:solidFill>
            <a:srgbClr val="3E7C6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554480" y="120700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T2·T3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1554480" y="148132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15–40 min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3383280" y="1188720"/>
            <a:ext cx="2194560" cy="594360"/>
          </a:xfrm>
          <a:prstGeom prst="rect">
            <a:avLst/>
          </a:prstGeom>
          <a:solidFill>
            <a:srgbClr val="F2B13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383280" y="120700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T4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3383280" y="1481328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40–70 min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5577840" y="1188720"/>
            <a:ext cx="2377440" cy="594360"/>
          </a:xfrm>
          <a:prstGeom prst="rect">
            <a:avLst/>
          </a:prstGeom>
          <a:solidFill>
            <a:srgbClr val="C0392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577840" y="120700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T5·T6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5577840" y="1481328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70–102 min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7955280" y="1188720"/>
            <a:ext cx="731520" cy="594360"/>
          </a:xfrm>
          <a:prstGeom prst="rect">
            <a:avLst/>
          </a:prstGeom>
          <a:solidFill>
            <a:srgbClr val="1E3D3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955280" y="1207008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检查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7955280" y="14813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102–112 min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2103120"/>
            <a:ext cx="8229600" cy="23774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 5 分钟通读全部题目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，按预估难度排序，先做有把握的。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看数据范围定复杂度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，再动手（第 4 周 3.4 节）。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样例过了先交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——OJ 反馈比自己盯屏幕快。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WA 就造数据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：n=1、全相同、最大值、最小值。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卡满 15 分钟换题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，回头再看；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留 10 分钟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检查输出格式：多余空格、换行、精度。</a:t>
            </a:r>
            <a:endParaRPr lang="en-US" sz="12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本周作业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26</a:t>
            </a:r>
            <a:endParaRPr lang="en-US" sz="9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2926080"/>
                <a:gridCol w="4754880"/>
              </a:tblGrid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#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任务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说明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完成月考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机房，112 分钟，6 题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订正全部未 AC 题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按第 5 节的三分类 + 重写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提交一份错题类型表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至少 5 条，格式见 5.3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更新自己的 cheat sheet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一页 A4，双面，手写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完美立方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M02810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细菌繁殖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02712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文字排版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E06374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223760" y="-2103120"/>
            <a:ext cx="3108960" cy="310896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365760"/>
            <a:ext cx="548640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本周小结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097280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5" name="Shape 3"/>
          <p:cNvSpPr/>
          <p:nvPr/>
        </p:nvSpPr>
        <p:spPr>
          <a:xfrm>
            <a:off x="713232" y="1234440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34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109728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体检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2880360" y="1097280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月考是体检：暴露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语法关、速度关、调试关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三处短板。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1856232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10" name="Shape 8"/>
          <p:cNvSpPr/>
          <p:nvPr/>
        </p:nvSpPr>
        <p:spPr>
          <a:xfrm>
            <a:off x="713232" y="1993392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13232" y="19933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234440" y="1856232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自检清单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2880360" y="1856232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打不了勾的地方，就是本周的复习重点。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2615184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15" name="Shape 13"/>
          <p:cNvSpPr/>
          <p:nvPr/>
        </p:nvSpPr>
        <p:spPr>
          <a:xfrm>
            <a:off x="713232" y="2752344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13232" y="27523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2615184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难度梯度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2880360" y="2615184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签到 → 字符串 → 字典排序 → 复杂度意识 → 综合模拟 → 补码位运算，规格与期末机考一致：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 题 / 112 分钟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48640" y="3374136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20" name="Shape 18"/>
          <p:cNvSpPr/>
          <p:nvPr/>
        </p:nvSpPr>
        <p:spPr>
          <a:xfrm>
            <a:off x="713232" y="3511296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13232" y="35112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234440" y="3374136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订正方法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2880360" y="3374136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唯一有效的方法：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分类 → 关题解重写 → 记录错误类型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48640" y="4133088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25" name="Shape 23"/>
          <p:cNvSpPr/>
          <p:nvPr/>
        </p:nvSpPr>
        <p:spPr>
          <a:xfrm>
            <a:off x="713232" y="4270248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13232" y="42702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234440" y="4133088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考场六条</a:t>
            </a:r>
            <a:endParaRPr lang="en-US" sz="1350" dirty="0"/>
          </a:p>
        </p:txBody>
      </p:sp>
      <p:sp>
        <p:nvSpPr>
          <p:cNvPr id="28" name="Text 26"/>
          <p:cNvSpPr txBox="1"/>
          <p:nvPr/>
        </p:nvSpPr>
        <p:spPr>
          <a:xfrm>
            <a:off x="2880360" y="4133088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通读、看范围、早提交、造数据、按时换题、查格式。</a:t>
            </a:r>
            <a:endParaRPr lang="en-US" sz="12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下周预告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矩阵、排序与贪心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进入 10 月的「上强度」阶段，第一次系统地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认识时间复杂度在实战中的作用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计算概论（B）第 5 周 10 月月考与阶段复习</dc:title>
  <dc:subject>PptxGenJS Presentation</dc:subject>
  <dc:creator>Hongfei Yan</dc:creator>
  <cp:lastModifiedBy>Hongfei Yan</cp:lastModifiedBy>
  <cp:revision>1</cp:revision>
  <dcterms:created xsi:type="dcterms:W3CDTF">2026-09-22T13:27:50Z</dcterms:created>
  <dcterms:modified xsi:type="dcterms:W3CDTF">2026-09-22T13:27:50Z</dcterms:modified>
</cp:coreProperties>
</file>