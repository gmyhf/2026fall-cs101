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3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计算机原理（1/2）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计算机文化与基本概念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计算机科学的学科体系与抽象 · 图灵机与可计算性 · 停机问题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冯·诺依曼结构 · 指令周期 · 存储层次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进制转换 · 原码 / 反码 / 补码 · 位运算 · IEEE 754 浮点与精度陷阱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· Unicode 与 UTF-8 · 计算机先驱与摩尔定律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计算机能算什么、不能算什么？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图灵机给出「可计算」的定义；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停机问题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是被证明了的不可能。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程序和数据在机器里长什么样？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冯·诺依曼的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存储程序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：指令和数据放在同一块存储器里，都是二进制。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0.1 + 0.2 ≠ 0.3？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、小数用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IEEE 754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、文字用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——每种表示都有它的边界。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这一周暂时离开写题，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往下看一层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：程序跑在什么样的机器上，数据在机器里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怎样表示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 计算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计算机科学是什么：学科体系、抽象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图灵机模型与转移规则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丘奇—图灵论题、停机问题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用 Python 实现一台图灵机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3–4  机器与数据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冯·诺依曼结构：五大部件、指令周期、存储层次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进制与转换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原码、反码、补码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位运算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浮点数与精度陷阱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5–6  编码与文化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ASCII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Unicode 与 UTF-8、乱码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计算机先驱、摩尔定律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五行代码，五个本周要讲清楚的现象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print(0.1 + 0.2)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小数：为什么多了个尾巴？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print(bin(233))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整数：机器里只有 0 和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print(-5 &amp; 0xFF)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负数：-5 的低 8 位怎么变成了 251？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print(ord('A'), ord('a'))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字符：其实是编号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print("中".encode())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汉字：一个字 3 个字节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00584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16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261872"/>
            <a:ext cx="266090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0b11101001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65 97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b'\xe4\xb8\xad'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 + 0.2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27889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十进制 0.1 在二进制里是无限循环小数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28163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2816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4.4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bin(233)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31546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除基取余：233 = 1110 1001₂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318211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4.1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 &amp; 0xFF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3520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 的 8 位补码就是 1111 1011 = 251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18120" y="35478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4.2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86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 / chr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38862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ASCII：'A' = 65，'a' = 97，相差 32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39136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18120" y="3913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5.1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51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encode()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057400" y="42519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把码点 U+4E2D 编成 3 个字节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18120" y="42793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18120" y="4279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5.2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计算机科学是什么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它研究的是计算本身，计算机只是载体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学科体系 · 抽象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计算机科学是什么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一个常见的误解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960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1887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计算机科学不是关于计算机的科学，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正如天文学不是关于望远镜的科学。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计算机科学研究的是这三个问题，计算机只是执行计算的机器：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什么问题可以被计算？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可计算性 —— 本周的图灵机与停机问题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怎样高效地计算？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 —— 整门课的主线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计算的代价是多少？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 —— 第 4 周的大 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计算机科学是什么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学科体系：三个层次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本课涉及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可计算性、复杂性、算法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图灵机（本周）、大 O（第 4 周）、算法设计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体系结构、操作系统、网络、编译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冯·诺依曼结构（本周）、虚拟地址空间、进程（第 13 周）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数据库、图形学、人工智能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素养（第 14 周）、知识图谱、神经网络（第 15 周）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这门课站在哪里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67588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理论层的算法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 Python 把问题变成正确、够快的程序。第 3、13 周两次「往下看一层」，补上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的常识——很多「为什么这么慢」「为什么结果不对」的答案都在那里。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计算机科学是什么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抽象：计算机科学最核心的工具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，在不同层次上看到的是不同的东西：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371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print("hello")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13716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你写的代码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011680"/>
            <a:ext cx="4718304" cy="530352"/>
          </a:xfrm>
          <a:prstGeom prst="roundRect">
            <a:avLst>
              <a:gd name="adj" fmla="val 13793"/>
            </a:avLst>
          </a:prstGeom>
          <a:solidFill>
            <a:srgbClr val="DCE8E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0116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011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字节码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01168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解释器执行的指令序列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" y="2651760"/>
            <a:ext cx="4498848" cy="530352"/>
          </a:xfrm>
          <a:prstGeom prst="roundRect">
            <a:avLst>
              <a:gd name="adj" fmla="val 13793"/>
            </a:avLst>
          </a:prstGeom>
          <a:solidFill>
            <a:srgbClr val="E6EFE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26517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6517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解释器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265176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 C 写的程序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" y="3291840"/>
            <a:ext cx="4279392" cy="530352"/>
          </a:xfrm>
          <a:prstGeom prst="roundRect">
            <a:avLst>
              <a:gd name="adj" fmla="val 13793"/>
            </a:avLst>
          </a:prstGeom>
          <a:solidFill>
            <a:srgbClr val="EEF3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" y="32918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291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系统调用 write()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329184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请操作系统把字节写到屏幕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" y="3931920"/>
            <a:ext cx="4059936" cy="530352"/>
          </a:xfrm>
          <a:prstGeom prst="roundRect">
            <a:avLst>
              <a:gd name="adj" fmla="val 13793"/>
            </a:avLst>
          </a:prstGeom>
          <a:solidFill>
            <a:srgbClr val="F5F8F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39319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39319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指令、内存读写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703320" y="393192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最终是电压的高低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1417320"/>
            <a:ext cx="0" cy="306324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57784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越往下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越具体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137160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抽象的价值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19088" y="1755648"/>
            <a:ext cx="2157984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你不需要同时想所有层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——写应用时不必想电压。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知道下一层存在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，出错时才知道往哪儿看。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计算机科学是什么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出了问题，往下一层找原因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本周会讲到的几个「怪现象」，答案都不在你写的那一层：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现象（应用层看到的）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原因在哪一层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本周哪一节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 + 0.2 == 0.3 是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硬件层：浮点数是二进制近似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 里 2147483647 + 1 变成负数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硬件层：32 位补码溢出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打开文件满屏「浣犲ソ」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 / 语言层：编码与解码不一致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按列遍历大矩阵比按行慢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硬件层：缓存与存储层次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程序「卡住」了——是死循环还是慢？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理论层：停机问题不可判定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怎么用这张表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遇到「代码明明没错，结果却不对」时，先问：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这是哪一层的规则？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图灵机与可计算性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1936 年，Alan Turing 用一个极简模型回答「什么是计算」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转移规则 · 丘奇—图灵论题 · 停机问题 · Python 实现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模型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图灵机：纸带 + 读写头 + 状态机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371600"/>
            <a:ext cx="5669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55648" y="1371600"/>
            <a:ext cx="566928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55648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22576" y="1371600"/>
            <a:ext cx="566928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22576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89504" y="1371600"/>
            <a:ext cx="566928" cy="420624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9504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56432" y="1371600"/>
            <a:ext cx="566928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56432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23360" y="1371600"/>
            <a:ext cx="566928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90288" y="1371600"/>
            <a:ext cx="5669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0288" y="1371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1417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无限长的纸带，每格一个符号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98648" y="1828800"/>
            <a:ext cx="0" cy="384048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06324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读写头：读 / 写 / 左移 / 右移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233172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874520" y="2331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状态机：当前状态 q0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2377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有限个状态 + 一张规则表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一个图灵机由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转移规则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(当前状态, 读到的符号)</a:t>
            </a:r>
            <a:r>
              <a:rPr lang="en-US" sz="1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(写入的符号, 移动方向, 下一状态)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每一步只做三件事：写一格、挪一步、换一个状态。就这么多。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模型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一台「二进制加一」的图灵机：只要三条规则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读写头从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最低位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（最右边）出发，只用一个状态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731520"/>
                <a:gridCol w="731520"/>
                <a:gridCol w="1005840"/>
                <a:gridCol w="40233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+ 1 = 10：本位写 0，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进位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halt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+ 1 = 1：吸收进位，停机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halt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走到最左边的空白：补一位 1，停机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3375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移动方向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721608"/>
            <a:ext cx="375818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左移一格，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右移一格，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不动。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表示空白格：纸带两端无限延伸，全是空白。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33375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和手算一模一样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37216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你在纸上做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时，也是从最右边开始：遇 1 写 0 进位、遇 0 写 1 收工。图灵机只是把这个过程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写成了规则表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逐步执行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手动跑一遍：1011 + 1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109728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0972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65960" y="109728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5960" y="10972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10972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1097280"/>
            <a:ext cx="502920" cy="420624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10972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23260" y="1554480"/>
            <a:ext cx="0" cy="20116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116128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03320" y="1161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0972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读写头在最低位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463040" y="192024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965960" y="192024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6596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468880" y="1920240"/>
            <a:ext cx="502920" cy="420624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6888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971800" y="192024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80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20340" y="2377440"/>
            <a:ext cx="0" cy="20116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703320" y="198424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03320" y="19842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19202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1 → 写 0，左移（进位）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7432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463040" y="274320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63040" y="27432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965960" y="2743200"/>
            <a:ext cx="502920" cy="420624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965960" y="27432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468880" y="274320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468880" y="27432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971800" y="274320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71800" y="27432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2217420" y="3200400"/>
            <a:ext cx="0" cy="20116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3703320" y="280720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703320" y="28072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2743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1 → 写 0，左移（进位）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566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463040" y="356616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463040" y="3566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965960" y="3566160"/>
            <a:ext cx="502920" cy="420624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65960" y="3566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2468880" y="356616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468880" y="3566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2971800" y="3566160"/>
            <a:ext cx="50292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971800" y="3566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217420" y="4023360"/>
            <a:ext cx="0" cy="20116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56" name="Shape 54"/>
          <p:cNvSpPr/>
          <p:nvPr/>
        </p:nvSpPr>
        <p:spPr>
          <a:xfrm>
            <a:off x="3703320" y="363016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703320" y="36301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halt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0" y="35661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0 → 写 1，不动，停机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4389120"/>
            <a:ext cx="8229600" cy="292608"/>
          </a:xfrm>
          <a:prstGeom prst="roundRect">
            <a:avLst>
              <a:gd name="adj" fmla="val 25000"/>
            </a:avLst>
          </a:prstGeom>
          <a:solidFill>
            <a:srgbClr val="FFF6E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（11 + 1 = 12），共 3 步。再试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：三次进位后读到空白，补 1 →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，共 4 步。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为什么重要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它划定了「可计算」的边界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丘奇—图灵论题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任何「直觉上可计算」的函数，都能被图灵机计算。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Python 程序、C++ 程序，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能算的东西不比图灵机多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——只是快得多、好写得多。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所有通用编程语言在「能算什么」上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；差别在效率与表达。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D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停机问题不可判定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一个程序，能对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 +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输入，判断它是否会停机。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这是计算的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根本边界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不是「我们还没想到办法」，而是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证明了不可能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停机问题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为什么不可能？一个反证（思路）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有人写出了万能的判定函数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halts(p, x)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：p 在输入 x 上停机就返回 True，否则 False。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470001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halts(p, x):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假设它存在，且总能给出正确答案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trouble(p):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halts(p, p):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如果 p 拿自己当输入会停机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True: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那我就偏偏死循环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pass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如果 p 拿自己当输入不停机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那我就立刻停机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trouble(trouble)         </a:t>
            </a:r>
            <a:r>
              <a:rPr lang="en-US" sz="105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？？？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32120" y="150876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0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问：trouble(trouble) 停不停机？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41848" y="1892808"/>
            <a:ext cx="293522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说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：它就进入死循环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。矛盾。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说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：它就立刻返回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。矛盾。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333756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72160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两头都矛盾，只能是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假设错了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：这样的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根本写不出来。这就是图灵 1936 年的对角线论证。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Python 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Python 实现一台通用图灵机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5216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0585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turing_machine(tape, rules, start="q0", halt="halt", blank="_"):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"""rules: {(state, symbol): (write, move, next_state)}"""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cells = dict(enumerate(tape))   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下标 -&gt; 符号：两端可无限延伸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head, state, steps = len(tape) - 1, start,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state != halt and steps &lt; 100000: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sym = cells.get(head, blank)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没写过的格子就是空白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(state, sym) not in rules: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                   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没有规则可用：停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write, move, state = rules[(state, sym)]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cells[head] = write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 += {"L": -1, "R": 1, "N": 0}[move]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steps +=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min(cells), max(cells)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''.join(cells.get(i, blank) for i in range(lo, hi + 1)).strip(blank)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二进制加一：从最低位向左扫，遇 1 变 0 继续进位，遇 0 或空白变 1 停机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 =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("q0", "1"): ("0", "L", "q0"),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("q0", "0"): ("1", "N", "halt"),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("q0", "_"): ("1", "N", "halt"),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["1011", "111", "0"]: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"-&gt;", turing_machine(x, INCREMENT))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492240" y="932688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1968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188720"/>
            <a:ext cx="1975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1011 -&gt; 1100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111 -&gt; 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0 -&gt;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19456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亲手跑一遍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5786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一台「计算机」的本质，就是这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：一张规则表 + 一个循环。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520440"/>
            <a:ext cx="2194560" cy="1161288"/>
          </a:xfrm>
          <a:prstGeom prst="roundRect">
            <a:avLst>
              <a:gd name="adj" fmla="val 6299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换规则 = 换程序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04488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模拟器不用改，只换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字典，它就算别的东西——这正是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的含义。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图灵机 · 代码要点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三处值得细看的写法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155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cells = dict(enumerate(tape))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4630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而不是列表存纸带：下标可以是负数（向左越过起点），没写过的格子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返回空白——一个字典就模拟了「两端无限长」。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5915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3317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+= {"L": -1, "R": 1, "N": 0}[move]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67919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用字典把方向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成位移，代替一串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move == "L"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。规则驱动的程序里，这种写法很常见。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575304"/>
            <a:ext cx="365760" cy="36576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54787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steps &lt; 100000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9534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为什么要设步数上限？因为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停机问题不可判定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：模拟器没法事先知道规则表会不会让机器永远跑下去，只能「跑够了就放弃」。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冯·诺依曼结构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程序本身也是数据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五大部件 · 存储程序 · 指令周期 · 冯·诺依曼瓶颈 · 存储层次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五大部件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存储器 Memory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程序和数据放在一起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7F9F8"/>
          </a:solidFill>
          <a:ln w="19050">
            <a:solidFill>
              <a:srgbClr val="3E7C6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68680" y="21214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2377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运算器 ALU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算术与逻辑运算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377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461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 CU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取指、译码、指挥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1691640"/>
            <a:ext cx="0" cy="658368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1691640"/>
            <a:ext cx="0" cy="658368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8404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输入设备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91840" y="38404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输出设备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 flipV="1">
            <a:off x="1874520" y="3364992"/>
            <a:ext cx="0" cy="4572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43400" y="3364992"/>
            <a:ext cx="0" cy="4572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10058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064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核心思想：存储程序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13898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程序本身也是数据，和数据一起放在存储器里（stored program）。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251460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064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779008" y="2898648"/>
            <a:ext cx="279806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同一台机器能跑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不同的程序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，不需要重新接线。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装一个新软件 = 往存储器里写一段新数据。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 · 存储程序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Python 里亲眼看到「程序也是数据」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06577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f(x):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+ 1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= f.__code__.co_code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 编译后的字节码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print(type(code))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'bytes'&gt;  —— 就是一串字节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f 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函数可以像数据一样赋值、传参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print(g(41))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print(list(map(f, [1, 2, 3])))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3, 4]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= "print(6 * 7)"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一个字符串……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exec(src)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……也能被当作程序执行：42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61872"/>
            <a:ext cx="256946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'bytes'&gt;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3, 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46888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对应关系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2852928"/>
            <a:ext cx="256946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co_code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：存储器里的一串字节。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解释器读这串字节来执行——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指令就是数据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「数据能被当作程序执行」也是很多安全漏洞的根源：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执行来路不明的字符串。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指令周期：取指 → 译码 → 执行 → 写回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0700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取指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按程序计数器 PC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从存储器取一条指令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58568" y="2011680"/>
            <a:ext cx="283464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1097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120700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译码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看清是什么操作、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操作数在哪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1688" y="2011680"/>
            <a:ext cx="283464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63440" y="1097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20700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 做运算，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或访问存储器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64808" y="2011680"/>
            <a:ext cx="283464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1097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120700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0372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 Back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把结果写回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寄存器或存储器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2944368"/>
            <a:ext cx="0" cy="27432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3218688"/>
            <a:ext cx="630936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325880" y="2944368"/>
            <a:ext cx="0" cy="27432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286000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指向下一条指令，循环往复（每秒几十亿次）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和图灵机对照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图灵机：读一格 → 查规则 → 写、移、换状态。CPU：取一条指令 → 译码 → 执行、写回、PC 前进。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都是「一步一步查表执行」的循环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 CPU 的「纸带」可以随机访问。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冯·诺依曼瓶颈与缓存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051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94560" y="1463040"/>
            <a:ext cx="2286000" cy="274320"/>
          </a:xfrm>
          <a:prstGeom prst="rect">
            <a:avLst/>
          </a:prstGeom>
          <a:solidFill>
            <a:srgbClr val="F9D5D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共享总线（一条路）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· 数据 · 指令 · 数据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5760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取指令和取数据走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同一条总线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，要排队。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越来越快，内存跟不上：CPU 大部分时间在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等数据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 CPU 的对策：多级缓存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675888"/>
            <a:ext cx="554126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CPU 旁放小而快的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/ L2 / L3 缓存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从内存取数时，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连同附近的一整块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（缓存行，常见 64 字节）一起搬进缓存。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下一次访问若恰好在这一块里，就不用再等内存。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1051560"/>
            <a:ext cx="2240280" cy="3611880"/>
          </a:xfrm>
          <a:prstGeom prst="roundRect">
            <a:avLst>
              <a:gd name="adj" fmla="val 3265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143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这就是……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435608"/>
            <a:ext cx="1965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「访问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访问快」的根源。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周讲矩阵时会看到：按行遍历二维数组，比按列遍历快。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存储层次：容量越大，速度越慢，单价越低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234440"/>
                <a:gridCol w="1234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典型容量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几百字节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 ns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缓存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32–64 KB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 ns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/ L3 缓存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 MB–几十 MB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 ns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 DRAM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8–64 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 ns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几百 GB–几 TB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 μs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机械硬盘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 TB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 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1005840"/>
            <a:ext cx="822960" cy="475488"/>
          </a:xfrm>
          <a:prstGeom prst="rect">
            <a:avLst/>
          </a:prstGeom>
          <a:solidFill>
            <a:srgbClr val="1E3D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49440" y="1005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97980" y="1554480"/>
            <a:ext cx="1325880" cy="475488"/>
          </a:xfrm>
          <a:prstGeom prst="rect">
            <a:avLst/>
          </a:prstGeom>
          <a:solidFill>
            <a:srgbClr val="2F5C4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97980" y="15544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103120"/>
            <a:ext cx="1828800" cy="475488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4652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5060" y="2651760"/>
            <a:ext cx="2331720" cy="475488"/>
          </a:xfrm>
          <a:prstGeom prst="rect">
            <a:avLst/>
          </a:prstGeom>
          <a:solidFill>
            <a:srgbClr val="7FA89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95060" y="26517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3200400"/>
            <a:ext cx="2834640" cy="475488"/>
          </a:xfrm>
          <a:prstGeom prst="rect">
            <a:avLst/>
          </a:prstGeom>
          <a:solidFill>
            <a:srgbClr val="CFE0D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0" y="3200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硬盘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快、小、贵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4069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慢、大、便宜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069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一次内存访问 ≈ 200 次寄存器访问；一次 SSD 访问 ≈ 1000 次内存访问。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冯·诺依曼结构 · 存储层次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换成人的时间尺度：假如访问寄存器要 1 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98755" cy="292608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81835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0241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伸手拿桌上的笔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72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缓存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1645920"/>
            <a:ext cx="164592" cy="292608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47672" y="15727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从抽屉里拿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214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/ L3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91640" y="2194560"/>
            <a:ext cx="329184" cy="292608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12264" y="21214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去书架上取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700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91640" y="2743200"/>
            <a:ext cx="658368" cy="292608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41448" y="26700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分钟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6700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下楼去取快递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218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691640" y="3291840"/>
            <a:ext cx="1810512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93592" y="3218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天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218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寄一封快递到外地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67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机械硬盘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691640" y="3840480"/>
            <a:ext cx="32918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74920" y="37673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 个月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寄一封平信去南极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按上页「相对代价」换算：10⁵ 秒 ≈ 28 小时，10⁷ 秒 ≈ 116 天。条形长度只示意顺序，不按比例。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数据的二进制表示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机器里只有 0 和 1，一切都要编码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进制 · 原码 / 反码 / 补码 · 位运算 · IEEE 754 浮点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进制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四种常用进制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32918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前缀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233 写成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二进制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机器本身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0b11101001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八进制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Unix 文件权限（如 755）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0o351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十六进制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0–9、A–F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内存地址、颜色 #FF8800、字节转储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0xe9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为什么程序员爱用十六进制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0448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位十六进制正好对应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位二进制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，1 个字节 = 2 位十六进制。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1110 1001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一眼读成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e9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，比读 8 个 0/1 省事得多。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进制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里的进制转换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233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print(bin(n), oct(n), hex(n))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0b11101001 0o351 0xe9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print(int("11101001", 2))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233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print(int("e9", 16))     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233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print(f"{n:b} {n:o} {n:x} {n:08b}")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11101001 351 e9 11101001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 → 其他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bin(n) / oct(n) / hex(n)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</a:t>
                      </a: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带前缀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的字符串，如 '0b1101'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 → 其他（无前缀）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f"{n:b}"  f"{n:08b}"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格式说明符 b / o / x；08b = 补足 8 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 → 十进制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int(s, base)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第二个参数是进制；s 可以不带前缀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常见坑：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bin(n)[2:]</a:t>
            </a: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才能去掉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0b</a:t>
            </a: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；负数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bin(-5)</a:t>
            </a: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得到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'-0b101'</a:t>
            </a: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1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手工转换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除基取余，余数逆序读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被除数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÷ 2 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flipV="1">
            <a:off x="3977640" y="1325880"/>
            <a:ext cx="0" cy="30175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06908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从下往上读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0058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20640" y="1005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 = 1110 1001₂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120640" y="2377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5780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反过来：按权展开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27614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1110 1001₂ = 128 + 64 + 32 + 8 + 1 = 233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0" y="3703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578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为什么是逆序？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第一次除得的余数是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（2⁰ 位），最后一次是最高位。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手工转换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 ↔ 八进制 / 十六进制：分组就行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最低位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开始分组：八进制 3 位一组，十六进制 4 位一组。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十六进制：4 位一组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52728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527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36776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367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20824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208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06040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90088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74136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741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58184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5818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248716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1110 = 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248716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1001 = 9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0xe9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八进制：3 位一组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67528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675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978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81928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65976" y="2011680"/>
            <a:ext cx="384048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659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78040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78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62088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62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946136" y="2011680"/>
            <a:ext cx="38404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461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83480" y="248716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97880" y="24871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24871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8920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0o351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为什么可以直接分组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 8 = 2³、16 = 2⁴：每 3 位（或 4 位）二进制恰好组成一位八进制（或十六进制），组与组之间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互不进位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。十进制 10 不是 2 的幂，所以只能除基取余。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E02734 十进制到八进制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http://cs101.openjudge.cn/practice/02734/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输入一个非负整数，输出它的八进制表示。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737360"/>
            <a:ext cx="470001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print(oct(n)[2:] if n else 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不用内置函数：手写除基取余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" y="2926080"/>
            <a:ext cx="470001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 = []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&gt; 0: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digits.append(str(n % 8))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余数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//= 8        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商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print(''.join(reversed(digits)) or '0')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1691640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2075688"/>
            <a:ext cx="2935224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'0o…'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[2:]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切掉前缀。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时循环一次都不执行，要单独输出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：余数是从低位到高位得到的。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有符号整数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原码、反码、补码：以 8 位表示 −5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234440"/>
                <a:gridCol w="219456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表示法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怎么得到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0000 0101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1000 0101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最高位当符号位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+0、−0 两个零；加减法要先判符号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0000 0101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1111 1010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负数：原码除符号位外取反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仍有两个零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0000 0101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1111 1011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负数：取反后</a:t>
                      </a: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零唯一；减法 = 加负数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15468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补码的求法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38728"/>
            <a:ext cx="462686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正数：不变。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负数：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按位取反，再加一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例：5 =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0000 0101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取反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1111 1010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加一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1111 1011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32120" y="315468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0" y="3246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现代计算机统一用补码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53872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只需一套加法器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：减法、负数都变成加法。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补码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Python 看补码；n 位补码的范围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to_twos_complement(x, bits=8):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format(x &amp; ((1 &lt;&lt; bits) - 1), f'0{bits}b')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print(to_twos_complement(5))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00000101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print(to_twos_complement(-5))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11111011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print(to_twos_complement(-1))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11111111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print(-5 &amp; 0xFF)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251 —— 同一串位，当无符号数读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00584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&amp; ((1 &lt;&lt; bits) - 1)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8988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&lt;&lt; 8) - 1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8 个 1。和它按位与，就是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只保留低 8 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——正好是 8 位机器里存的那串位。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位补码的表示范围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−2ⁿ⁻¹  ~  2ⁿ⁻¹ − 1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负数比正数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1000 0000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−128，没有对应的 +128。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310128"/>
          <a:ext cx="3886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−128 ~ 127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位（C++ int）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−2147483648 ~ 2147483647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位（long long）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±9.2 × 10¹⁸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补码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为什么补码让减法变成加法：算 5 − 7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5 − 7 = 5 + (−7)。先求 −7 的补码：7 =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0000 0111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取反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1111 1000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加一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1111 1001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0000 0101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1111 1001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−7 的补码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7797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79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1111 1110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779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761488"/>
            <a:ext cx="2834640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4630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1554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1111 1110 是几？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67528" y="1847088"/>
            <a:ext cx="320954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最高位是 1 → 负数。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再求一次补码看绝对值：取反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0000 0001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，加一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0000 0010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所以结果是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087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加法器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根本不知道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哪个是负数，它只管按位相加；如果最高位还有进位，直接丢掉（只保留 8 位）。同一套电路，加减法全包了。验证 7 − 5 留作思考题。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补码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溢出：C++ 里最常见的 WA 来源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位：127 + 1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0111 1111  (127)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    1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1000 0000  (−128)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正数加正数，却得到了负数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22192" y="1051560"/>
            <a:ext cx="479145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ctypes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借 C 的 32 位 int 来演示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print(ctypes.c_int32(2147483647 + 1).value)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-2147483648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print(2147483647 + 1)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2147483648  Python 不溢出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100)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任意精度：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1267650600228229401496703205376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与 C/C++ 的区别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93008"/>
            <a:ext cx="801014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任意精度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的，不会溢出——本课用 Python，这个坑天然避开了。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的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-2147483648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。用 C++ 做题时，这是最常见的 WA 来源。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对策：估计中间结果的量级；超过约 2×10⁹ 就用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位运算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六个位运算符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645920"/>
                <a:gridCol w="109728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按位看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&amp;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 &amp; 011 = 010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|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 | 011 = 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^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 ^ 011 = 101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补码下 ~x = −x − 1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&lt;&lt;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&lt;&lt;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左移 k 位 = 乘 2ᵏ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 &gt;&gt;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右移 k 位 = 整除 2ᵏ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 为什么是 −7？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2245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把所有位取反。而补码里「取反再加一」等于取相反数，所以「只取反」= 相反数减一：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~x == -x - 1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位运算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三个常用技巧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24865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&amp; 1)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判奇偶：0 偶 1 奇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&amp; (n - 1))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把最低位的 1 清零 -&gt; 8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print(bin(n).count('1'))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统计 1 的个数（popcount）-&gt;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 &amp; (n-1) == 0 判断是否 2 的幂（n &gt; 0）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print(all((x &amp; (x - 1)) == 0 for x in [1, 2, 4, 8, 16]))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异或的两个性质：a^a=0, a^0=a  → 找出只出现一次的数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[4, 1, 2, 1, 2]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nums: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^= v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print(r)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判奇偶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389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最低位是 1 就是奇数。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&amp;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% 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等价。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1945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的幂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的幂在二进制里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只有一个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，清掉它就剩 0。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3832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136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767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《只出现一次的数字》的标准解：成对的数异或后互相抵消。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位运算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按位看：n &amp; (n−1) 与异或累积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&amp; (n − 1)：清掉最低位的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60020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600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1600200"/>
            <a:ext cx="457200" cy="402336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1600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60020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1600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1600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1488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 = 11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214884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2148840"/>
            <a:ext cx="457200" cy="402336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214884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214884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6974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 = 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0" y="26974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28800" y="2697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86000" y="26974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86000" y="2697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0" y="26974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0" y="2697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0" y="26974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0400" y="2697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− 1 把最低位的 1 变 0、它右边的 0 全变 1；再与 n 相与，这些位全部清零，高位不变。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异或累积：nums = [4, 1, 2, 1, 2]</a:t>
            </a:r>
            <a:endParaRPr lang="en-US" sz="13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54480"/>
          <a:ext cx="3611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^= v 之后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二进制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489204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1、两个 2 各自抵消，剩下 4。与顺序无关：异或满足交换律和结合律。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浮点数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IEEE 754 双精度（64 位）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" cy="685800"/>
          </a:xfrm>
          <a:prstGeom prst="rect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188720"/>
            <a:ext cx="2011680" cy="685800"/>
          </a:xfrm>
          <a:prstGeom prst="rect">
            <a:avLst/>
          </a:prstGeom>
          <a:solidFill>
            <a:srgbClr val="A06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188720"/>
            <a:ext cx="5760720" cy="685800"/>
          </a:xfrm>
          <a:prstGeom prst="rect">
            <a:avLst/>
          </a:prstGeom>
          <a:solidFill>
            <a:srgbClr val="3E7C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1887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554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 位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 = (−1)^S × 1.尾数 × 2^(指数 − 1023)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就是二进制的科学计数法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584448"/>
            <a:ext cx="462686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十进制：6.02 × 10²³；二进制：1.xxx × 2ᵉ。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决定精度（约 15–17 位十进制有效数字）。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决定范围（约 10^±308）。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32120" y="320040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0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58444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尾数是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二进制小数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，只能精确表示 k/2ⁿ 这种数。十进制的 0.1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无法精确表示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浮点数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0.1 无法精确表示？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十进制里的 1/3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0.3333333333…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不是 10 的因子 → 无限循环，截断就有误差。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二进制里的 1/10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0.0001100110011…₂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= 2 × 5，5 不是 2 的因子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0011 无限循环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，只能截断到 52 位。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2971800"/>
            <a:ext cx="808329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print(f"{0.1:.20f}")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0.10000000000000000555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print((0.1).hex())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0x1.999999999999ap-4  —— 尾数 999…9a：循环被截断、进位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decimal import Decimal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print(Decimal(0.1))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存进去的真实值：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0.1000000000000000055511151231257827021181583404541015625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浮点数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浮点数陷阱与正确的比较方式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print(0.1 + 0.2)    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0.30000000000000004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print(0.1 + 0.2 == 0.3)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print(f"{0.1:.20f}") 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0.10000000000000000555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66928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2468880"/>
            <a:ext cx="5522976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print(math.isclose(0.1 + 0.2, 0.3))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print(abs((0.1 + 0.2) - 0.3) &lt; 1e-9)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decimal import Decimal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print(Decimal('0.1') + Decimal('0.2'))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0.3  —— 十进制精确运算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103120"/>
            <a:ext cx="2331720" cy="25603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194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三种办法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487168"/>
            <a:ext cx="2112264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math.isclose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：相对误差比较。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abs(a - b) &lt; eps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：绝对误差，eps 常取 1e-9。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Decimal('0.1')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用字符串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构造才精确。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Decimal(0.1)</a:t>
            </a: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（传浮点）会把误差一起带进来——上一页看到的那一长串。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浮点数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另一个陷阱：大整数放进浮点会丢精度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53)   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9007199254740992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print(float(2**53 + 1) == float(2**53))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  —— 两个不同的整数"相等"了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 ** 18 + 1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print(int(n / 1))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1000000000000000000  —— / 返回 float，末位丢了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// 1)    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1000000000000000001  —— // 保持整数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10 ** 17 + 1, 2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是奇数，不能被 2 整除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 b == a // b)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  —— 错！a/b 已被舍入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% b == 0)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 —— 判断整除：用 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2⁵³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216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尾数 52 位 + 隐含的 1 位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 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有效二进制数字。超过 2⁵³ 的整数，相邻的 float 之间开始有「空隙」。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3375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做题时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3721608"/>
            <a:ext cx="375818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判断能否整除用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% b ==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，不要用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b == a // 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整数运算全程用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开方取整用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math.isqrt(n)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，不要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int(n ** 0.5)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二进制表示 · 浮点数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本课的硬规则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0515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浮点数永远不要用 == 比较；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能用整数就用整数。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788920"/>
            <a:ext cx="470001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 = float('inf')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print(INF &gt; 10**100)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print(-INF &lt; 0)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[INF] * n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最短路 / DP 的标准初始化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74320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无穷大：float('inf')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41848" y="3127248"/>
            <a:ext cx="293522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比任何有限数都大，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-INF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比任何数都小。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周起做 DP、第 12 周做最短路时，它是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初始化的标准写法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它是浮点数里少数可以放心比较大小的值。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字符编码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字符在机器里只是一个编号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· Unicode 与 UTF-8 · 乱码的本质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ASCII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ASCII：7 位，128 个字符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4630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二进制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0011 0000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数字起点，'0'…'9' 连续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0100 0001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大写起点，'A'…'Z' 连续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0110 0001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小写起点，'a'…'z' 连续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0010 0000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正好是 1 &lt;&lt; 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0058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078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大小写只差 1 位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4813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93992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93992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50024" y="1481328"/>
            <a:ext cx="256032" cy="329184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50024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06056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06056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62088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62088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18120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74152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74152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330184" y="14813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30184" y="14813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19385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37960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93992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93992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256032" cy="329184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306056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06056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562088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62088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818120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18120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074152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74152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330184" y="1938528"/>
            <a:ext cx="25603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30184" y="19385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217920" y="23957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位（值 32）：0 大写，1 小写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记住这三个就够了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376732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 = 48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 65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 97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。其余靠「连续」推出来：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'Z'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65 + 25 = 90。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ASCII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 / chr：字符与编号互转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print(ord('A'), chr(97))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65 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print(chr(ord('a') - 32))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print(chr(ord('A') | 32))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  —— 位或置位，转小写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print(chr(ord('a') &amp; ~32))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  —— 与非清位，转大写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print(chr(ord('a') ^ 32))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  —— 异或翻转，大小写互换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print(ord('7') - ord('0'))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  —— 数字字符转数值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print(ord('c') - ord('a'))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 —— 字母在字母表中的序号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2240280" cy="228600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位运算版的大小写转换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1389888"/>
            <a:ext cx="2020824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置位 → 小写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~32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清位 → 大写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32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翻转 → 互换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做题时的常用写法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858768"/>
            <a:ext cx="80101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内置方法更清楚：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s.upper()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s.lower()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s.swapcase()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c.isdigit()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c.isalpha()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ord(c) - ord('a')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把字母映射到 0–25，用来做计数数组的下标（如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= [0] * 26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Unicode 与 UTF-8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字符集 ≠ 编码方式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Unicode：字符集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给世界上每个字符一个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（编号）。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"中" 的码点是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U+4E2D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ord('中') == 0x4e2d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UTF-8：编码方式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463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把码点变成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字节序列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，变长：ASCII 占 1 字节，汉字通常 3 字节。</a:t>
            </a:r>
            <a:endParaRPr lang="en-US" sz="11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310896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码点范围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U+0000 – U+007F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0xxxxxxx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'A' → 41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U+0080 – U+07FF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110xxxxx 10xxxxxx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'é' → c3 a9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U+0800 – U+FFFF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1110xxxx 10xxxxxx 10xxxxxx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'中' → e4 b8 ad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U+10000 – U+10FFFF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11110xxx 10xxxxxx ×3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'😀' → f0 9f 98 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UTF-8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手工编码一次：'中' = U+4E2D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4E2D 在 U+0800–U+FFFF 之间 → 用 3 字节模板。把码点的 16 位依次填进模板的 x：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4E2D₁₆ =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347472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76272" y="1463040"/>
            <a:ext cx="347472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6272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23744" y="1463040"/>
            <a:ext cx="347472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23744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347472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7121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18688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8688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13632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13632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61104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61104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08576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0857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56048" y="1463040"/>
            <a:ext cx="347472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56048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03520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0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50992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50992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98464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98464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45936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93408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93408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0880" y="1463040"/>
            <a:ext cx="34747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40880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2148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9536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953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52144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5214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444752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444752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737360" y="2286000"/>
            <a:ext cx="29260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737360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029968" y="2286000"/>
            <a:ext cx="29260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02996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22576" y="2286000"/>
            <a:ext cx="29260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32257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15184" y="2286000"/>
            <a:ext cx="29260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61518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字节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737360" y="2743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0xE4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3246120" y="2148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61" name="Shape 59"/>
          <p:cNvSpPr/>
          <p:nvPr/>
        </p:nvSpPr>
        <p:spPr>
          <a:xfrm>
            <a:off x="3355848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5584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48456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64845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941064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94106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233672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233672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26280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526280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818888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81888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11496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11149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04104" y="2286000"/>
            <a:ext cx="29260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40410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3355848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字节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4526280" y="2743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0xB8</a:t>
            </a:r>
            <a:endParaRPr lang="en-US" sz="2200" dirty="0"/>
          </a:p>
        </p:txBody>
      </p:sp>
      <p:sp>
        <p:nvSpPr>
          <p:cNvPr id="79" name="Shape 77"/>
          <p:cNvSpPr/>
          <p:nvPr/>
        </p:nvSpPr>
        <p:spPr>
          <a:xfrm>
            <a:off x="6035040" y="2148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80" name="Shape 78"/>
          <p:cNvSpPr/>
          <p:nvPr/>
        </p:nvSpPr>
        <p:spPr>
          <a:xfrm>
            <a:off x="6144768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14476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437376" y="2286000"/>
            <a:ext cx="292608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43737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729984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72998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022592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022592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315200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315200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607808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607808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900416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900416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193024" y="2286000"/>
            <a:ext cx="292608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193024" y="2286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6144768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字节</a:t>
            </a:r>
            <a:endParaRPr lang="en-US" sz="1050" dirty="0"/>
          </a:p>
        </p:txBody>
      </p:sp>
      <p:sp>
        <p:nvSpPr>
          <p:cNvPr id="97" name="Text 95"/>
          <p:cNvSpPr txBox="1"/>
          <p:nvPr/>
        </p:nvSpPr>
        <p:spPr>
          <a:xfrm>
            <a:off x="7315200" y="2743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0xAD</a:t>
            </a:r>
            <a:endParaRPr lang="en-US" sz="2200" dirty="0"/>
          </a:p>
        </p:txBody>
      </p:sp>
      <p:sp>
        <p:nvSpPr>
          <p:cNvPr id="98" name="Text 96"/>
          <p:cNvSpPr txBox="1"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 = 模板里固定的前缀；彩色 = 码点的位（4 + 6 + 6 = 16 位）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530352" y="4023360"/>
            <a:ext cx="80832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print("中".encode('utf-8'))       </a:t>
            </a: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b'\xe4\xb8\xad'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UTF-8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与 bytes：字符数 ≠ 字节数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52297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"中A"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print(len(s))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—— 按字符计数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s.encode('utf-8')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print(b, len(b))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b'\xe4\xb8\xadA' 4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print(b.decode('utf-8'))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中A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print(hex(ord(s[0])))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0x4e2d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14300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 "中A"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 ↓      ↑ decode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bytes  e4 b8 ad 41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↔ 字节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两种类型，两种单位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493008"/>
            <a:ext cx="801014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数的是字符。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序列，文件、网络里实际传的是它。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 str 变 bytes，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反过来——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两边必须用同一种编码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字符编码 · 乱码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乱码的本质：用 A 编码存的字节，拿 B 编码去解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"你好".encode('utf-8')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个字节：e4 bd a0 e5 a5 bd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print(b.decode('gbk'))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浣犲ソ：按 GBK 每 2 字节一个字去解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print(b.decode('utf-8'))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你好：用对的编码就恢复了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你好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29384" y="2450592"/>
            <a:ext cx="201168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9696" y="2240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编码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11880" y="2450592"/>
            <a:ext cx="201168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22192" y="2240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6B7B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22192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 bd a0 e5 a5 bd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94376" y="2450592"/>
            <a:ext cx="201168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04688" y="2240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04688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GBK 解码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76872" y="2450592"/>
            <a:ext cx="201168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87184" y="2240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87184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浣犲ソ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字节本身没有坏，坏的是</a:t>
            </a: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解读方式</a:t>
            </a: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读写文件时显式指定编码：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3566160"/>
            <a:ext cx="488289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encoding='utf-8') as f: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f.read()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3200400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为什么要显式写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58444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，Python 用系统默认编码：中文 Windows 上常是 GBK，Linux / macOS 上是 UTF-8。同一份代码换台机器就乱码。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计算机文化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几位必须知道的人 · 摩尔定律与它的放缓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计算机文化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几位必须知道的人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0624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和本课的联系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Alan Turing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图灵机、可计算性、图灵测试；ACM 图灵奖以其命名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本周 Part 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John von Neumann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存储程序式计算机结构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本周 Part 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Shannon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信息论；用布尔代数分析开关电路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位运算、比特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Edsger Dijkstra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最短路算法、结构化程序设计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12 周会用他的算法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Donald Knuth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《计算机程序设计艺术》、TeX；算法分析的奠基者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周的大 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Grace Hopper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编译器、COBOL；「debug」一词的推广者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13 周编译与解释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开篇那句「计算机科学不是关于计算机的科学……」通常归于 Dijkstra。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计算机文化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摩尔定律与它的放缓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集成电路上的晶体管数量，约每 18–24 个月翻一番。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过去几十年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等一两年，同一个程序自己就变快了。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明显放缓：单核频率多年停在几 GHz，晶体管越来越难缩小。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性能提升越来越依赖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更好的算法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——后者正是本课的主题。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阅读《图灵与 ACM 图灵奖》《IEEE 计算机先驱奖》；观看电影《模仿游戏》（The Imitation Game）。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1645920"/>
                <a:gridCol w="20116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对应本周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十进制到八进制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E02734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进制转换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二进制回文的整数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E25538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 + 字符串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只出现一次的数字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136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异或性质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 1 的个数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191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位运算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大小写字母互换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E02689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ASCII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回文数字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04067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 / 数位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判断闰年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8（选做）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高低位交换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洛谷 P1100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位运算、移位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开头与纯数字编号：cs101.openjudge.cn；LC：leetcode.cn；P1100：洛谷。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为什么补码能让「减法变成加法」？用 8 位补码手算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7 - 5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，验证它等于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(-5)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的低 8 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+ 0.2 != 0.3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，那么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+ 0.25 == 0.75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吗？为什么？（提示：想想哪些小数能写成 k/2ⁿ）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可计算性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停机问题不可判定，为什么杀毒软件仍然「有用」？可判定与实用之间差了什么？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UTF-8 编码的中文文本文件，用 GBK 打开会看到什么？试着构造一次乱码再修好它。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计算机科学研究的是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计算本身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，计算机只是载体；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是它最核心的工具。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划定了可计算的边界；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停机问题不可判定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是证明了的不可能，不是暂时做不到。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冯·诺依曼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存储程序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；存储层次解释了绝大多数「为什么这么慢」。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补码与浮点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（零唯一、减法即加法）；浮点是二进制近似，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永远不要用 == 比较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字符编码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'0'=48, 'A'=65, 'a'=97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，大小写差 32；Unicode 是字符集，UTF-8 是编码方式。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基础与算法分析入门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把语法补齐，并第一次正面回答：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「这段代码够快吗？」—— 大 O、从数据范围倒推算法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3 周 计算机原理（1/2）</dc:title>
  <dc:subject>PptxGenJS Presentation</dc:subject>
  <dc:creator>Hongfei Yan</dc:creator>
  <cp:lastModifiedBy>Hongfei Yan</cp:lastModifiedBy>
  <cp:revision>1</cp:revision>
  <dcterms:created xsi:type="dcterms:W3CDTF">2026-10-31T09:47:46Z</dcterms:created>
  <dcterms:modified xsi:type="dcterms:W3CDTF">2026-10-31T09:47:46Z</dcterms:modified>
</cp:coreProperties>
</file>