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3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计算机原理（1/2）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计算机文化与基本概念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计算机科学的学科体系与抽象 · 图灵机与可计算性 · 停机问题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冯·诺依曼结构 · 指令周期 · 存储层次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 · 原码 / 反码 / 补码 · 位运算 · IEEE 754 浮点与精度陷阱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· Unicode 与 UTF-8 · 计算机先驱与摩尔定律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计算机能算什么、不能算什么？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图灵机给出「可计算」的定义；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是被证明了的不可能。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程序和数据在机器里长什么样？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存储程序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：指令和数据放在同一块存储器里，都是二进制。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0.1 + 0.2 ≠ 0.3？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、小数用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IEEE 754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、文字用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——每种表示都有它的边界。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这一周暂时离开写题，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往下看一层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：程序跑在什么样的机器上，数据在机器里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怎样表示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计算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计算机科学是什么：学科体系、抽象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图灵机模型与转移规则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丘奇—图灵论题、停机问题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用 Python 实现一台图灵机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机器与数据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冯·诺依曼结构：五大部件、指令周期、存储层次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进制与转换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原码、反码、补码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位运算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 浮点数与精度陷阱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5–6  编码与文化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ASCII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Unicode 与 UTF-8、乱码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计算机先驱、摩尔定律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五行代码，五个本周要讲清楚的现象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小数：为什么多了个尾巴？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print(bin(233))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整数：机器里只有 0 和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print(-5 &amp; 0xFF)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负数：-5 的低 8 位怎么变成了 251？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print(ord('A'), ord('a'))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字符：其实是编号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print("中".encode())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汉字：一个字 3 个字节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0.30000000000000004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0b11101001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65 97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b'\xe4\xb8\xad'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88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 + 0.2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27889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 0.1 在二进制里是无限循环小数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81635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8163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bin(233)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31546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除基取余：233 = 1110 1001₂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1821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1821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 &amp; 0xFF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57400" y="352044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−5 的 8 位补码就是 1111 1011 = 251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54787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5478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4.2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86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 / chr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057400" y="388620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ASCII：'A' = 65，'a' = 97，相差 32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913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913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5.1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2519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057400" y="425196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把码点 U+4E2D 编成 3 个字节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818120" y="42793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42793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5.2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计算机科学是什么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它研究的是计算本身，计算机只是载体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学科体系 · 抽象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一个常见的误解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60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18872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计算机科学不是关于计算机的科学，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正如天文学不是关于望远镜的科学。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计算机科学研究的是这三个问题，计算机只是执行计算的机器：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什么问题可以被计算？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可计算性 —— 本周的图灵机与停机问题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290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怎样高效地计算？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 —— 整门课的主线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1792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计算的代价是多少？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—— 第 4 周的大 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学科体系：三个层次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本课涉及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可计算性、复杂性、算法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图灵机（本周）、大 O（第 4 周）、算法设计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体系结构、操作系统、网络、编译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冯·诺依曼结构（本周）、虚拟地址空间、进程（第 13 周）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数据库、图形学、人工智能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素养（第 14 周）、知识图谱、神经网络（第 15 周）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这门课站在哪里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理论层的算法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Python 把问题变成正确、够快的程序。第 3、13 周两次「往下看一层」，补上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的常识——很多「为什么这么慢」「为什么结果不对」的答案都在那里。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抽象：计算机科学最核心的工具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print("hello")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，在不同层次上看到的是不同的东西：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3716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print("hello")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13716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你写的代码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011680"/>
            <a:ext cx="4718304" cy="530352"/>
          </a:xfrm>
          <a:prstGeom prst="roundRect">
            <a:avLst>
              <a:gd name="adj" fmla="val 13793"/>
            </a:avLst>
          </a:prstGeom>
          <a:solidFill>
            <a:srgbClr val="DCE8E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201168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0116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字节码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01168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解释器执行的指令序列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" y="2651760"/>
            <a:ext cx="4498848" cy="530352"/>
          </a:xfrm>
          <a:prstGeom prst="roundRect">
            <a:avLst>
              <a:gd name="adj" fmla="val 13793"/>
            </a:avLst>
          </a:prstGeom>
          <a:solidFill>
            <a:srgbClr val="E6EF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26517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6517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解释器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265176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一个用 C 写的程序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6384" y="3291840"/>
            <a:ext cx="4279392" cy="530352"/>
          </a:xfrm>
          <a:prstGeom prst="roundRect">
            <a:avLst>
              <a:gd name="adj" fmla="val 13793"/>
            </a:avLst>
          </a:prstGeom>
          <a:solidFill>
            <a:srgbClr val="EEF3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9264" y="329184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2918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 write()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291840"/>
            <a:ext cx="1316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请操作系统把字节写到屏幕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6112" y="3931920"/>
            <a:ext cx="4059936" cy="530352"/>
          </a:xfrm>
          <a:prstGeom prst="roundRect">
            <a:avLst>
              <a:gd name="adj" fmla="val 13793"/>
            </a:avLst>
          </a:prstGeom>
          <a:solidFill>
            <a:srgbClr val="F5F8F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78992" y="393192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39319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指令、内存读写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393192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最终是电压的高低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32120" y="1417320"/>
            <a:ext cx="0" cy="3063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577840" y="26517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越往下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越具体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9360" y="137160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463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抽象的价值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1755648"/>
            <a:ext cx="2157984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你不需要同时想所有层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——写应用时不必想电压。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知道下一层存在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，出错时才知道往哪儿看。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出了问题，往下一层找原因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本周会讲到的几个「怪现象」，答案都不在你写的那一层：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现象（应用层看到的）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原因在哪一层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本周哪一节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 + 0.2 == 0.3 是 False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硬件层：浮点数是二进制近似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里 2147483647 + 1 变成负数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硬件层：32 位补码溢出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打开文件满屏「浣犲ソ」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 / 语言层：编码与解码不一致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按列遍历大矩阵比按行慢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硬件层：缓存与存储层次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程序「卡住」了——是死循环还是慢？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理论层：停机问题不可判定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怎么用这张表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遇到「代码明明没错，结果却不对」时，先问：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这是哪一层的规则？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图灵机与可计算性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1936 年，Alan Turing 用一个极简模型回答「什么是计算」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 · 转移规则 · 丘奇—图灵论题 · 停机问题 · Python 实现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图灵机：纸带 + 读写头 + 状态机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1371600"/>
            <a:ext cx="56692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755648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5648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322576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22576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1371600"/>
            <a:ext cx="566928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56432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56432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023360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0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90288" y="1371600"/>
            <a:ext cx="56692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0288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1417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无限长的纸带，每格一个符号 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98648" y="1828800"/>
            <a:ext cx="0" cy="384048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063240" y="1901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读写头：读 / 写 / 左移 / 右移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2331720"/>
            <a:ext cx="2057400" cy="42062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874520" y="233172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状态机：当前状态 q0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069080" y="23774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有限个状态 + 一张规则表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一个图灵机由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转移规则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65760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6576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(当前状态, 读到的符号)</a:t>
            </a: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(写入的符号, 移动方向, 下一状态)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每一步只做三件事：写一格、挪一步、换一个状态。就这么多。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一台「二进制加一」的图灵机：只要三条规则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读写头从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（最右边）出发，只用一个状态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q0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31520"/>
                <a:gridCol w="1005840"/>
                <a:gridCol w="4023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 = 10：本位写 0，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+ 1 = 1：吸收进位，停机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走到最左边的空白：补一位 1，停机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337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移动方向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721608"/>
            <a:ext cx="375818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左移一格，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右移一格，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不动。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表示空白格：纸带两端无限延伸，全是空白。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09160" y="3337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4632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和手算一模一样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37216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你在纸上做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1011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时，也是从最右边开始：遇 1 写 0 进位、遇 0 写 1 收工。图灵机只是把这个过程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写成了规则表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手动跑一遍：1011 + 1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46304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96596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6596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46888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109728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7180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23260" y="155448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3703320" y="116128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03320" y="1161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0972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读写头在最低位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9202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46304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304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96596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468880" y="192024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6888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97180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80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720340" y="237744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30" name="Shape 28"/>
          <p:cNvSpPr/>
          <p:nvPr/>
        </p:nvSpPr>
        <p:spPr>
          <a:xfrm>
            <a:off x="3703320" y="198424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03320" y="198424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19202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1 → 写 0，左移（进位）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7432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步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46304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6304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965960" y="274320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96596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46888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46888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297180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2217420" y="320040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43" name="Shape 41"/>
          <p:cNvSpPr/>
          <p:nvPr/>
        </p:nvSpPr>
        <p:spPr>
          <a:xfrm>
            <a:off x="3703320" y="280720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03320" y="28072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0" y="274320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1 → 写 0，左移（进位）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356616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步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146304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46304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965960" y="356616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96596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46888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46888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297180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97180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2217420" y="402336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56" name="Shape 54"/>
          <p:cNvSpPr/>
          <p:nvPr/>
        </p:nvSpPr>
        <p:spPr>
          <a:xfrm>
            <a:off x="3703320" y="363016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703320" y="36301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0" y="356616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0 → 写 1，不动，停机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57200" y="4389120"/>
            <a:ext cx="8229600" cy="292608"/>
          </a:xfrm>
          <a:prstGeom prst="roundRect">
            <a:avLst>
              <a:gd name="adj" fmla="val 25000"/>
            </a:avLst>
          </a:prstGeom>
          <a:solidFill>
            <a:srgbClr val="FFF6E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8640" y="4389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（11 + 1 = 12），共 3 步。再试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：三次进位后读到空白，补 1 →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，共 4 步。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为什么重要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它划定了「可计算」的边界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丘奇—图灵论题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任何「直觉上可计算」的函数，都能被图灵机计算。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 Python 程序、C++ 程序，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能算的东西不比图灵机多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——只是快得多、好写得多。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所有通用编程语言在「能算什么」上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；差别在效率与表达。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一个程序，能对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+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输入，判断它是否会停机。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这是计算的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根本边界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不是「我们还没想到办法」，而是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证明了不可能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停机问题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为什么不可能？一个反证（思路）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有人写出了万能的判定函数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halts(p, x)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在输入 x 上停机就返回 True，否则 False。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47000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halts(p, x):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假设它存在，且总能给出正确答案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trouble(p):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halts(p, p):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如果 p 拿自己当输入会停机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True: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那我就偏偏死循环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pass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如果 p 拿自己当输入不停机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那我就立刻停机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trouble(trouble)         </a:t>
            </a:r>
            <a:r>
              <a:rPr lang="en-US" sz="10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？？？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50876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1600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问：trouble(trouble) 停不停机？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41848" y="1892808"/>
            <a:ext cx="29352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：它就进入死循环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。矛盾。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：它就立刻返回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。矛盾。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3337560"/>
            <a:ext cx="31546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0" y="34290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2160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两头都矛盾，只能是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假设错了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：这样的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根本写不出来。这就是图灵 1936 年的对角线论证。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Python 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Python 实现一台通用图灵机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turing_machine(tape, rules, start="q0", halt="halt", blank="_"):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"""rules: {(state, symbol): (write, move, next_state)}"""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cells = dict(enumerate(tape))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下标 -&gt; 符号：两端可无限延伸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head, state, steps = len(tape) - 1, start, 0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state != halt and steps &lt; 100000: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sym = cells.get(head, blank)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没写过的格子就是空白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(state, sym) not in rules: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                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没有规则可用：停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write, move, state = rules[(state, sym)]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cells[head] = write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head += {"L": -1, "R": 1, "N": 0}[move]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steps +=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min(cells), max(cells)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''.join(cells.get(i, blank) for i in range(lo, hi + 1)).strip(blank)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二进制加一：从最低位向左扫，遇 1 变 0 继续进位，遇 0 或空白变 1 停机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INCREMENT =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"1"): ("0", "L", "q0"),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"0"): ("1", "N", "halt"),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"_"): ("1", "N", "halt"),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["1011", "111", "0"]: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print(x, "-&gt;", turing_machine(x, INCREMENT))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188720"/>
            <a:ext cx="1975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1011 -&gt; 1100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111 -&gt; 1000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0 -&gt;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219456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亲手跑一遍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一台「计算机」的本质，就是这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三十行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：一张规则表 + 一个循环。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3520440"/>
            <a:ext cx="2194560" cy="1161288"/>
          </a:xfrm>
          <a:prstGeom prst="roundRect">
            <a:avLst>
              <a:gd name="adj" fmla="val 629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611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换规则 = 换程序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904488"/>
            <a:ext cx="1920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模拟器不用改，只换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字典，它就算别的东西——这正是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的含义。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代码要点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三处值得细看的写法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15568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cells = dict(enumerate(tape))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630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而不是列表存纸带：下标可以是负数（向左越过起点），没写过的格子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返回空白——一个字典就模拟了「两端无限长」。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3591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3172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+= {"L": -1, "R": 1, "N": 0}[move]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67919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用字典把方向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成位移，代替一串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move == "L"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。规则驱动的程序里，这种写法很常见。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575304"/>
            <a:ext cx="365760" cy="36576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547872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steps &lt; 100000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895344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为什么要设步数上限？因为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：模拟器没法事先知道规则表会不会让机器永远跑下去，只能「跑够了就放弃」。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程序本身也是数据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五大部件 · 存储程序 · 指令周期 · 冯·诺依曼瓶颈 · 存储层次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五大部件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22960" y="100584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 Memory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353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程序和数据放在一起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210312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7F9F8"/>
          </a:solidFill>
          <a:ln w="19050">
            <a:solidFill>
              <a:srgbClr val="3E7C6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68680" y="21214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23774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运算器 ALU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算术与逻辑运算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23774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4612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CU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取指、译码、指挥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11680" y="1691640"/>
            <a:ext cx="0" cy="658368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06240" y="1691640"/>
            <a:ext cx="0" cy="658368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" y="384048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840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输入设备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291840" y="384048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91840" y="3840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输出设备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 flipV="1">
            <a:off x="1874520" y="3364992"/>
            <a:ext cx="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43400" y="3364992"/>
            <a:ext cx="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00584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核心思想：存储程序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38988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程序本身也是数据，和数据一起放在存储器里（stored program）。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251460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0644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79008" y="289864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同一台机器能跑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不同的程序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，不需要重新接线。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装一个新软件 = 往存储器里写一段新数据。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 · 存储程序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Python 里亲眼看到「程序也是数据」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f(x):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= f.__code__.co_code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 编译后的字节码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print(type(code))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&lt;class 'bytes'&gt;  —— 就是一串字节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f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函数可以像数据一样赋值、传参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print(g(41))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print(list(map(f, [1, 2, 3])))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[2, 3, 4]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 = "print(6 * 7)"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一个字符串……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exec(src)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……也能被当作程序执行：42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'bytes'&gt;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[2, 3, 4]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7880" y="246888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560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对应关系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07608" y="2852928"/>
            <a:ext cx="256946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co_code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：存储器里的一串字节。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解释器读这串字节来执行——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指令就是数据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安全提示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「数据能被当作程序执行」也是很多安全漏洞的根源：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执行来路不明的字符串。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指令周期：取指 → 译码 → 执行 → 写回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Fetch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按程序计数器 PC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从存储器取一条指令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5856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748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9748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译码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看清是什么操作、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操作数在哪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6168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6344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ALU 做运算，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或访问存储器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6480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76656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0372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0372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写回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Write Back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把结果写回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寄存器或存储器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35240" y="2944368"/>
            <a:ext cx="0" cy="27432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5880" y="3218688"/>
            <a:ext cx="630936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25880" y="2944368"/>
            <a:ext cx="0" cy="27432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2286000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 指向下一条指令，循环往复（每秒几十亿次）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和图灵机对照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图灵机：读一格 → 查规则 → 写、移、换状态。CPU：取一条指令 → 译码 → 执行、写回、PC 前进。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都是「一步一步查表执行」的循环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 CPU 的「纸带」可以随机访问。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冯·诺依曼瓶颈与缓存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80560" y="105156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051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94560" y="1463040"/>
            <a:ext cx="2286000" cy="274320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456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共享总线（一条路）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 · 数据 · 指令 · 数据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77440"/>
            <a:ext cx="57607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取指令和取数据走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同一条总线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，要排队。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越来越快，内存跟不上：CPU 大部分时间在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 CPU 的对策：多级缓存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554126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CPU 旁放小而快的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/ L2 / L3 缓存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从内存取数时，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连同附近的一整块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（缓存行，常见 64 字节）一起搬进缓存。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下一次访问若恰好在这一块里，就不用再等内存。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46520" y="1051560"/>
            <a:ext cx="2240280" cy="36118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这就是……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435608"/>
            <a:ext cx="1965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访问快」的根源。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周讲矩阵时会看到：按行遍历二维数组，比按列遍历快。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存储层次：容量越大，速度越慢，单价越低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234440"/>
                <a:gridCol w="12344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典型容量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访问时间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寄存器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几百字节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缓存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32–64 KB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/ L3 缓存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 MB–几十 MB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 DRAM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8–64 GB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~100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~200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几百 GB–几 TB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~100 μs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机械硬盘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 TB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 ms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005840"/>
            <a:ext cx="822960" cy="475488"/>
          </a:xfrm>
          <a:prstGeom prst="rect">
            <a:avLst/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0" y="100584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97980" y="1554480"/>
            <a:ext cx="1325880" cy="475488"/>
          </a:xfrm>
          <a:prstGeom prst="rect">
            <a:avLst/>
          </a:prstGeom>
          <a:solidFill>
            <a:srgbClr val="2F5C4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97980" y="155448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103120"/>
            <a:ext cx="1828800" cy="47548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46520" y="21031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95060" y="2651760"/>
            <a:ext cx="2331720" cy="475488"/>
          </a:xfrm>
          <a:prstGeom prst="rect">
            <a:avLst/>
          </a:prstGeom>
          <a:solidFill>
            <a:srgbClr val="7FA89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5060" y="26517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943600" y="3200400"/>
            <a:ext cx="2834640" cy="475488"/>
          </a:xfrm>
          <a:prstGeom prst="rect">
            <a:avLst/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3200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80760" y="3794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快、小、贵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4069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 慢、大、便宜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069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一次内存访问 ≈ 200 次寄存器访问；一次 SSD 访问 ≈ 1000 次内存访问。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 · 存储层次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换成人的时间尺度：假如访问寄存器要 1 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241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91640" y="1097280"/>
            <a:ext cx="98755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81835" y="102412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0241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伸手拿桌上的笔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727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缓存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1645920"/>
            <a:ext cx="164592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947672" y="157276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15727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从抽屉里拿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214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/ L3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691640" y="2194560"/>
            <a:ext cx="329184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12264" y="21214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去书架上取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6700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691640" y="2743200"/>
            <a:ext cx="658368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41448" y="26700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3 分钟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267004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下楼去取快递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21868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691640" y="3291840"/>
            <a:ext cx="1810512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93592" y="321868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天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2186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寄一封快递到外地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673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机械硬盘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691640" y="3840480"/>
            <a:ext cx="329184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74920" y="376732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4 个月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7673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寄一封平信去南极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按上页「相对代价」换算：10⁵ 秒 ≈ 28 小时，10⁷ 秒 ≈ 116 天。条形长度只示意顺序，不按比例。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数据的二进制表示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机器里只有 0 和 1，一切都要编码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 · 原码 / 反码 / 补码 · 位运算 · IEEE 754 浮点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进制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四种常用进制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329184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前缀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典型用途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233 写成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机器本身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0b11101001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0o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Unix 文件权限（如 755）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0o351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十六进制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0–9、A–F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内存地址、颜色 #FF8800、字节转储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0xe9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为什么程序员爱用十六进制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位十六进制正好对应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位二进制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，1 个字节 = 2 位十六进制。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1110 1001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一眼读成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e9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，比读 8 个 0/1 省事得多。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进制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里的进制转换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print(bin(n), oct(n), hex(n))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0b11101001 0o351 0xe9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print(int("11101001", 2))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print(int("e9", 16))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print(f"{n:b} {n:o} {n:x} {n:08b}")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11101001 351 e9 11101001</a:t>
            </a:r>
            <a:endParaRPr lang="en-US" sz="11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291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→ 其他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bin(n) / oct(n) / hex(n)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带前缀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的字符串，如 '0b1101'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→ 其他（无前缀）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f"{n:b}"  f"{n:08b}"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格式说明符 b / o / x；08b = 补足 8 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 → 十进制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int(s, base)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第二个参数是进制；s 可以不带前缀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常见坑：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bin(n)[2:]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才能去掉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；负数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bin(-5)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'-0b101'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手工转换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除基取余，余数逆序读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被除数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÷ 2 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余数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 flipV="1">
            <a:off x="3977640" y="1325880"/>
            <a:ext cx="0" cy="30175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4069080" y="2651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从下往上读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120640" y="100584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20640" y="10058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233 = 1110 1001₂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120640" y="237744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反过来：按权展开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1110 1001₂ = 128 + 64 + 32 + 8 + 1 = 233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120640" y="370332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257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为什么是逆序？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57800" y="40873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第一次除得的余数是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（2⁰ 位），最后一次是最高位。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手工转换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 ↔ 八进制 / 十六进制：分组就行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开始分组：八进制 3 位一组，十六进制 4 位一组。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十六进制：4 位一组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5272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527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36776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367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020824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02082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06040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060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90088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9008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74136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41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58184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5818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248716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1110 = 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248716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1001 = 9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 0xe9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八进制：3 位一组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8348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6752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3675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81928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819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665976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665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17804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780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56208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6208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946136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9461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83480" y="2487168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897880" y="248716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178040" y="248716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89204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 0o351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为什么可以直接分组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 8 = 2³、16 = 2⁴：每 3 位（或 4 位）二进制恰好组成一位八进制（或十六进制），组与组之间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互不进位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。十进制 10 不是 2 的幂，所以只能除基取余。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E02734 十进制到八进制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http://cs101.openjudge.cn/practice/02734/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输入一个非负整数，输出它的八进制表示。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737360"/>
            <a:ext cx="470001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print(oct(n)[2:] if n else 0)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不用内置函数：手写除基取余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926080"/>
            <a:ext cx="47000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digits = []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 &gt;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digits.append(str(n % 8))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余数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//= 8 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商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print(''.join(reversed(digits)) or '0')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32120" y="1691640"/>
            <a:ext cx="3154680" cy="2971800"/>
          </a:xfrm>
          <a:prstGeom prst="roundRect">
            <a:avLst>
              <a:gd name="adj" fmla="val 24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0" y="1783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41848" y="2075688"/>
            <a:ext cx="2935224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oct(n)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'0o…'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[2:]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切掉前缀。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时循环一次都不执行，要单独输出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：余数是从低位到高位得到的。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有符号整数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原码、反码、补码：以 8 位表示 −5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234440"/>
                <a:gridCol w="2194560"/>
                <a:gridCol w="2651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表示法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最高位当符号位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+0、−0 两个零；加减法要先判符号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1111 1010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负数：原码除符号位外取反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仍有两个零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1111 1011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负数：取反后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零唯一；减法 = 加负数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补码的求法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538728"/>
            <a:ext cx="462686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正数：不变。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负数：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按位取反，再加一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=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0000 0101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取反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加一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1111 1011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154680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246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现代计算机统一用补码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353872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只需一套加法器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：减法、负数都变成加法。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Python 看补码；n 位补码的范围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to_twos_complement(x, bits=8):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format(x &amp; ((1 &lt;&lt; bits) - 1), f'0{bits}b')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print(to_twos_complement(5))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00000101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print(to_twos_complement(-5))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11111011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print(to_twos_complement(-1))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11111111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print(-5 &amp; 0xFF)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251 —— 同一串位，当无符号数读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&amp; ((1 &lt;&lt; bits) - 1)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 &lt;&lt; 8)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0xFF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8 个 1。和它按位与，就是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只保留低 8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——正好是 8 位机器里存的那串位。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73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位补码的表示范围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−2ⁿ⁻¹  ~  2ⁿ⁻¹ − 1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负数比正数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1000 0000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−128，没有对应的 +128。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310128"/>
          <a:ext cx="3886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31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−128 ~ 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位（C++ int）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−2147483648 ~ 2147483647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位（long long）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±9.2 × 10¹⁸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为什么补码让减法变成加法：算 5 − 7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5 − 7 = 5 + (−7)。先求 −7 的补码：7 =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0000 0111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取反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1111 1000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加一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1111 1001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645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0000 0101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212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1111 1001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 的补码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797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1111 1110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7797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2761488"/>
            <a:ext cx="2834640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146304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94960" y="1554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1111 1110 是几？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67528" y="1847088"/>
            <a:ext cx="320954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最高位是 1 → 负数。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再求一次补码看绝对值：取反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0000 0001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，加一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0000 0010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所以结果是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根本不知道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哪个是负数，它只管按位相加；如果最高位还有进位，直接丢掉（只保留 8 位）。同一套电路，加减法全包了。验证 7 − 5 留作思考题。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溢出：C++ 里最常见的 WA 来源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位：127 + 1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0111 1111  (127)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        1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1000 0000  (−128)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60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正数加正数，却得到了负数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493776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22192" y="1051560"/>
            <a:ext cx="479145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ctypes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借 C 的 32 位 int 来演示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print(ctypes.c_int32(2147483647 + 1).value)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-2147483648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print(2147483647 + 1)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2147483648  Python 不溢出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100)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任意精度：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1267650600228229401496703205376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与 C/C++ 的区别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493008"/>
            <a:ext cx="801014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的，不会溢出——本课用 Python，这个坑天然避开了。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C/C++ 的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2147483647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-2147483648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 C++ 做题时，这是最常见的 WA 来源。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对策：估计中间结果的量级；超过约 2×10⁹ 就用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long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六个位运算符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645920"/>
                <a:gridCol w="109728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符号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&amp;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&amp;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&amp; 011 = 010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|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| 011 = 111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^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^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^ 011 = 101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补码下 ~x = −x − 1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&lt;&lt;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&lt;&lt; 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左移 k 位 = 乘 2ᵏ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1024 &gt;&gt;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 k 位 = 整除 2ᵏ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~6 为什么是 −7？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把所有位取反。而补码里「取反再加一」等于取相反数，所以「只取反」= 相反数减一：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~x == -x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三个常用技巧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2486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&amp; 1)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判奇偶：0 偶 1 奇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&amp; (n - 1))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把最低位的 1 清零 -&gt; 8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print(bin(n).count('1'))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统计 1 的个数（popcount）-&gt;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 &amp; (n-1) == 0 判断是否 2 的幂（n &gt; 0）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print(all((x &amp; (x - 1)) == 0 for x in [1, 2, 4, 8, 16]))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异或的两个性质：a^a=0, a^0=a  → 找出只出现一次的数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[4, 1, 2,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 in nums: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^= v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print(r)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判奇偶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898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最低位是 1 就是奇数。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%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等价。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19456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286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的幂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578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的幂在二进制里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，清掉它就剩 0。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474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136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76732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《只出现一次的数字》的标准解：成对的数异或后互相抵消。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按位看：n &amp; (n−1) 与异或累积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&amp; (n − 1)：清掉最低位的 1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86000" y="1600200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32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214884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= 11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288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86000" y="2148840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432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269748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&amp; = 8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8288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8288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860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860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7432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432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2004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把最低位的 1 变 0、它右边的 0 全变 1；再与 n 相与，这些位全部清零，高位不变。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异或累积：nums = [4, 1, 2, 1, 2]</a:t>
            </a:r>
            <a:endParaRPr lang="en-US" sz="13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554480"/>
          <a:ext cx="36118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 ^= v 之后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4892040" y="3657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1、两个 2 各自抵消，剩下 4。与顺序无关：异或满足交换律和结合律。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IEEE 754 双精度（64 位）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0" cy="685800"/>
          </a:xfrm>
          <a:prstGeom prst="rect">
            <a:avLst/>
          </a:prstGeom>
          <a:solidFill>
            <a:srgbClr val="C039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188720"/>
            <a:ext cx="2011680" cy="685800"/>
          </a:xfrm>
          <a:prstGeom prst="rect">
            <a:avLst/>
          </a:prstGeom>
          <a:solidFill>
            <a:srgbClr val="A06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1188720"/>
            <a:ext cx="5760720" cy="685800"/>
          </a:xfrm>
          <a:prstGeom prst="rect">
            <a:avLst/>
          </a:prstGeom>
          <a:solidFill>
            <a:srgbClr val="3E7C6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1887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1554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位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920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 = (−1)^S × 1.尾数 × 2^(指数 − 1023)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就是二进制的科学计数法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584448"/>
            <a:ext cx="46268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十进制：6.02 × 10²³；二进制：1.xxx × 2ᵉ。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决定精度（约 15–17 位十进制有效数字）。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决定范围（约 10^±308）。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关键结论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二进制小数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，只能精确表示 k/2ⁿ 这种数。十进制的 0.1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无法精确表示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0.1 无法精确表示？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十进制里的 1/3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0.3333333333…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不是 10 的因子 → 无限循环，截断就有误差。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二进制里的 1/10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0.0001100110011…₂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= 2 × 5，5 不是 2 的因子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0011 无限循环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，只能截断到 52 位。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971800"/>
            <a:ext cx="808329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print(f"{0.1:.20f}")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print((0.1).hex())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0x1.999999999999ap-4  —— 尾数 999…9a：循环被截断、进位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decimal import Decimal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print(Decimal(0.1))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存进去的真实值：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0.1000000000000000055511151231257827021181583404541015625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浮点数陷阱与正确的比较方式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+ 0.2)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0.30000000000000004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 == 0.3)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print(f"{0.1:.20f}")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正确做法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566928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2468880"/>
            <a:ext cx="552297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print(math.isclose(0.1 + 0.2, 0.3))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print(abs((0.1 + 0.2) - 0.3) &lt; 1e-9)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decimal import Decimal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print(Decimal('0.1') + Decimal('0.2'))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0.3  —— 十进制精确运算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103120"/>
            <a:ext cx="2331720" cy="25603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194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三种办法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487168"/>
            <a:ext cx="211226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math.isclose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：相对误差比较。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abs(a - b) &lt; eps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：绝对误差，eps 常取 1e-9。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Decimal('0.1')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用字符串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构造才精确。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Decimal(0.1)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（传浮点）会把误差一起带进来——上一页看到的那一长串。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另一个陷阱：大整数放进浮点会丢精度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53)  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9007199254740992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print(float(2**53 + 1) == float(2**53))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  —— 两个不同的整数"相等"了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 ** 18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print(int(n / 1))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1000000000000000000  —— / 返回 float，末位丢了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// 1)   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1000000000000000001  —— // 保持整数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10 ** 17 + 1, 2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是奇数，不能被 2 整除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 b == a // b)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  —— 错！a/b 已被舍入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% b == 0)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  —— 判断整除：用 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2⁵³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 52 位 + 隐含的 1 位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有效二进制数字。超过 2⁵³ 的整数，相邻的 float 之间开始有「空隙」。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33375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3721608"/>
            <a:ext cx="375818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判断能否整除用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% b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，不要用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b == a //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整数运算全程用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开方取整用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math.isqrt(n)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，不要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int(n ** 0.5)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本课的硬规则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515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浮点数永远不要用 == 比较；</a:t>
            </a:r>
            <a:endParaRPr lang="en-US" sz="2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能用整数就用整数。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84632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788920"/>
            <a:ext cx="470001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 = float('inf')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print(INF &gt; 10**100)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print(-INF &lt; 0)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= [INF] * n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最短路 / DP 的标准初始化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2743200"/>
            <a:ext cx="315468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28346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无穷大：float('inf')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41848" y="3127248"/>
            <a:ext cx="293522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比任何有限数都大，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-INF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比任何数都小。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周起做 DP、第 12 周做最短路时，它是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初始化的标准写法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它是浮点数里少数可以放心比较大小的值。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字符在机器里只是一个编号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· Unicode 与 UTF-8 · 乱码的本质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ASCII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ASCII：7 位，128 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4630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'0'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0011 0000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数字起点，'0'…'9'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'A'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0100 0001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大写起点，'A'…'Z'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'a'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0110 0001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小写起点，'a'…'z'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空格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0010 0000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正好是 1 &lt;&lt; 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10058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789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大小写只差 1 位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4813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37960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93992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93992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050024" y="1481328"/>
            <a:ext cx="25603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50024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06056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06056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562088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62088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18120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18120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74152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74152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330184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330184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19385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37960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37960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793992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93992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256032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306056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06056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62088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562088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818120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18120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8074152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074152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330184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30184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6217920" y="23957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位（值 32）：0 大写，1 小写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记住这三个就够了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37673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 = 48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 = 65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 = 97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。其余靠「连续」推出来：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'Z'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65 + 25 = 90。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ASCII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 / chr：字符与编号互转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76072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61441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print(ord('A'), chr(97))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65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- 32))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|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位或置位，转小写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&amp; ~32))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与非清位，转大写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^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异或翻转，大小写互换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print(ord('7') - ord('0'))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   —— 数字字符转数值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print(ord('c') - ord('a'))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 —— 字母在字母表中的序号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46520" y="1005840"/>
            <a:ext cx="2240280" cy="228600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97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位运算版的大小写转换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89888"/>
            <a:ext cx="202082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置位 → 小写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~32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清位 → 大写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 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翻转 → 互换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做题时的常用写法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858768"/>
            <a:ext cx="80101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内置方法更清楚：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s.upper()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s.lower()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s.swapcase()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c.isdigit()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c.isalpha()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ord(c) - ord('a')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把字母映射到 0–25，用来做计数数组的下标（如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 [0] * 26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Unicode 与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 ≠ 编码方式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Unicode：字符集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给世界上每个字符一个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（编号）。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"中" 的码点是 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U+4E2D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ord('中') == 0x4e2d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UTF-8：编码方式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把码点变成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字节序列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，变长：ASCII 占 1 字节，汉字通常 3 字节。</a:t>
            </a:r>
            <a:endParaRPr lang="en-US" sz="11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310896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码点范围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U+0000 – U+007F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'A' → 41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U+0080 – U+07FF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110xxxxx 10xxxxxx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'é' → c3 a9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U+0800 – U+FFFF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1110xxxx 10xxxxxx 10xxxxxx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'中' → e4 b8 ad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U+10000 – U+10FFFF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11110xxx 10xxxxxx ×3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'😀' → f0 9f 98 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手工编码一次：'中' = U+4E2D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4E2D 在 U+0800–U+FFFF 之间 → 用 3 字节模板。把码点的 16 位依次填进模板的 x：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4E2D₁₆ =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76272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627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23744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2374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71216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7121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18688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1868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66160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13632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363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61104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6110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08576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56048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5604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03520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50992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5099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998464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9846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45936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93408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9340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040880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4088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42" name="Shape 40"/>
          <p:cNvSpPr/>
          <p:nvPr/>
        </p:nvSpPr>
        <p:spPr>
          <a:xfrm>
            <a:off x="56692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953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953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152144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5214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444752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44475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737360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73736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029968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02996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322576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2257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615184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字节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73736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0xE4</a:t>
            </a:r>
            <a:endParaRPr lang="en-US" sz="2200" dirty="0"/>
          </a:p>
        </p:txBody>
      </p:sp>
      <p:sp>
        <p:nvSpPr>
          <p:cNvPr id="60" name="Shape 58"/>
          <p:cNvSpPr/>
          <p:nvPr/>
        </p:nvSpPr>
        <p:spPr>
          <a:xfrm>
            <a:off x="324612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61" name="Shape 59"/>
          <p:cNvSpPr/>
          <p:nvPr/>
        </p:nvSpPr>
        <p:spPr>
          <a:xfrm>
            <a:off x="335584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5584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364845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64845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941064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94106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233672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3367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26280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2628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818888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1888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111496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11149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5404104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40410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33558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字节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52628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0xB8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603504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0" name="Shape 78"/>
          <p:cNvSpPr/>
          <p:nvPr/>
        </p:nvSpPr>
        <p:spPr>
          <a:xfrm>
            <a:off x="614476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14476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643737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43737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729984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72998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022592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02259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7315200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31520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7607808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60780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7900416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90041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8193024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19302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6" name="Text 94"/>
          <p:cNvSpPr txBox="1"/>
          <p:nvPr/>
        </p:nvSpPr>
        <p:spPr>
          <a:xfrm>
            <a:off x="614476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字节</a:t>
            </a:r>
            <a:endParaRPr lang="en-US" sz="1050" dirty="0"/>
          </a:p>
        </p:txBody>
      </p:sp>
      <p:sp>
        <p:nvSpPr>
          <p:cNvPr id="97" name="Text 95"/>
          <p:cNvSpPr txBox="1"/>
          <p:nvPr/>
        </p:nvSpPr>
        <p:spPr>
          <a:xfrm>
            <a:off x="731520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0xAD</a:t>
            </a:r>
            <a:endParaRPr lang="en-US" sz="2200" dirty="0"/>
          </a:p>
        </p:txBody>
      </p:sp>
      <p:sp>
        <p:nvSpPr>
          <p:cNvPr id="98" name="Text 96"/>
          <p:cNvSpPr txBox="1"/>
          <p:nvPr/>
        </p:nvSpPr>
        <p:spPr>
          <a:xfrm>
            <a:off x="45720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 = 模板里固定的前缀；彩色 = 码点的位（4 + 6 + 6 = 16 位）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30352" y="4023360"/>
            <a:ext cx="808329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print("中".encode('utf-8'))       </a:t>
            </a: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b'\xe4\xb8\xad'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 与 bytes：字符数 ≠ 字节数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66928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52297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"中A"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—— 按字符计数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s.encode('utf-8')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print(b, len(b))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b'\xe4\xb8\xadA'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print(b.decode('utf-8'))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中A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print(hex(ord('中')))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0x4e2d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00584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14300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143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  "中A"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600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 ↓      ↑ decode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92240" y="201168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011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bytes  e4 b8 ad 41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↔ 字节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两种类型，两种单位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493008"/>
            <a:ext cx="801014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数的是字符。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序列，文件、网络里实际传的是它。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str 变 bytes，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反过来——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两边必须用同一种编码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乱码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乱码的本质：用 A 编码存的字节，拿 B 编码去解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"你好".encode('utf-8')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个字节：e4 bd a0 e5 a5 bd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print(b.decode('gbk'))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浣犲ソ  —— 按 GBK 每 2 字节一个字去解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print(b.decode('utf-8'))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你好    —— 用对的编码就恢复了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你好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929384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139696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39696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编码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11880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822192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22192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e4 bd a0 e5 a5 bd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94376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04688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04688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GBK 解码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76872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87184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87184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浣犲ソ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字节本身没有坏，坏的是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解读方式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读写文件时显式指定编码：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3566160"/>
            <a:ext cx="48828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f.read()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15000" y="3200400"/>
            <a:ext cx="297180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3291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为什么要显式写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358444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不写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用系统默认编码：中文 Windows 上常是 GBK，Linux / macOS 上是 UTF-8。同一份代码换台机器就乱码。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计算机文化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几位必须知道的人 · 摩尔定律与它的放缓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计算机文化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几位必须知道的人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20624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和本课的联系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Alan Turing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图灵机、可计算性、图灵测试；ACM 图灵奖以其命名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 Part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John von Neumann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存储程序式计算机结构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 Part 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Shannon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信息论；用布尔代数分析开关电路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位运算、比特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Edsger Dijkstra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最短路算法、结构化程序设计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周会用他的算法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Donald Knuth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《计算机程序设计艺术》、TeX；算法分析的奠基者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4 周的大 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Grace Hopper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编译器、COBOL；「debug」一词的推广者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13 周编译与解释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开篇那句「计算机科学不是关于计算机的科学……」通常归于 Dijkstra。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计算机文化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摩尔定律与它的放缓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058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集成电路上的晶体管数量，约每 18–24 个月翻一番。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过去几十年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等一两年，同一个程序自己就变快了。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明显放缓：单核频率多年停在几 GHz，晶体管越来越难缩小。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性能提升越来越依赖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——后者正是本课的主题。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阅读《图灵与 ACM 图灵奖》《IEEE 计算机先驱奖》；观看电影《模仿游戏》（The Imitation Game）。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1645920"/>
                <a:gridCol w="201168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对应本周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进制转换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二进制回文的整数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E25538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 + 字符串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只出现一次的数字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136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异或性质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 1 的个数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191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ASCII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回文数字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数位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8（选做）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高低位交换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洛谷 P1100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位运算、移位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开头与纯数字编号：cs101.openjudge.cn；LC：leetcode.cn；P1100：洛谷。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为什么补码能让「减法变成加法」？用 8 位补码手算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7 - 5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，验证它等于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+ (-5)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的低 8 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 + 0.2 != 0.3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，那么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 + 0.25 == 0.75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吗？为什么？（提示：想想哪些小数能写成 k/2ⁿ）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可计算性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停机问题不可判定，为什么杀毒软件仍然「有用」？可判定与实用之间差了什么？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UTF-8 编码的中文文本文件，用 GBK 打开会看到什么？试着构造一次乱码再修好它。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计算机科学研究的是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计算本身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，计算机只是载体；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是它最核心的工具。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划定了可计算的边界；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是证明了的不可能，不是暂时做不到。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存储程序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；存储层次解释了绝大多数「为什么这么慢」。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补码与浮点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（零唯一、减法即加法）；浮点是二进制近似，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永远不要用 == 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'0'=48, 'A'=65, 'a'=97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，大小写差 32；Unicode 是字符集，UTF-8 是编码方式。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基础与算法分析入门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把语法补齐，并第一次正面回答：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「这段代码够快吗？」—— 大 O、从数据范围倒推算法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3 周 计算机原理（1/2）</dc:title>
  <dc:subject>PptxGenJS Presentation</dc:subject>
  <dc:creator>Hongfei Yan</dc:creator>
  <cp:lastModifiedBy>Hongfei Yan</cp:lastModifiedBy>
  <cp:revision>1</cp:revision>
  <dcterms:created xsi:type="dcterms:W3CDTF">2026-09-21T17:00:01Z</dcterms:created>
  <dcterms:modified xsi:type="dcterms:W3CDTF">2026-09-21T17:00:01Z</dcterms:modified>
</cp:coreProperties>
</file>